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88" r:id="rId1"/>
  </p:sldMasterIdLst>
  <p:notesMasterIdLst>
    <p:notesMasterId r:id="rId33"/>
  </p:notesMasterIdLst>
  <p:sldIdLst>
    <p:sldId id="476" r:id="rId2"/>
    <p:sldId id="479" r:id="rId3"/>
    <p:sldId id="511" r:id="rId4"/>
    <p:sldId id="480" r:id="rId5"/>
    <p:sldId id="515" r:id="rId6"/>
    <p:sldId id="481" r:id="rId7"/>
    <p:sldId id="516" r:id="rId8"/>
    <p:sldId id="496" r:id="rId9"/>
    <p:sldId id="485" r:id="rId10"/>
    <p:sldId id="486" r:id="rId11"/>
    <p:sldId id="488" r:id="rId12"/>
    <p:sldId id="493" r:id="rId13"/>
    <p:sldId id="497" r:id="rId14"/>
    <p:sldId id="507" r:id="rId15"/>
    <p:sldId id="508" r:id="rId16"/>
    <p:sldId id="509" r:id="rId17"/>
    <p:sldId id="510" r:id="rId18"/>
    <p:sldId id="500" r:id="rId19"/>
    <p:sldId id="501" r:id="rId20"/>
    <p:sldId id="520" r:id="rId21"/>
    <p:sldId id="522" r:id="rId22"/>
    <p:sldId id="519" r:id="rId23"/>
    <p:sldId id="502" r:id="rId24"/>
    <p:sldId id="523" r:id="rId25"/>
    <p:sldId id="514" r:id="rId26"/>
    <p:sldId id="517" r:id="rId27"/>
    <p:sldId id="505" r:id="rId28"/>
    <p:sldId id="503" r:id="rId29"/>
    <p:sldId id="513" r:id="rId30"/>
    <p:sldId id="506" r:id="rId31"/>
    <p:sldId id="51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0"/>
    <a:srgbClr val="FFFF67"/>
    <a:srgbClr val="F8BB25"/>
    <a:srgbClr val="F12B2A"/>
    <a:srgbClr val="FE8630"/>
    <a:srgbClr val="F34CEB"/>
    <a:srgbClr val="0094FF"/>
    <a:srgbClr val="707070"/>
    <a:srgbClr val="2B9B48"/>
    <a:srgbClr val="6BB8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06"/>
    <p:restoredTop sz="85497"/>
  </p:normalViewPr>
  <p:slideViewPr>
    <p:cSldViewPr snapToGrid="0">
      <p:cViewPr varScale="1">
        <p:scale>
          <a:sx n="107" d="100"/>
          <a:sy n="107" d="100"/>
        </p:scale>
        <p:origin x="720" y="16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4DE91-F736-AB48-81FA-0DBC1D2288D3}"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B0E78-FB0F-2646-A98F-B55C16366C94}" type="slidenum">
              <a:rPr kumimoji="1" lang="ja-JP" altLang="en-US" smtClean="0"/>
              <a:t>‹#›</a:t>
            </a:fld>
            <a:endParaRPr kumimoji="1" lang="ja-JP" altLang="en-US"/>
          </a:p>
        </p:txBody>
      </p:sp>
    </p:spTree>
    <p:extLst>
      <p:ext uri="{BB962C8B-B14F-4D97-AF65-F5344CB8AC3E}">
        <p14:creationId xmlns:p14="http://schemas.microsoft.com/office/powerpoint/2010/main" val="2955466455"/>
      </p:ext>
    </p:extLst>
  </p:cSld>
  <p:clrMap bg1="lt1" tx1="dk1" bg2="lt2" tx2="dk2" accent1="accent1" accent2="accent2" accent3="accent3" accent4="accent4" accent5="accent5" accent6="accent6" hlink="hlink" folHlink="folHlink"/>
  <p:notesStyle>
    <a:lvl1pPr marL="0" algn="l" defTabSz="1219140" rtl="0" eaLnBrk="1" latinLnBrk="0" hangingPunct="1">
      <a:defRPr kumimoji="1" sz="1600" kern="1200">
        <a:solidFill>
          <a:schemeClr val="tx1"/>
        </a:solidFill>
        <a:latin typeface="+mn-lt"/>
        <a:ea typeface="+mn-ea"/>
        <a:cs typeface="+mn-cs"/>
      </a:defRPr>
    </a:lvl1pPr>
    <a:lvl2pPr marL="609570" algn="l" defTabSz="1219140" rtl="0" eaLnBrk="1" latinLnBrk="0" hangingPunct="1">
      <a:defRPr kumimoji="1" sz="1600" kern="1200">
        <a:solidFill>
          <a:schemeClr val="tx1"/>
        </a:solidFill>
        <a:latin typeface="+mn-lt"/>
        <a:ea typeface="+mn-ea"/>
        <a:cs typeface="+mn-cs"/>
      </a:defRPr>
    </a:lvl2pPr>
    <a:lvl3pPr marL="1219140" algn="l" defTabSz="1219140" rtl="0" eaLnBrk="1" latinLnBrk="0" hangingPunct="1">
      <a:defRPr kumimoji="1" sz="1600" kern="1200">
        <a:solidFill>
          <a:schemeClr val="tx1"/>
        </a:solidFill>
        <a:latin typeface="+mn-lt"/>
        <a:ea typeface="+mn-ea"/>
        <a:cs typeface="+mn-cs"/>
      </a:defRPr>
    </a:lvl3pPr>
    <a:lvl4pPr marL="1828709" algn="l" defTabSz="1219140" rtl="0" eaLnBrk="1" latinLnBrk="0" hangingPunct="1">
      <a:defRPr kumimoji="1" sz="1600" kern="1200">
        <a:solidFill>
          <a:schemeClr val="tx1"/>
        </a:solidFill>
        <a:latin typeface="+mn-lt"/>
        <a:ea typeface="+mn-ea"/>
        <a:cs typeface="+mn-cs"/>
      </a:defRPr>
    </a:lvl4pPr>
    <a:lvl5pPr marL="2438278" algn="l" defTabSz="1219140" rtl="0" eaLnBrk="1" latinLnBrk="0" hangingPunct="1">
      <a:defRPr kumimoji="1" sz="1600" kern="1200">
        <a:solidFill>
          <a:schemeClr val="tx1"/>
        </a:solidFill>
        <a:latin typeface="+mn-lt"/>
        <a:ea typeface="+mn-ea"/>
        <a:cs typeface="+mn-cs"/>
      </a:defRPr>
    </a:lvl5pPr>
    <a:lvl6pPr marL="3047848" algn="l" defTabSz="1219140" rtl="0" eaLnBrk="1" latinLnBrk="0" hangingPunct="1">
      <a:defRPr kumimoji="1" sz="1600" kern="1200">
        <a:solidFill>
          <a:schemeClr val="tx1"/>
        </a:solidFill>
        <a:latin typeface="+mn-lt"/>
        <a:ea typeface="+mn-ea"/>
        <a:cs typeface="+mn-cs"/>
      </a:defRPr>
    </a:lvl6pPr>
    <a:lvl7pPr marL="3657418" algn="l" defTabSz="1219140" rtl="0" eaLnBrk="1" latinLnBrk="0" hangingPunct="1">
      <a:defRPr kumimoji="1" sz="1600" kern="1200">
        <a:solidFill>
          <a:schemeClr val="tx1"/>
        </a:solidFill>
        <a:latin typeface="+mn-lt"/>
        <a:ea typeface="+mn-ea"/>
        <a:cs typeface="+mn-cs"/>
      </a:defRPr>
    </a:lvl7pPr>
    <a:lvl8pPr marL="4266987" algn="l" defTabSz="1219140" rtl="0" eaLnBrk="1" latinLnBrk="0" hangingPunct="1">
      <a:defRPr kumimoji="1" sz="1600" kern="1200">
        <a:solidFill>
          <a:schemeClr val="tx1"/>
        </a:solidFill>
        <a:latin typeface="+mn-lt"/>
        <a:ea typeface="+mn-ea"/>
        <a:cs typeface="+mn-cs"/>
      </a:defRPr>
    </a:lvl8pPr>
    <a:lvl9pPr marL="4876557" algn="l" defTabSz="1219140"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それでは「離散制御器合成における空間爆発抑制のための段階的な</a:t>
            </a:r>
            <a:r>
              <a:rPr kumimoji="1" lang="en-US" altLang="ja-JP" dirty="0"/>
              <a:t>LTS</a:t>
            </a:r>
            <a:r>
              <a:rPr kumimoji="1" lang="ja-JP" altLang="en-US"/>
              <a:t>の最小化」について発表したいと思います．</a:t>
            </a:r>
            <a:endParaRPr kumimoji="1" lang="en-US" altLang="ja-JP" dirty="0"/>
          </a:p>
          <a:p>
            <a:r>
              <a:rPr kumimoji="1" lang="ja-JP" altLang="en-US"/>
              <a:t>東京科学大学鄭研究室所属の山口友輝です．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0</a:t>
            </a:fld>
            <a:endParaRPr kumimoji="1" lang="ja-JP" altLang="en-US"/>
          </a:p>
        </p:txBody>
      </p:sp>
    </p:spTree>
    <p:extLst>
      <p:ext uri="{BB962C8B-B14F-4D97-AF65-F5344CB8AC3E}">
        <p14:creationId xmlns:p14="http://schemas.microsoft.com/office/powerpoint/2010/main" val="978243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では研究背景から説明していきます．</a:t>
            </a:r>
            <a:endParaRPr kumimoji="1" lang="en-US" altLang="ja-JP" dirty="0"/>
          </a:p>
          <a:p>
            <a:r>
              <a:rPr kumimoji="1" lang="ja-JP" altLang="en-US"/>
              <a:t>まず，離散事象システムというシステムについて説明します．</a:t>
            </a:r>
            <a:endParaRPr kumimoji="1" lang="en-US" altLang="ja-JP" dirty="0"/>
          </a:p>
          <a:p>
            <a:r>
              <a:rPr kumimoji="1" lang="ja-JP" altLang="en-US"/>
              <a:t>離散事象システムはアクションの発火によって状態が離散的に遷移するシステムで，</a:t>
            </a:r>
            <a:r>
              <a:rPr kumimoji="1" lang="en-US" altLang="ja-JP" dirty="0"/>
              <a:t>LTS</a:t>
            </a:r>
            <a:r>
              <a:rPr kumimoji="1" lang="ja-JP" altLang="en-US"/>
              <a:t>によって表現が可能となっています．</a:t>
            </a:r>
            <a:endParaRPr kumimoji="1" lang="en-US" altLang="ja-JP" dirty="0"/>
          </a:p>
          <a:p>
            <a:r>
              <a:rPr kumimoji="1" lang="ja-JP" altLang="en-US"/>
              <a:t>また，</a:t>
            </a:r>
            <a:r>
              <a:rPr lang="ja-JP" altLang="en-US"/>
              <a:t>セキリュティなどのミスが許されないシステムでは，システムにとって悪い事象が発生しない，安全性が保証された離散事象システムの設計が求められています．</a:t>
            </a:r>
            <a:endParaRPr kumimoji="1" lang="en-US" altLang="ja-JP" dirty="0"/>
          </a:p>
          <a:p>
            <a:r>
              <a:rPr lang="ja-JP" altLang="en-US"/>
              <a:t>安全性が保証された離散事象システムは，システムが制御不能な事象が発生しようとも悪い状態が発生しないように設計されます．</a:t>
            </a:r>
            <a:endParaRPr kumimoji="1" lang="en-US" altLang="ja-JP" dirty="0"/>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a:t>
            </a:fld>
            <a:endParaRPr kumimoji="1" lang="ja-JP" altLang="en-US"/>
          </a:p>
        </p:txBody>
      </p:sp>
    </p:spTree>
    <p:extLst>
      <p:ext uri="{BB962C8B-B14F-4D97-AF65-F5344CB8AC3E}">
        <p14:creationId xmlns:p14="http://schemas.microsoft.com/office/powerpoint/2010/main" val="144068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9442-3C7A-1FEA-0065-3E9098908B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F3E611-8C29-8257-C058-22A942C0F4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EE630E-3849-A7D7-B1EE-3E47C0C25F9F}"/>
              </a:ext>
            </a:extLst>
          </p:cNvPr>
          <p:cNvSpPr>
            <a:spLocks noGrp="1"/>
          </p:cNvSpPr>
          <p:nvPr>
            <p:ph type="body" idx="1"/>
          </p:nvPr>
        </p:nvSpPr>
        <p:spPr/>
        <p:txBody>
          <a:bodyPr/>
          <a:lstStyle/>
          <a:p>
            <a:r>
              <a:rPr lang="ja-JP" altLang="en-US"/>
              <a:t>安全性が保証された離散事象システムは，</a:t>
            </a:r>
            <a:r>
              <a:rPr kumimoji="1" lang="ja-JP" altLang="en-US"/>
              <a:t>環境モデルと監視モデルという</a:t>
            </a:r>
            <a:r>
              <a:rPr kumimoji="1" lang="en-US" altLang="ja-JP" dirty="0"/>
              <a:t>2</a:t>
            </a:r>
            <a:r>
              <a:rPr kumimoji="1" lang="ja-JP" altLang="en-US"/>
              <a:t>種類の</a:t>
            </a:r>
            <a:r>
              <a:rPr kumimoji="1" lang="en-US" altLang="ja-JP" dirty="0"/>
              <a:t>LTS</a:t>
            </a:r>
            <a:r>
              <a:rPr kumimoji="1" lang="ja-JP" altLang="en-US"/>
              <a:t>によって表現できます．</a:t>
            </a:r>
            <a:br>
              <a:rPr kumimoji="1" lang="en-US" altLang="ja-JP" dirty="0"/>
            </a:br>
            <a:r>
              <a:rPr kumimoji="1" lang="ja-JP" altLang="en-US"/>
              <a:t>また，環境モデルはシステムの動作環境を表したもので，例のモデル</a:t>
            </a:r>
            <a:r>
              <a:rPr kumimoji="1" lang="en-US" altLang="ja-JP" dirty="0"/>
              <a:t>1</a:t>
            </a:r>
            <a:r>
              <a:rPr kumimoji="1" lang="ja-JP" altLang="en-US"/>
              <a:t>モデル</a:t>
            </a:r>
            <a:r>
              <a:rPr kumimoji="1" lang="en-US" altLang="ja-JP" dirty="0"/>
              <a:t>2</a:t>
            </a:r>
            <a:r>
              <a:rPr kumimoji="1" lang="ja-JP" altLang="en-US"/>
              <a:t>のよう</a:t>
            </a:r>
            <a:r>
              <a:rPr kumimoji="1" lang="en-US" altLang="ja-JP" dirty="0"/>
              <a:t>LTS</a:t>
            </a:r>
            <a:r>
              <a:rPr kumimoji="1" lang="ja-JP" altLang="en-US"/>
              <a:t>で表現できます．</a:t>
            </a:r>
            <a:endParaRPr kumimoji="1" lang="en-US" altLang="ja-JP" dirty="0"/>
          </a:p>
          <a:p>
            <a:r>
              <a:rPr kumimoji="1" lang="ja-JP" altLang="en-US"/>
              <a:t>監視モデルはシステムの安全性を違反するようなアクション列を</a:t>
            </a:r>
            <a:r>
              <a:rPr kumimoji="1" lang="en-US" altLang="ja-JP" dirty="0"/>
              <a:t>LTS</a:t>
            </a:r>
            <a:r>
              <a:rPr kumimoji="1" lang="ja-JP" altLang="en-US"/>
              <a:t>で表現したものです．監視モデルでは安全性を違反すると例の</a:t>
            </a:r>
            <a:r>
              <a:rPr kumimoji="1" lang="en-US" altLang="ja-JP" dirty="0"/>
              <a:t>SAFETY1</a:t>
            </a:r>
            <a:r>
              <a:rPr kumimoji="1" lang="ja-JP" altLang="en-US"/>
              <a:t>のように</a:t>
            </a:r>
            <a:r>
              <a:rPr kumimoji="1" lang="en-US" altLang="ja-JP" dirty="0"/>
              <a:t>-1</a:t>
            </a:r>
            <a:r>
              <a:rPr kumimoji="1" lang="ja-JP" altLang="en-US"/>
              <a:t>の状態である違反状態に遷移します．</a:t>
            </a:r>
            <a:endParaRPr kumimoji="1" lang="en-US" altLang="ja-JP" dirty="0"/>
          </a:p>
        </p:txBody>
      </p:sp>
      <p:sp>
        <p:nvSpPr>
          <p:cNvPr id="4" name="スライド番号プレースホルダー 3">
            <a:extLst>
              <a:ext uri="{FF2B5EF4-FFF2-40B4-BE49-F238E27FC236}">
                <a16:creationId xmlns:a16="http://schemas.microsoft.com/office/drawing/2014/main" id="{7CB9E048-739F-53B4-04B9-9AA0D0BD4235}"/>
              </a:ext>
            </a:extLst>
          </p:cNvPr>
          <p:cNvSpPr>
            <a:spLocks noGrp="1"/>
          </p:cNvSpPr>
          <p:nvPr>
            <p:ph type="sldNum" sz="quarter" idx="5"/>
          </p:nvPr>
        </p:nvSpPr>
        <p:spPr/>
        <p:txBody>
          <a:bodyPr/>
          <a:lstStyle/>
          <a:p>
            <a:fld id="{DECB0E78-FB0F-2646-A98F-B55C16366C94}" type="slidenum">
              <a:rPr kumimoji="1" lang="ja-JP" altLang="en-US" smtClean="0"/>
              <a:t>2</a:t>
            </a:fld>
            <a:endParaRPr kumimoji="1" lang="ja-JP" altLang="en-US"/>
          </a:p>
        </p:txBody>
      </p:sp>
    </p:spTree>
    <p:extLst>
      <p:ext uri="{BB962C8B-B14F-4D97-AF65-F5344CB8AC3E}">
        <p14:creationId xmlns:p14="http://schemas.microsoft.com/office/powerpoint/2010/main" val="2157384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環境モデルと監視モデルを入力として自動で合成し，</a:t>
            </a:r>
            <a:r>
              <a:rPr kumimoji="1" lang="en-US" altLang="ja-JP" dirty="0"/>
              <a:t>LTS</a:t>
            </a:r>
            <a:r>
              <a:rPr kumimoji="1" lang="ja-JP" altLang="en-US"/>
              <a:t>として制御器を出力する技術を離散制御器合成と言います．</a:t>
            </a:r>
            <a:endParaRPr kumimoji="1" lang="en-US" altLang="ja-JP" dirty="0"/>
          </a:p>
          <a:p>
            <a:r>
              <a:rPr kumimoji="1" lang="ja-JP" altLang="en-US"/>
              <a:t>制御器は監視モデルの安全性を保証する動作仕様として</a:t>
            </a:r>
            <a:r>
              <a:rPr kumimoji="1" lang="en-US" altLang="ja-JP" dirty="0"/>
              <a:t>LTS</a:t>
            </a:r>
            <a:r>
              <a:rPr kumimoji="1" lang="ja-JP" altLang="en-US"/>
              <a:t>で表現されます．</a:t>
            </a:r>
            <a:endParaRPr kumimoji="1" lang="en-US" altLang="ja-JP" dirty="0"/>
          </a:p>
          <a:p>
            <a:r>
              <a:rPr kumimoji="1" lang="ja-JP" altLang="en-US"/>
              <a:t>また，離散制御器合成は並列合成と安全性分析という</a:t>
            </a:r>
            <a:r>
              <a:rPr kumimoji="1" lang="en-US" altLang="ja-JP" dirty="0"/>
              <a:t>2</a:t>
            </a:r>
            <a:r>
              <a:rPr kumimoji="1" lang="ja-JP" altLang="en-US"/>
              <a:t>つのプロセスによって行われます．</a:t>
            </a:r>
            <a:endParaRPr kumimoji="1" lang="en-US" altLang="ja-JP" dirty="0"/>
          </a:p>
          <a:p>
            <a:r>
              <a:rPr kumimoji="1" lang="ja-JP" altLang="en-US"/>
              <a:t>こちらの制御器は先ほどの例の環境モデルと監視モデルを合成したのになります．</a:t>
            </a:r>
            <a:br>
              <a:rPr kumimoji="1" lang="en-US" altLang="ja-JP" dirty="0"/>
            </a:br>
            <a:r>
              <a:rPr kumimoji="1" lang="ja-JP" altLang="en-US"/>
              <a:t>入力の</a:t>
            </a:r>
            <a:r>
              <a:rPr kumimoji="1" lang="en-US" altLang="ja-JP" dirty="0"/>
              <a:t>LTS</a:t>
            </a:r>
            <a:r>
              <a:rPr kumimoji="1" lang="ja-JP" altLang="en-US"/>
              <a:t>の</a:t>
            </a:r>
            <a:r>
              <a:rPr kumimoji="1" lang="en-US" altLang="ja-JP" dirty="0"/>
              <a:t>1</a:t>
            </a:r>
            <a:r>
              <a:rPr kumimoji="1" lang="ja-JP" altLang="en-US"/>
              <a:t>つ</a:t>
            </a:r>
            <a:r>
              <a:rPr kumimoji="1" lang="en-US" altLang="ja-JP" dirty="0"/>
              <a:t>1</a:t>
            </a:r>
            <a:r>
              <a:rPr kumimoji="1" lang="ja-JP" altLang="en-US"/>
              <a:t>つは状態数が</a:t>
            </a:r>
            <a:r>
              <a:rPr kumimoji="1" lang="en-US" altLang="ja-JP" dirty="0"/>
              <a:t>2</a:t>
            </a:r>
            <a:r>
              <a:rPr kumimoji="1" lang="ja-JP" altLang="en-US"/>
              <a:t>や</a:t>
            </a:r>
            <a:r>
              <a:rPr kumimoji="1" lang="en-US" altLang="ja-JP" dirty="0"/>
              <a:t>3</a:t>
            </a:r>
            <a:r>
              <a:rPr kumimoji="1" lang="ja-JP" altLang="en-US"/>
              <a:t>の小さいものですが，離散制御器合成によって</a:t>
            </a:r>
            <a:r>
              <a:rPr kumimoji="1" lang="en-US" altLang="ja-JP" dirty="0"/>
              <a:t>14</a:t>
            </a:r>
            <a:r>
              <a:rPr kumimoji="1" lang="ja-JP" altLang="en-US"/>
              <a:t>状態の制御器が合成されたことになります．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3</a:t>
            </a:fld>
            <a:endParaRPr kumimoji="1" lang="ja-JP" altLang="en-US"/>
          </a:p>
        </p:txBody>
      </p:sp>
    </p:spTree>
    <p:extLst>
      <p:ext uri="{BB962C8B-B14F-4D97-AF65-F5344CB8AC3E}">
        <p14:creationId xmlns:p14="http://schemas.microsoft.com/office/powerpoint/2010/main" val="1629291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また，離散制御器合成には計算空間の状態数が入力モデルのの数に対して指数増加し，大規模なシステムに適用できない課題があります．</a:t>
            </a:r>
            <a:endParaRPr kumimoji="1" lang="en-US" altLang="ja-JP" dirty="0"/>
          </a:p>
          <a:p>
            <a:r>
              <a:rPr kumimoji="1" lang="ja-JP" altLang="en-US"/>
              <a:t>合成の際に構築される状態空間は各入力モデルの状態数の積によって決まります．</a:t>
            </a:r>
            <a:br>
              <a:rPr kumimoji="1" lang="en-US" altLang="ja-JP" dirty="0"/>
            </a:br>
            <a:r>
              <a:rPr kumimoji="1" lang="ja-JP" altLang="en-US"/>
              <a:t>特に，離散制御器合成の際に対象の環境モデルを全て合成する並列合成のプロセスで生成される中間生成物で状態数が最大になり，これがボトルネックになります．</a:t>
            </a:r>
            <a:endParaRPr kumimoji="1" lang="en-US" altLang="ja-JP" dirty="0"/>
          </a:p>
          <a:p>
            <a:r>
              <a:rPr kumimoji="1" lang="ja-JP" altLang="en-US"/>
              <a:t>図の離散制御器合成で生成される制御器は</a:t>
            </a:r>
            <a:r>
              <a:rPr kumimoji="1" lang="en-US" altLang="ja-JP" dirty="0"/>
              <a:t>14</a:t>
            </a:r>
            <a:r>
              <a:rPr kumimoji="1" lang="ja-JP" altLang="en-US"/>
              <a:t>状態なのですが，並列合成によって生成された中間生成物は状態数がそれぞれの環境モデルの状態数，</a:t>
            </a:r>
            <a:r>
              <a:rPr kumimoji="1" lang="en-US" altLang="ja-JP" dirty="0"/>
              <a:t>3,3,2</a:t>
            </a:r>
            <a:r>
              <a:rPr kumimoji="1" lang="ja-JP" altLang="en-US"/>
              <a:t>の積である</a:t>
            </a:r>
            <a:r>
              <a:rPr kumimoji="1" lang="en-US" altLang="ja-JP" dirty="0"/>
              <a:t>18</a:t>
            </a:r>
            <a:r>
              <a:rPr kumimoji="1" lang="ja-JP" altLang="en-US"/>
              <a:t>状態であり，この中間生成物が今回の離散制御器合成の過程で最大の状態数となります．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4</a:t>
            </a:fld>
            <a:endParaRPr kumimoji="1" lang="ja-JP" altLang="en-US"/>
          </a:p>
        </p:txBody>
      </p:sp>
    </p:spTree>
    <p:extLst>
      <p:ext uri="{BB962C8B-B14F-4D97-AF65-F5344CB8AC3E}">
        <p14:creationId xmlns:p14="http://schemas.microsoft.com/office/powerpoint/2010/main" val="4138770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状態空間の指数増加の抑制を目的とした制御器合成の手法のひとつに段階的制御器合成があります．</a:t>
            </a:r>
            <a:endParaRPr kumimoji="1" lang="en-US" altLang="ja-JP" dirty="0"/>
          </a:p>
          <a:p>
            <a:r>
              <a:rPr kumimoji="1" lang="ja-JP" altLang="en-US"/>
              <a:t>段階的制御器合成は，段階的に安全性を保証して制御器合成をする手法です．</a:t>
            </a:r>
            <a:endParaRPr kumimoji="1" lang="en-US" altLang="ja-JP" dirty="0"/>
          </a:p>
          <a:p>
            <a:r>
              <a:rPr kumimoji="1" lang="ja-JP" altLang="en-US"/>
              <a:t>手順としては監視モデルごとに部分制御器を合成し，その部分制御器を以降入力として合成を続けていくという過程をすべての監視モデルが環境モデルに反映されるまで行います．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5</a:t>
            </a:fld>
            <a:endParaRPr kumimoji="1" lang="ja-JP" altLang="en-US"/>
          </a:p>
        </p:txBody>
      </p:sp>
    </p:spTree>
    <p:extLst>
      <p:ext uri="{BB962C8B-B14F-4D97-AF65-F5344CB8AC3E}">
        <p14:creationId xmlns:p14="http://schemas.microsoft.com/office/powerpoint/2010/main" val="3082946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先ほどの離散制御器合成の例を用いて段階的制御器合成を行うとこのようになります．</a:t>
            </a:r>
            <a:endParaRPr kumimoji="1" lang="en-US" altLang="ja-JP" dirty="0"/>
          </a:p>
          <a:p>
            <a:r>
              <a:rPr kumimoji="1" lang="ja-JP" altLang="en-US"/>
              <a:t>まず，モデル</a:t>
            </a:r>
            <a:r>
              <a:rPr kumimoji="1" lang="en-US" altLang="ja-JP" dirty="0"/>
              <a:t>1</a:t>
            </a:r>
            <a:r>
              <a:rPr kumimoji="1" lang="ja-JP" altLang="en-US"/>
              <a:t>モデル</a:t>
            </a:r>
            <a:r>
              <a:rPr kumimoji="1" lang="en-US" altLang="ja-JP" dirty="0"/>
              <a:t>2SAFETY1</a:t>
            </a:r>
            <a:r>
              <a:rPr kumimoji="1" lang="ja-JP" altLang="en-US"/>
              <a:t>の部分合成によって，部分制御器が合成され，この部分制御器とモデル</a:t>
            </a:r>
            <a:r>
              <a:rPr kumimoji="1" lang="en-US" altLang="ja-JP" dirty="0"/>
              <a:t>3SAFETY2</a:t>
            </a:r>
            <a:r>
              <a:rPr kumimoji="1" lang="ja-JP" altLang="en-US"/>
              <a:t>を部分合成すると先ほどと同じように状態数</a:t>
            </a:r>
            <a:r>
              <a:rPr kumimoji="1" lang="en-US" altLang="ja-JP" dirty="0"/>
              <a:t>14</a:t>
            </a:r>
            <a:r>
              <a:rPr kumimoji="1" lang="ja-JP" altLang="en-US"/>
              <a:t>の制御器が合成されます．</a:t>
            </a:r>
            <a:br>
              <a:rPr kumimoji="1" lang="en-US" altLang="ja-JP" dirty="0"/>
            </a:br>
            <a:r>
              <a:rPr kumimoji="1" lang="ja-JP" altLang="en-US"/>
              <a:t>また，このとき，部分制御器とモデル</a:t>
            </a:r>
            <a:r>
              <a:rPr kumimoji="1" lang="en-US" altLang="ja-JP" dirty="0"/>
              <a:t>3</a:t>
            </a:r>
            <a:r>
              <a:rPr kumimoji="1" lang="ja-JP" altLang="en-US"/>
              <a:t>を並列合成して生成された中間生成物は状態数が</a:t>
            </a:r>
            <a:r>
              <a:rPr kumimoji="1" lang="en-US" altLang="ja-JP" dirty="0"/>
              <a:t>14</a:t>
            </a:r>
            <a:r>
              <a:rPr kumimoji="1" lang="ja-JP" altLang="en-US"/>
              <a:t>となり，制御器と同じ状態数になりました．</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6</a:t>
            </a:fld>
            <a:endParaRPr kumimoji="1" lang="ja-JP" altLang="en-US"/>
          </a:p>
        </p:txBody>
      </p:sp>
    </p:spTree>
    <p:extLst>
      <p:ext uri="{BB962C8B-B14F-4D97-AF65-F5344CB8AC3E}">
        <p14:creationId xmlns:p14="http://schemas.microsoft.com/office/powerpoint/2010/main" val="94605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段階的制御器合成では，分析する環境モデルに対し，最低限の環境モデルを合成に用いるので，</a:t>
            </a:r>
            <a:r>
              <a:rPr kumimoji="1" lang="ja-JP" altLang="en-US" b="0">
                <a:latin typeface="Yu Gothic" panose="020B0400000000000000" pitchFamily="34" charset="-128"/>
                <a:ea typeface="Yu Gothic" panose="020B0400000000000000" pitchFamily="34" charset="-128"/>
              </a:rPr>
              <a:t>離散制御器合成のときより小さい中間生成物の生成が可能となっています．</a:t>
            </a:r>
            <a:endParaRPr kumimoji="1" lang="en-US" altLang="ja-JP" b="0" dirty="0">
              <a:latin typeface="Yu Gothic" panose="020B0400000000000000" pitchFamily="34" charset="-128"/>
              <a:ea typeface="Yu Gothic" panose="020B0400000000000000" pitchFamily="34" charset="-128"/>
            </a:endParaRPr>
          </a:p>
          <a:p>
            <a:r>
              <a:rPr kumimoji="1" lang="ja-JP" altLang="en-US" b="0">
                <a:latin typeface="Yu Gothic" panose="020B0400000000000000" pitchFamily="34" charset="-128"/>
                <a:ea typeface="Yu Gothic" panose="020B0400000000000000" pitchFamily="34" charset="-128"/>
              </a:rPr>
              <a:t>図のように，先ほどの例で制御器を離散制御器合成で合成すると</a:t>
            </a:r>
            <a:r>
              <a:rPr kumimoji="1" lang="en-US" altLang="ja-JP" b="0" dirty="0">
                <a:latin typeface="Yu Gothic" panose="020B0400000000000000" pitchFamily="34" charset="-128"/>
                <a:ea typeface="Yu Gothic" panose="020B0400000000000000" pitchFamily="34" charset="-128"/>
              </a:rPr>
              <a:t>18</a:t>
            </a:r>
            <a:r>
              <a:rPr kumimoji="1" lang="ja-JP" altLang="en-US" b="0">
                <a:latin typeface="Yu Gothic" panose="020B0400000000000000" pitchFamily="34" charset="-128"/>
                <a:ea typeface="Yu Gothic" panose="020B0400000000000000" pitchFamily="34" charset="-128"/>
              </a:rPr>
              <a:t>状態，段階的制御器合成で合成すると</a:t>
            </a:r>
            <a:r>
              <a:rPr kumimoji="1" lang="en-US" altLang="ja-JP" b="0" dirty="0">
                <a:latin typeface="Yu Gothic" panose="020B0400000000000000" pitchFamily="34" charset="-128"/>
                <a:ea typeface="Yu Gothic" panose="020B0400000000000000" pitchFamily="34" charset="-128"/>
              </a:rPr>
              <a:t>14</a:t>
            </a:r>
            <a:r>
              <a:rPr kumimoji="1" lang="ja-JP" altLang="en-US" b="0">
                <a:latin typeface="Yu Gothic" panose="020B0400000000000000" pitchFamily="34" charset="-128"/>
                <a:ea typeface="Yu Gothic" panose="020B0400000000000000" pitchFamily="34" charset="-128"/>
              </a:rPr>
              <a:t>状態となり，状態数が小さくなっています．</a:t>
            </a:r>
            <a:endParaRPr kumimoji="1" lang="en-US" altLang="ja-JP" b="0" dirty="0">
              <a:latin typeface="Yu Gothic" panose="020B0400000000000000" pitchFamily="34" charset="-128"/>
              <a:ea typeface="Yu Gothic" panose="020B0400000000000000" pitchFamily="34" charset="-128"/>
            </a:endParaRP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7</a:t>
            </a:fld>
            <a:endParaRPr kumimoji="1" lang="ja-JP" altLang="en-US"/>
          </a:p>
        </p:txBody>
      </p:sp>
    </p:spTree>
    <p:extLst>
      <p:ext uri="{BB962C8B-B14F-4D97-AF65-F5344CB8AC3E}">
        <p14:creationId xmlns:p14="http://schemas.microsoft.com/office/powerpoint/2010/main" val="2855106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私は，今回，段階的制御器合成からさらに計算空間を削減するために，段階的制御器合成に</a:t>
            </a:r>
            <a:r>
              <a:rPr kumimoji="1" lang="en-US" altLang="ja-JP" dirty="0"/>
              <a:t>LTS</a:t>
            </a:r>
            <a:r>
              <a:rPr kumimoji="1" lang="ja-JP" altLang="en-US"/>
              <a:t>の最小化を取り入れた手法を提案します．</a:t>
            </a:r>
            <a:endParaRPr kumimoji="1" lang="en-US" altLang="ja-JP" dirty="0"/>
          </a:p>
          <a:p>
            <a:r>
              <a:rPr kumimoji="1" lang="ja-JP" altLang="en-US"/>
              <a:t>この手法では，段階的制御器合成の各段階の最後に</a:t>
            </a:r>
            <a:r>
              <a:rPr kumimoji="1" lang="en-US" altLang="ja-JP" dirty="0"/>
              <a:t>LTS</a:t>
            </a:r>
            <a:r>
              <a:rPr kumimoji="1" lang="ja-JP" altLang="en-US"/>
              <a:t>の最小化を適用します．これによって，各段階での状態爆発を抑制します．</a:t>
            </a:r>
            <a:endParaRPr kumimoji="1" lang="en-US" altLang="ja-JP" dirty="0"/>
          </a:p>
          <a:p>
            <a:r>
              <a:rPr kumimoji="1" lang="ja-JP" altLang="en-US"/>
              <a:t>また，</a:t>
            </a:r>
            <a:r>
              <a:rPr kumimoji="1" lang="en-US" altLang="ja-JP" dirty="0"/>
              <a:t>LTS</a:t>
            </a:r>
            <a:r>
              <a:rPr kumimoji="1" lang="ja-JP" altLang="en-US"/>
              <a:t>の最小化とは，</a:t>
            </a:r>
            <a:r>
              <a:rPr lang="ja-JP" altLang="en-US">
                <a:latin typeface="Yu Gothic" panose="020B0400000000000000" pitchFamily="34" charset="-128"/>
                <a:ea typeface="Yu Gothic" panose="020B0400000000000000" pitchFamily="34" charset="-128"/>
              </a:rPr>
              <a:t>ある </a:t>
            </a:r>
            <a:r>
              <a:rPr lang="en-US" altLang="ja-JP" dirty="0">
                <a:latin typeface="Yu Gothic" panose="020B0400000000000000" pitchFamily="34" charset="-128"/>
                <a:ea typeface="Yu Gothic" panose="020B0400000000000000" pitchFamily="34" charset="-128"/>
              </a:rPr>
              <a:t>2 </a:t>
            </a:r>
            <a:r>
              <a:rPr lang="ja-JP" altLang="en-US">
                <a:latin typeface="Yu Gothic" panose="020B0400000000000000" pitchFamily="34" charset="-128"/>
                <a:ea typeface="Yu Gothic" panose="020B0400000000000000" pitchFamily="34" charset="-128"/>
              </a:rPr>
              <a:t>つの </a:t>
            </a:r>
            <a:r>
              <a:rPr lang="en-US" altLang="ja-JP" dirty="0">
                <a:latin typeface="Yu Gothic" panose="020B0400000000000000" pitchFamily="34" charset="-128"/>
                <a:ea typeface="Yu Gothic" panose="020B0400000000000000" pitchFamily="34" charset="-128"/>
              </a:rPr>
              <a:t>LTS</a:t>
            </a:r>
            <a:r>
              <a:rPr lang="ja-JP" altLang="en-US">
                <a:latin typeface="Yu Gothic" panose="020B0400000000000000" pitchFamily="34" charset="-128"/>
                <a:ea typeface="Yu Gothic" panose="020B0400000000000000" pitchFamily="34" charset="-128"/>
              </a:rPr>
              <a:t>から生成されるすべての事象列が同じときに，その</a:t>
            </a:r>
            <a:r>
              <a:rPr lang="en-US" altLang="ja-JP" dirty="0">
                <a:latin typeface="Yu Gothic" panose="020B0400000000000000" pitchFamily="34" charset="-128"/>
                <a:ea typeface="Yu Gothic" panose="020B0400000000000000" pitchFamily="34" charset="-128"/>
              </a:rPr>
              <a:t>LTS </a:t>
            </a:r>
            <a:r>
              <a:rPr lang="ja-JP" altLang="en-US">
                <a:latin typeface="Yu Gothic" panose="020B0400000000000000" pitchFamily="34" charset="-128"/>
                <a:ea typeface="Yu Gothic" panose="020B0400000000000000" pitchFamily="34" charset="-128"/>
              </a:rPr>
              <a:t>が等価とみなせる性質である</a:t>
            </a:r>
            <a:r>
              <a:rPr lang="en-US" altLang="ja-JP" dirty="0">
                <a:latin typeface="Yu Gothic" panose="020B0400000000000000" pitchFamily="34" charset="-128"/>
                <a:ea typeface="Yu Gothic" panose="020B0400000000000000" pitchFamily="34" charset="-128"/>
              </a:rPr>
              <a:t>LTS</a:t>
            </a:r>
            <a:r>
              <a:rPr lang="ja-JP" altLang="en-US">
                <a:latin typeface="Yu Gothic" panose="020B0400000000000000" pitchFamily="34" charset="-128"/>
                <a:ea typeface="Yu Gothic" panose="020B0400000000000000" pitchFamily="34" charset="-128"/>
              </a:rPr>
              <a:t>の等価性に基づいて，</a:t>
            </a:r>
            <a:r>
              <a:rPr kumimoji="1" lang="en-US" altLang="ja-JP" dirty="0">
                <a:latin typeface="Yu Gothic" panose="020B0400000000000000" pitchFamily="34" charset="-128"/>
                <a:ea typeface="Yu Gothic" panose="020B0400000000000000" pitchFamily="34" charset="-128"/>
              </a:rPr>
              <a:t>LTS</a:t>
            </a:r>
            <a:r>
              <a:rPr kumimoji="1" lang="ja-JP" altLang="en-US">
                <a:latin typeface="Yu Gothic" panose="020B0400000000000000" pitchFamily="34" charset="-128"/>
                <a:ea typeface="Yu Gothic" panose="020B0400000000000000" pitchFamily="34" charset="-128"/>
              </a:rPr>
              <a:t>を状態数が最小のものに変換する操作のことを言います．</a:t>
            </a:r>
            <a:endParaRPr kumimoji="1" lang="en-US" altLang="ja-JP" dirty="0"/>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8</a:t>
            </a:fld>
            <a:endParaRPr kumimoji="1" lang="ja-JP" altLang="en-US"/>
          </a:p>
        </p:txBody>
      </p:sp>
    </p:spTree>
    <p:extLst>
      <p:ext uri="{BB962C8B-B14F-4D97-AF65-F5344CB8AC3E}">
        <p14:creationId xmlns:p14="http://schemas.microsoft.com/office/powerpoint/2010/main" val="63356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a:t>
            </a:r>
            <a:r>
              <a:rPr kumimoji="1" lang="en-US" altLang="ja-JP" dirty="0"/>
              <a:t>LTS</a:t>
            </a:r>
            <a:r>
              <a:rPr kumimoji="1" lang="ja-JP" altLang="en-US"/>
              <a:t>の最小化の例を説明します．</a:t>
            </a:r>
            <a:endParaRPr kumimoji="1" lang="en-US" altLang="ja-JP" dirty="0"/>
          </a:p>
          <a:p>
            <a:r>
              <a:rPr kumimoji="1" lang="ja-JP" altLang="en-US"/>
              <a:t>これは分岐によって生成される状態を最小化で削減する例です．</a:t>
            </a:r>
            <a:endParaRPr kumimoji="1"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ja-JP" altLang="en-US"/>
              <a:t>この例では，アクション</a:t>
            </a:r>
            <a:r>
              <a:rPr kumimoji="1" lang="en-US" altLang="ja-JP" dirty="0"/>
              <a:t>a, b</a:t>
            </a:r>
            <a:r>
              <a:rPr kumimoji="1" lang="ja-JP" altLang="en-US"/>
              <a:t>が発火したあとにアクション</a:t>
            </a:r>
            <a:r>
              <a:rPr lang="en-US" altLang="ja-JP" dirty="0"/>
              <a:t>c, d, return</a:t>
            </a:r>
            <a:r>
              <a:rPr lang="ja-JP" altLang="en-US"/>
              <a:t>を順に発火し状態</a:t>
            </a:r>
            <a:r>
              <a:rPr lang="en-US" altLang="ja-JP" dirty="0"/>
              <a:t>0</a:t>
            </a:r>
            <a:r>
              <a:rPr lang="ja-JP" altLang="en-US"/>
              <a:t>に戻るものでアクション</a:t>
            </a:r>
            <a:r>
              <a:rPr lang="en-US" altLang="ja-JP" dirty="0"/>
              <a:t>a, b</a:t>
            </a:r>
            <a:r>
              <a:rPr lang="ja-JP" altLang="en-US"/>
              <a:t>どちらが発火してもその後の遷移は同じになります．</a:t>
            </a:r>
            <a:endParaRPr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lang="ja-JP" altLang="en-US"/>
              <a:t>これを最小化によってアクション</a:t>
            </a:r>
            <a:r>
              <a:rPr lang="en-US" altLang="ja-JP" dirty="0"/>
              <a:t>a, b</a:t>
            </a:r>
            <a:r>
              <a:rPr lang="ja-JP" altLang="en-US"/>
              <a:t>が発火したあとに遷移する状態を</a:t>
            </a:r>
            <a:r>
              <a:rPr lang="en-US" altLang="ja-JP" dirty="0"/>
              <a:t>1</a:t>
            </a:r>
            <a:r>
              <a:rPr lang="ja-JP" altLang="en-US"/>
              <a:t>つにまとめることで状態数が削減されます．</a:t>
            </a:r>
            <a:endParaRPr lang="en-US" altLang="ja-JP" dirty="0"/>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9</a:t>
            </a:fld>
            <a:endParaRPr kumimoji="1" lang="ja-JP" altLang="en-US"/>
          </a:p>
        </p:txBody>
      </p:sp>
    </p:spTree>
    <p:extLst>
      <p:ext uri="{BB962C8B-B14F-4D97-AF65-F5344CB8AC3E}">
        <p14:creationId xmlns:p14="http://schemas.microsoft.com/office/powerpoint/2010/main" val="207568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次に繰り返し繊維がループ際の冗長な状態を削減する例です．</a:t>
            </a:r>
            <a:endParaRPr kumimoji="1" lang="en-US" altLang="ja-JP" dirty="0"/>
          </a:p>
          <a:p>
            <a:r>
              <a:rPr kumimoji="1" lang="ja-JP" altLang="en-US"/>
              <a:t>これは最終的にアクション</a:t>
            </a:r>
            <a:r>
              <a:rPr kumimoji="1" lang="en-US" altLang="ja-JP" dirty="0"/>
              <a:t>c</a:t>
            </a:r>
            <a:r>
              <a:rPr kumimoji="1" lang="ja-JP" altLang="en-US"/>
              <a:t>を発火し続ける制御器です．</a:t>
            </a:r>
            <a:endParaRPr kumimoji="1" lang="en-US" altLang="ja-JP" dirty="0"/>
          </a:p>
          <a:p>
            <a:r>
              <a:rPr kumimoji="1" lang="ja-JP" altLang="en-US"/>
              <a:t>このループの直前に，</a:t>
            </a:r>
            <a:r>
              <a:rPr lang="ja-JP" altLang="en-US"/>
              <a:t>アクション</a:t>
            </a:r>
            <a:r>
              <a:rPr lang="en-US" altLang="ja-JP" dirty="0"/>
              <a:t>c</a:t>
            </a:r>
            <a:r>
              <a:rPr lang="ja-JP" altLang="en-US"/>
              <a:t>の発火による冗長な状態と遷移を追加すると，最小化により，それらが削減されます</a:t>
            </a:r>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10</a:t>
            </a:fld>
            <a:endParaRPr kumimoji="1" lang="ja-JP" altLang="en-US"/>
          </a:p>
        </p:txBody>
      </p:sp>
    </p:spTree>
    <p:extLst>
      <p:ext uri="{BB962C8B-B14F-4D97-AF65-F5344CB8AC3E}">
        <p14:creationId xmlns:p14="http://schemas.microsoft.com/office/powerpoint/2010/main" val="2588197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AC426-7756-1F1A-8412-EE06FC0AFF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24366D-C5E1-6843-CCEF-9FC32EDD0A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83AAE7-B8FD-D246-B2A4-45B5576C6CFD}"/>
              </a:ext>
            </a:extLst>
          </p:cNvPr>
          <p:cNvSpPr>
            <a:spLocks noGrp="1"/>
          </p:cNvSpPr>
          <p:nvPr>
            <p:ph type="body" idx="1"/>
          </p:nvPr>
        </p:nvSpPr>
        <p:spPr/>
        <p:txBody>
          <a:bodyPr/>
          <a:lstStyle/>
          <a:p>
            <a:r>
              <a:rPr kumimoji="1" lang="ja-JP" altLang="en-US"/>
              <a:t>今回の提案手法では先ほど説明した最小化によって，部分制御器の大きさを小さくし，計算空間を削減することを目的とします．</a:t>
            </a:r>
          </a:p>
        </p:txBody>
      </p:sp>
      <p:sp>
        <p:nvSpPr>
          <p:cNvPr id="4" name="スライド番号プレースホルダー 3">
            <a:extLst>
              <a:ext uri="{FF2B5EF4-FFF2-40B4-BE49-F238E27FC236}">
                <a16:creationId xmlns:a16="http://schemas.microsoft.com/office/drawing/2014/main" id="{0C6D0CEC-4EC6-A699-2A59-0D1C75DB80E3}"/>
              </a:ext>
            </a:extLst>
          </p:cNvPr>
          <p:cNvSpPr>
            <a:spLocks noGrp="1"/>
          </p:cNvSpPr>
          <p:nvPr>
            <p:ph type="sldNum" sz="quarter" idx="5"/>
          </p:nvPr>
        </p:nvSpPr>
        <p:spPr/>
        <p:txBody>
          <a:bodyPr/>
          <a:lstStyle/>
          <a:p>
            <a:fld id="{DECB0E78-FB0F-2646-A98F-B55C16366C94}" type="slidenum">
              <a:rPr kumimoji="1" lang="ja-JP" altLang="en-US" smtClean="0"/>
              <a:t>11</a:t>
            </a:fld>
            <a:endParaRPr kumimoji="1" lang="ja-JP" altLang="en-US"/>
          </a:p>
        </p:txBody>
      </p:sp>
    </p:spTree>
    <p:extLst>
      <p:ext uri="{BB962C8B-B14F-4D97-AF65-F5344CB8AC3E}">
        <p14:creationId xmlns:p14="http://schemas.microsoft.com/office/powerpoint/2010/main" val="1442589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ここで，段階的に制御器合成と最小化を適用したときの例を示します．</a:t>
            </a:r>
            <a:endParaRPr kumimoji="1" lang="en-US" altLang="ja-JP" dirty="0"/>
          </a:p>
          <a:p>
            <a:r>
              <a:rPr kumimoji="1" lang="ja-JP" altLang="en-US"/>
              <a:t>環境モデルと監視モデルは離散制御器合成と段階的制御器合成と同じものを使用します．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12</a:t>
            </a:fld>
            <a:endParaRPr kumimoji="1" lang="ja-JP" altLang="en-US"/>
          </a:p>
        </p:txBody>
      </p:sp>
    </p:spTree>
    <p:extLst>
      <p:ext uri="{BB962C8B-B14F-4D97-AF65-F5344CB8AC3E}">
        <p14:creationId xmlns:p14="http://schemas.microsoft.com/office/powerpoint/2010/main" val="2682541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まずはセーフティー</a:t>
            </a:r>
            <a:r>
              <a:rPr kumimoji="1" lang="en-US" altLang="ja-JP" dirty="0"/>
              <a:t>1</a:t>
            </a:r>
            <a:r>
              <a:rPr kumimoji="1" lang="ja-JP" altLang="en-US"/>
              <a:t>の安全性保証を行います．</a:t>
            </a:r>
            <a:endParaRPr kumimoji="1" lang="en-US" altLang="ja-JP" dirty="0"/>
          </a:p>
          <a:p>
            <a:r>
              <a:rPr kumimoji="1" lang="ja-JP" altLang="en-US"/>
              <a:t>セーフティー</a:t>
            </a:r>
            <a:r>
              <a:rPr kumimoji="1" lang="en-US" altLang="ja-JP" dirty="0"/>
              <a:t>1</a:t>
            </a:r>
            <a:r>
              <a:rPr kumimoji="1" lang="ja-JP" altLang="en-US"/>
              <a:t>にはアクション</a:t>
            </a:r>
            <a:r>
              <a:rPr kumimoji="1" lang="en-US" altLang="ja-JP" dirty="0" err="1"/>
              <a:t>a,b,x,y,return</a:t>
            </a:r>
            <a:r>
              <a:rPr kumimoji="1" lang="ja-JP" altLang="en-US"/>
              <a:t>が含まれるのでこれらのアクションを含むモデル</a:t>
            </a:r>
            <a:r>
              <a:rPr kumimoji="1" lang="en-US" altLang="ja-JP" dirty="0"/>
              <a:t>1</a:t>
            </a:r>
            <a:r>
              <a:rPr kumimoji="1" lang="ja-JP" altLang="en-US"/>
              <a:t>とモデル</a:t>
            </a:r>
            <a:r>
              <a:rPr kumimoji="1" lang="en-US" altLang="ja-JP" dirty="0"/>
              <a:t>2</a:t>
            </a:r>
            <a:r>
              <a:rPr kumimoji="1" lang="ja-JP" altLang="en-US"/>
              <a:t>を今回の部分合成の際に参照します．</a:t>
            </a:r>
            <a:endParaRPr kumimoji="1" lang="en-US" altLang="ja-JP" dirty="0"/>
          </a:p>
          <a:p>
            <a:r>
              <a:rPr kumimoji="1" lang="ja-JP" altLang="en-US"/>
              <a:t>モデル</a:t>
            </a:r>
            <a:r>
              <a:rPr kumimoji="1" lang="en-US" altLang="ja-JP" dirty="0"/>
              <a:t>3</a:t>
            </a:r>
            <a:r>
              <a:rPr kumimoji="1" lang="ja-JP" altLang="en-US"/>
              <a:t>はアクション</a:t>
            </a:r>
            <a:r>
              <a:rPr kumimoji="1" lang="en-US" altLang="ja-JP" dirty="0" err="1"/>
              <a:t>on,off</a:t>
            </a:r>
            <a:r>
              <a:rPr kumimoji="1" lang="ja-JP" altLang="en-US"/>
              <a:t>がともにセーフティー</a:t>
            </a:r>
            <a:r>
              <a:rPr kumimoji="1" lang="en-US" altLang="ja-JP" dirty="0"/>
              <a:t>1</a:t>
            </a:r>
            <a:r>
              <a:rPr kumimoji="1" lang="ja-JP" altLang="en-US"/>
              <a:t>に含まれないので今回の部分合成では分析されません．</a:t>
            </a:r>
            <a:endParaRPr kumimoji="1" lang="en-US" altLang="ja-JP" dirty="0"/>
          </a:p>
          <a:p>
            <a:r>
              <a:rPr kumimoji="1" lang="ja-JP" altLang="en-US"/>
              <a:t>ここで，環境モデルとして，モデル</a:t>
            </a:r>
            <a:r>
              <a:rPr kumimoji="1" lang="en-US" altLang="ja-JP" dirty="0"/>
              <a:t>1</a:t>
            </a:r>
            <a:r>
              <a:rPr kumimoji="1" lang="ja-JP" altLang="en-US"/>
              <a:t>モデル</a:t>
            </a:r>
            <a:r>
              <a:rPr kumimoji="1" lang="en-US" altLang="ja-JP" dirty="0"/>
              <a:t>2</a:t>
            </a:r>
            <a:r>
              <a:rPr kumimoji="1" lang="ja-JP" altLang="en-US"/>
              <a:t>，監視モデルとしてセーフティー</a:t>
            </a:r>
            <a:r>
              <a:rPr kumimoji="1" lang="en-US" altLang="ja-JP" dirty="0"/>
              <a:t>1</a:t>
            </a:r>
            <a:r>
              <a:rPr kumimoji="1" lang="ja-JP" altLang="en-US"/>
              <a:t>を入力として部分合成を行うと図のようなパートコントローラー</a:t>
            </a:r>
            <a:r>
              <a:rPr kumimoji="1" lang="en-US" altLang="ja-JP" dirty="0"/>
              <a:t>0</a:t>
            </a:r>
            <a:r>
              <a:rPr kumimoji="1" lang="ja-JP" altLang="en-US"/>
              <a:t>が部分制御器として合成されます．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13</a:t>
            </a:fld>
            <a:endParaRPr kumimoji="1" lang="ja-JP" altLang="en-US"/>
          </a:p>
        </p:txBody>
      </p:sp>
    </p:spTree>
    <p:extLst>
      <p:ext uri="{BB962C8B-B14F-4D97-AF65-F5344CB8AC3E}">
        <p14:creationId xmlns:p14="http://schemas.microsoft.com/office/powerpoint/2010/main" val="4014029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次に部分制御器パートコントローラー</a:t>
            </a:r>
            <a:r>
              <a:rPr kumimoji="1" lang="en-US" altLang="ja-JP" dirty="0"/>
              <a:t>0</a:t>
            </a:r>
            <a:r>
              <a:rPr kumimoji="1" lang="ja-JP" altLang="en-US"/>
              <a:t>の最小化を行います．</a:t>
            </a:r>
            <a:endParaRPr kumimoji="1" lang="en-US" altLang="ja-JP" dirty="0"/>
          </a:p>
          <a:p>
            <a:r>
              <a:rPr kumimoji="1" lang="ja-JP" altLang="en-US"/>
              <a:t>先ほど生成されたパートコントローラー</a:t>
            </a:r>
            <a:r>
              <a:rPr kumimoji="1" lang="en-US" altLang="ja-JP" dirty="0"/>
              <a:t>0</a:t>
            </a:r>
            <a:r>
              <a:rPr kumimoji="1" lang="ja-JP" altLang="en-US"/>
              <a:t>では状態</a:t>
            </a:r>
            <a:r>
              <a:rPr kumimoji="1" lang="en-US" altLang="ja-JP" dirty="0"/>
              <a:t>0</a:t>
            </a:r>
            <a:r>
              <a:rPr kumimoji="1" lang="ja-JP" altLang="en-US"/>
              <a:t>から，アクション</a:t>
            </a:r>
            <a:r>
              <a:rPr kumimoji="1" lang="en-US" altLang="ja-JP" dirty="0"/>
              <a:t>a,</a:t>
            </a:r>
            <a:r>
              <a:rPr kumimoji="1" lang="ja-JP" altLang="en-US"/>
              <a:t>または</a:t>
            </a:r>
            <a:r>
              <a:rPr kumimoji="1" lang="en-US" altLang="ja-JP" dirty="0"/>
              <a:t>b</a:t>
            </a:r>
            <a:r>
              <a:rPr kumimoji="1" lang="ja-JP" altLang="en-US"/>
              <a:t>を発火したあとに発火するアクション列が同一のもので状態</a:t>
            </a:r>
            <a:r>
              <a:rPr kumimoji="1" lang="en-US" altLang="ja-JP" dirty="0"/>
              <a:t>0</a:t>
            </a:r>
            <a:r>
              <a:rPr kumimoji="1" lang="ja-JP" altLang="en-US"/>
              <a:t>に戻ってくるので，</a:t>
            </a:r>
            <a:endParaRPr kumimoji="1" lang="en-US" altLang="ja-JP" dirty="0"/>
          </a:p>
          <a:p>
            <a:r>
              <a:rPr kumimoji="1" lang="ja-JP" altLang="en-US"/>
              <a:t>この冗長的な分岐を最小化によって</a:t>
            </a:r>
            <a:r>
              <a:rPr kumimoji="1" lang="en-US" altLang="ja-JP" dirty="0"/>
              <a:t>1</a:t>
            </a:r>
            <a:r>
              <a:rPr kumimoji="1" lang="ja-JP" altLang="en-US"/>
              <a:t>つにまとめることで状態数が削減されます．今回は状態数が</a:t>
            </a:r>
            <a:r>
              <a:rPr kumimoji="1" lang="en-US" altLang="ja-JP" dirty="0"/>
              <a:t>7</a:t>
            </a:r>
            <a:r>
              <a:rPr kumimoji="1" lang="ja-JP" altLang="en-US"/>
              <a:t>だった制御器を状態数</a:t>
            </a:r>
            <a:r>
              <a:rPr kumimoji="1" lang="en-US" altLang="ja-JP" dirty="0"/>
              <a:t>4</a:t>
            </a:r>
            <a:r>
              <a:rPr kumimoji="1" lang="ja-JP" altLang="en-US"/>
              <a:t>にまで削減できました．</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14</a:t>
            </a:fld>
            <a:endParaRPr kumimoji="1" lang="ja-JP" altLang="en-US"/>
          </a:p>
        </p:txBody>
      </p:sp>
    </p:spTree>
    <p:extLst>
      <p:ext uri="{BB962C8B-B14F-4D97-AF65-F5344CB8AC3E}">
        <p14:creationId xmlns:p14="http://schemas.microsoft.com/office/powerpoint/2010/main" val="2903273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次にセーフティー</a:t>
            </a:r>
            <a:r>
              <a:rPr kumimoji="1" lang="en-US" altLang="ja-JP" dirty="0"/>
              <a:t>2</a:t>
            </a:r>
            <a:r>
              <a:rPr kumimoji="1" lang="ja-JP" altLang="en-US"/>
              <a:t>の安全性保証を行います．</a:t>
            </a:r>
            <a:endParaRPr kumimoji="1" lang="en-US" altLang="ja-JP" dirty="0"/>
          </a:p>
          <a:p>
            <a:r>
              <a:rPr kumimoji="1" lang="ja-JP" altLang="en-US"/>
              <a:t>セーフティー</a:t>
            </a:r>
            <a:r>
              <a:rPr kumimoji="1" lang="en-US" altLang="ja-JP" dirty="0"/>
              <a:t>2</a:t>
            </a:r>
            <a:r>
              <a:rPr kumimoji="1" lang="ja-JP" altLang="en-US"/>
              <a:t>ではアクション</a:t>
            </a:r>
            <a:r>
              <a:rPr kumimoji="1" lang="en-US" altLang="ja-JP" dirty="0" err="1"/>
              <a:t>on,off</a:t>
            </a:r>
            <a:r>
              <a:rPr kumimoji="1" lang="ja-JP" altLang="en-US"/>
              <a:t>も含みますのでモデル</a:t>
            </a:r>
            <a:r>
              <a:rPr kumimoji="1" lang="en-US" altLang="ja-JP" dirty="0"/>
              <a:t>3</a:t>
            </a:r>
            <a:r>
              <a:rPr kumimoji="1" lang="ja-JP" altLang="en-US"/>
              <a:t>が分析対象になります．</a:t>
            </a:r>
            <a:endParaRPr kumimoji="1" lang="en-US" altLang="ja-JP" dirty="0"/>
          </a:p>
          <a:p>
            <a:r>
              <a:rPr kumimoji="1" lang="ja-JP" altLang="en-US"/>
              <a:t>よって，環境モデルとしてパートコントローラー</a:t>
            </a:r>
            <a:r>
              <a:rPr kumimoji="1" lang="en-US" altLang="ja-JP" dirty="0"/>
              <a:t>0</a:t>
            </a:r>
            <a:r>
              <a:rPr kumimoji="1" lang="ja-JP" altLang="en-US"/>
              <a:t>モデル</a:t>
            </a:r>
            <a:r>
              <a:rPr kumimoji="1" lang="en-US" altLang="ja-JP" dirty="0"/>
              <a:t>3</a:t>
            </a:r>
            <a:r>
              <a:rPr kumimoji="1" lang="ja-JP" altLang="en-US"/>
              <a:t>，監視モデルとしてセーフティー</a:t>
            </a:r>
            <a:r>
              <a:rPr kumimoji="1" lang="en-US" altLang="ja-JP" dirty="0"/>
              <a:t>2</a:t>
            </a:r>
            <a:r>
              <a:rPr kumimoji="1" lang="ja-JP" altLang="en-US"/>
              <a:t>を入力として部分合成することによって，</a:t>
            </a:r>
            <a:r>
              <a:rPr kumimoji="1" lang="en-US" altLang="ja-JP" dirty="0"/>
              <a:t>8</a:t>
            </a:r>
            <a:r>
              <a:rPr kumimoji="1" lang="ja-JP" altLang="en-US"/>
              <a:t>状態の制御器が合成されて終了となります．</a:t>
            </a:r>
            <a:endParaRPr kumimoji="1" lang="en-US" altLang="ja-JP" dirty="0"/>
          </a:p>
          <a:p>
            <a:r>
              <a:rPr kumimoji="1" lang="ja-JP" altLang="en-US"/>
              <a:t>制御器は部分制御器と違って次の部分合成の分析対象にならず，これを最小化しても計算空間を小さくすることはできないため，制御器の最小化は行いません．</a:t>
            </a:r>
            <a:endParaRPr kumimoji="1" lang="en-US" altLang="ja-JP" dirty="0"/>
          </a:p>
          <a:p>
            <a:r>
              <a:rPr kumimoji="1" lang="ja-JP" altLang="en-US"/>
              <a:t>また，この部分合成の際に生成される中間生成物がボトルネックとなるのですが，今回の中間生成物はこのような状態数</a:t>
            </a:r>
            <a:r>
              <a:rPr kumimoji="1" lang="en-US" altLang="ja-JP" dirty="0"/>
              <a:t>8</a:t>
            </a:r>
            <a:r>
              <a:rPr kumimoji="1" lang="ja-JP" altLang="en-US"/>
              <a:t>のものになりました．</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15</a:t>
            </a:fld>
            <a:endParaRPr kumimoji="1" lang="ja-JP" altLang="en-US"/>
          </a:p>
        </p:txBody>
      </p:sp>
    </p:spTree>
    <p:extLst>
      <p:ext uri="{BB962C8B-B14F-4D97-AF65-F5344CB8AC3E}">
        <p14:creationId xmlns:p14="http://schemas.microsoft.com/office/powerpoint/2010/main" val="1898262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ここでは，先ほど最小化によって合成された制御器と最小化を適用していなかったときの制御器を比較しています．</a:t>
            </a:r>
            <a:endParaRPr kumimoji="1" lang="en-US" altLang="ja-JP" dirty="0"/>
          </a:p>
          <a:p>
            <a:r>
              <a:rPr kumimoji="1" lang="ja-JP" altLang="en-US"/>
              <a:t>これらの</a:t>
            </a:r>
            <a:r>
              <a:rPr kumimoji="1" lang="en-US" altLang="ja-JP" dirty="0"/>
              <a:t>LTS</a:t>
            </a:r>
            <a:r>
              <a:rPr kumimoji="1" lang="ja-JP" altLang="en-US"/>
              <a:t>を見ると，今回の例では，中間生成物の状態数が</a:t>
            </a:r>
            <a:r>
              <a:rPr kumimoji="1" lang="en-US" altLang="ja-JP" dirty="0"/>
              <a:t>14</a:t>
            </a:r>
            <a:r>
              <a:rPr kumimoji="1" lang="ja-JP" altLang="en-US"/>
              <a:t>状態</a:t>
            </a:r>
            <a:r>
              <a:rPr kumimoji="1" lang="en-US" altLang="ja-JP" dirty="0"/>
              <a:t>8</a:t>
            </a:r>
            <a:r>
              <a:rPr kumimoji="1" lang="ja-JP" altLang="en-US"/>
              <a:t>状態になり，</a:t>
            </a:r>
            <a:r>
              <a:rPr kumimoji="1" lang="en-US" altLang="ja-JP" dirty="0"/>
              <a:t>LTS</a:t>
            </a:r>
            <a:r>
              <a:rPr kumimoji="1" lang="ja-JP" altLang="en-US"/>
              <a:t>の最小化によって，状態数が削減されていることがわかります．</a:t>
            </a:r>
            <a:endParaRPr kumimoji="1" lang="en-US" altLang="ja-JP" dirty="0"/>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16</a:t>
            </a:fld>
            <a:endParaRPr kumimoji="1" lang="ja-JP" altLang="en-US"/>
          </a:p>
        </p:txBody>
      </p:sp>
    </p:spTree>
    <p:extLst>
      <p:ext uri="{BB962C8B-B14F-4D97-AF65-F5344CB8AC3E}">
        <p14:creationId xmlns:p14="http://schemas.microsoft.com/office/powerpoint/2010/main" val="317865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ここからは提案手法の効果を確認するために，</a:t>
            </a:r>
            <a:endParaRPr kumimoji="1" lang="en-US" altLang="ja-JP" dirty="0"/>
          </a:p>
          <a:p>
            <a:r>
              <a:rPr kumimoji="1" lang="en-US" altLang="ja-JP" dirty="0"/>
              <a:t>RQ1</a:t>
            </a:r>
            <a:r>
              <a:rPr kumimoji="1" lang="ja-JP" altLang="en-US"/>
              <a:t>．</a:t>
            </a:r>
            <a:r>
              <a:rPr kumimoji="1" lang="en-US" altLang="ja-JP" dirty="0"/>
              <a:t>LTS</a:t>
            </a:r>
            <a:r>
              <a:rPr kumimoji="1" lang="ja-JP" altLang="en-US"/>
              <a:t>の最小化を加えたことで，状態数と遷移数がどれほど削減されたか</a:t>
            </a:r>
          </a:p>
          <a:p>
            <a:r>
              <a:rPr kumimoji="1" lang="en-US" altLang="ja-JP" dirty="0"/>
              <a:t>RQ2</a:t>
            </a:r>
            <a:r>
              <a:rPr kumimoji="1" lang="ja-JP" altLang="en-US"/>
              <a:t>．</a:t>
            </a:r>
            <a:r>
              <a:rPr kumimoji="1" lang="en-US" altLang="ja-JP" dirty="0"/>
              <a:t>LTS</a:t>
            </a:r>
            <a:r>
              <a:rPr kumimoji="1" lang="ja-JP" altLang="en-US"/>
              <a:t>の最小化を加えたことで，主記憶量と計算時間がどれほど削減されたか</a:t>
            </a:r>
            <a:endParaRPr kumimoji="1" lang="en-US" altLang="ja-JP" dirty="0"/>
          </a:p>
          <a:p>
            <a:r>
              <a:rPr kumimoji="1" lang="ja-JP" altLang="en-US"/>
              <a:t>という</a:t>
            </a:r>
            <a:r>
              <a:rPr kumimoji="1" lang="en-US" altLang="ja-JP" dirty="0"/>
              <a:t>2</a:t>
            </a:r>
            <a:r>
              <a:rPr kumimoji="1" lang="ja-JP" altLang="en-US"/>
              <a:t>つのリサーチクエスチョンを設定しこれらを検証します．</a:t>
            </a:r>
            <a:endParaRPr kumimoji="1" lang="en-US" altLang="ja-JP" dirty="0"/>
          </a:p>
          <a:p>
            <a:r>
              <a:rPr kumimoji="1" lang="ja-JP" altLang="en-US"/>
              <a:t>またこれを検証するために，</a:t>
            </a:r>
            <a:r>
              <a:rPr lang="ja-JP" altLang="en-US" sz="1600"/>
              <a:t>従来の段階的制御器合成と，段階的制御器合成に</a:t>
            </a:r>
            <a:r>
              <a:rPr lang="en-US" altLang="ja-JP" sz="1600" dirty="0"/>
              <a:t>LTS</a:t>
            </a:r>
            <a:r>
              <a:rPr lang="ja-JP" altLang="en-US" sz="1600"/>
              <a:t>の最小化を適用した手法で制御器合成し，状態数，遷移数，主記憶量，合成時間．最小化時間を測定する実験を行いました．</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17</a:t>
            </a:fld>
            <a:endParaRPr kumimoji="1" lang="ja-JP" altLang="en-US"/>
          </a:p>
        </p:txBody>
      </p:sp>
    </p:spTree>
    <p:extLst>
      <p:ext uri="{BB962C8B-B14F-4D97-AF65-F5344CB8AC3E}">
        <p14:creationId xmlns:p14="http://schemas.microsoft.com/office/powerpoint/2010/main" val="1406947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また，実験にはこのようなシステム，計算機，制御器合成ツールを用いました．</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18</a:t>
            </a:fld>
            <a:endParaRPr kumimoji="1" lang="ja-JP" altLang="en-US"/>
          </a:p>
        </p:txBody>
      </p:sp>
    </p:spTree>
    <p:extLst>
      <p:ext uri="{BB962C8B-B14F-4D97-AF65-F5344CB8AC3E}">
        <p14:creationId xmlns:p14="http://schemas.microsoft.com/office/powerpoint/2010/main" val="1661737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19</a:t>
            </a:fld>
            <a:endParaRPr kumimoji="1" lang="ja-JP" altLang="en-US"/>
          </a:p>
        </p:txBody>
      </p:sp>
    </p:spTree>
    <p:extLst>
      <p:ext uri="{BB962C8B-B14F-4D97-AF65-F5344CB8AC3E}">
        <p14:creationId xmlns:p14="http://schemas.microsoft.com/office/powerpoint/2010/main" val="4217193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こちらの表が，今回の制御器合成の実験結果になります．</a:t>
            </a:r>
            <a:endParaRPr kumimoji="1" lang="en-US" altLang="ja-JP" dirty="0"/>
          </a:p>
          <a:p>
            <a:r>
              <a:rPr kumimoji="1" lang="ja-JP" altLang="en-US"/>
              <a:t>まずはリサーチクエスチョン</a:t>
            </a:r>
            <a:r>
              <a:rPr kumimoji="1" lang="en-US" altLang="ja-JP" dirty="0"/>
              <a:t>1</a:t>
            </a:r>
            <a:r>
              <a:rPr kumimoji="1" lang="ja-JP" altLang="en-US"/>
              <a:t>の評価を行います．</a:t>
            </a:r>
            <a:endParaRPr kumimoji="1" lang="en-US" altLang="ja-JP" dirty="0"/>
          </a:p>
          <a:p>
            <a:r>
              <a:rPr kumimoji="1" lang="ja-JP" altLang="en-US"/>
              <a:t>削減率の平均をとると，人数管理システムが状態数</a:t>
            </a:r>
            <a:r>
              <a:rPr kumimoji="1" lang="en-US" altLang="ja-JP" dirty="0"/>
              <a:t>-21.9%</a:t>
            </a:r>
            <a:r>
              <a:rPr kumimoji="1" lang="ja-JP" altLang="en-US"/>
              <a:t>遷移数</a:t>
            </a:r>
            <a:r>
              <a:rPr kumimoji="1" lang="en-US" altLang="ja-JP" dirty="0"/>
              <a:t>-19.9%</a:t>
            </a:r>
            <a:r>
              <a:rPr kumimoji="1" lang="ja-JP" altLang="en-US"/>
              <a:t>，自動倉庫管理システムが状態数</a:t>
            </a:r>
            <a:r>
              <a:rPr kumimoji="1" lang="en-US" altLang="ja-JP" dirty="0"/>
              <a:t>-52.8%</a:t>
            </a:r>
            <a:r>
              <a:rPr kumimoji="1" lang="ja-JP" altLang="en-US"/>
              <a:t>遷移数</a:t>
            </a:r>
            <a:r>
              <a:rPr kumimoji="1" lang="en-US" altLang="ja-JP" dirty="0"/>
              <a:t>-53.3%</a:t>
            </a:r>
            <a:r>
              <a:rPr kumimoji="1" lang="ja-JP" altLang="en-US"/>
              <a:t>となり，いずれのシステムでも状態数と遷移数が削減されていることがわかりました．また，このように定義した</a:t>
            </a:r>
            <a:r>
              <a:rPr kumimoji="1" lang="en-US" altLang="ja-JP" dirty="0"/>
              <a:t>N</a:t>
            </a:r>
            <a:r>
              <a:rPr kumimoji="1" lang="ja-JP" altLang="en-US"/>
              <a:t>と</a:t>
            </a:r>
            <a:r>
              <a:rPr kumimoji="1" lang="en-US" altLang="ja-JP" dirty="0"/>
              <a:t>K</a:t>
            </a:r>
            <a:r>
              <a:rPr kumimoji="1" lang="ja-JP" altLang="en-US"/>
              <a:t>の値を変動させても削減効果の変化に相関は見られませんでした．</a:t>
            </a:r>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20</a:t>
            </a:fld>
            <a:endParaRPr kumimoji="1" lang="ja-JP" altLang="en-US"/>
          </a:p>
        </p:txBody>
      </p:sp>
    </p:spTree>
    <p:extLst>
      <p:ext uri="{BB962C8B-B14F-4D97-AF65-F5344CB8AC3E}">
        <p14:creationId xmlns:p14="http://schemas.microsoft.com/office/powerpoint/2010/main" val="3204344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21</a:t>
            </a:fld>
            <a:endParaRPr kumimoji="1" lang="ja-JP" altLang="en-US"/>
          </a:p>
        </p:txBody>
      </p:sp>
    </p:spTree>
    <p:extLst>
      <p:ext uri="{BB962C8B-B14F-4D97-AF65-F5344CB8AC3E}">
        <p14:creationId xmlns:p14="http://schemas.microsoft.com/office/powerpoint/2010/main" val="2912529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こちらの表が，今回の制御器合成の実験結果になります．</a:t>
            </a:r>
            <a:endParaRPr kumimoji="1" lang="en-US" altLang="ja-JP" dirty="0"/>
          </a:p>
          <a:p>
            <a:r>
              <a:rPr kumimoji="1" lang="ja-JP" altLang="en-US"/>
              <a:t>まずはリサーチクエスチョン</a:t>
            </a:r>
            <a:r>
              <a:rPr kumimoji="1" lang="en-US" altLang="ja-JP" dirty="0"/>
              <a:t>1</a:t>
            </a:r>
            <a:r>
              <a:rPr kumimoji="1" lang="ja-JP" altLang="en-US"/>
              <a:t>の評価を行います．</a:t>
            </a:r>
            <a:endParaRPr kumimoji="1" lang="en-US" altLang="ja-JP" dirty="0"/>
          </a:p>
          <a:p>
            <a:r>
              <a:rPr kumimoji="1" lang="ja-JP" altLang="en-US"/>
              <a:t>削減率の平均をとると，人数管理システムが状態数</a:t>
            </a:r>
            <a:r>
              <a:rPr kumimoji="1" lang="en-US" altLang="ja-JP" dirty="0"/>
              <a:t>-21.9%</a:t>
            </a:r>
            <a:r>
              <a:rPr kumimoji="1" lang="ja-JP" altLang="en-US"/>
              <a:t>遷移数</a:t>
            </a:r>
            <a:r>
              <a:rPr kumimoji="1" lang="en-US" altLang="ja-JP" dirty="0"/>
              <a:t>-19.9%</a:t>
            </a:r>
            <a:r>
              <a:rPr kumimoji="1" lang="ja-JP" altLang="en-US"/>
              <a:t>，自動倉庫管理システムが状態数</a:t>
            </a:r>
            <a:r>
              <a:rPr kumimoji="1" lang="en-US" altLang="ja-JP" dirty="0"/>
              <a:t>-52.8%</a:t>
            </a:r>
            <a:r>
              <a:rPr kumimoji="1" lang="ja-JP" altLang="en-US"/>
              <a:t>遷移数</a:t>
            </a:r>
            <a:r>
              <a:rPr kumimoji="1" lang="en-US" altLang="ja-JP" dirty="0"/>
              <a:t>-53.3%</a:t>
            </a:r>
            <a:r>
              <a:rPr kumimoji="1" lang="ja-JP" altLang="en-US"/>
              <a:t>となり，いずれのシステムでも状態数と遷移数が削減されていることがわかりました．また，このように定義した</a:t>
            </a:r>
            <a:r>
              <a:rPr kumimoji="1" lang="en-US" altLang="ja-JP" dirty="0"/>
              <a:t>N</a:t>
            </a:r>
            <a:r>
              <a:rPr kumimoji="1" lang="ja-JP" altLang="en-US"/>
              <a:t>と</a:t>
            </a:r>
            <a:r>
              <a:rPr kumimoji="1" lang="en-US" altLang="ja-JP" dirty="0"/>
              <a:t>K</a:t>
            </a:r>
            <a:r>
              <a:rPr kumimoji="1" lang="ja-JP" altLang="en-US"/>
              <a:t>の値を変動させても削減効果の変化に相関は見られませんでした．</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22</a:t>
            </a:fld>
            <a:endParaRPr kumimoji="1" lang="ja-JP" altLang="en-US"/>
          </a:p>
        </p:txBody>
      </p:sp>
    </p:spTree>
    <p:extLst>
      <p:ext uri="{BB962C8B-B14F-4D97-AF65-F5344CB8AC3E}">
        <p14:creationId xmlns:p14="http://schemas.microsoft.com/office/powerpoint/2010/main" val="24891803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1C4AC-37A0-A690-0437-6106D9EF43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BC5D7A-FA6A-C82E-4EA9-503BADED28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BCD721-F200-52CB-0F1E-BAA9DB83E189}"/>
              </a:ext>
            </a:extLst>
          </p:cNvPr>
          <p:cNvSpPr>
            <a:spLocks noGrp="1"/>
          </p:cNvSpPr>
          <p:nvPr>
            <p:ph type="body" idx="1"/>
          </p:nvPr>
        </p:nvSpPr>
        <p:spPr/>
        <p:txBody>
          <a:bodyPr/>
          <a:lstStyle/>
          <a:p>
            <a:r>
              <a:rPr kumimoji="1" lang="ja-JP" altLang="en-US"/>
              <a:t>こちらの表が，今回の制御器合成の実験結果になります．</a:t>
            </a:r>
            <a:endParaRPr kumimoji="1" lang="en-US" altLang="ja-JP" dirty="0"/>
          </a:p>
          <a:p>
            <a:r>
              <a:rPr kumimoji="1" lang="ja-JP" altLang="en-US"/>
              <a:t>まずはリサーチクエスチョン</a:t>
            </a:r>
            <a:r>
              <a:rPr kumimoji="1" lang="en-US" altLang="ja-JP" dirty="0"/>
              <a:t>1</a:t>
            </a:r>
            <a:r>
              <a:rPr kumimoji="1" lang="ja-JP" altLang="en-US"/>
              <a:t>の評価を行います．</a:t>
            </a:r>
            <a:endParaRPr kumimoji="1" lang="en-US" altLang="ja-JP" dirty="0"/>
          </a:p>
          <a:p>
            <a:r>
              <a:rPr kumimoji="1" lang="ja-JP" altLang="en-US"/>
              <a:t>削減率の平均をとると，人数管理システムが状態数</a:t>
            </a:r>
            <a:r>
              <a:rPr kumimoji="1" lang="en-US" altLang="ja-JP" dirty="0"/>
              <a:t>-21.9%</a:t>
            </a:r>
            <a:r>
              <a:rPr kumimoji="1" lang="ja-JP" altLang="en-US"/>
              <a:t>遷移数</a:t>
            </a:r>
            <a:r>
              <a:rPr kumimoji="1" lang="en-US" altLang="ja-JP" dirty="0"/>
              <a:t>-19.9%</a:t>
            </a:r>
            <a:r>
              <a:rPr kumimoji="1" lang="ja-JP" altLang="en-US"/>
              <a:t>，自動倉庫管理システムが状態数</a:t>
            </a:r>
            <a:r>
              <a:rPr kumimoji="1" lang="en-US" altLang="ja-JP" dirty="0"/>
              <a:t>-52.8%</a:t>
            </a:r>
            <a:r>
              <a:rPr kumimoji="1" lang="ja-JP" altLang="en-US"/>
              <a:t>遷移数</a:t>
            </a:r>
            <a:r>
              <a:rPr kumimoji="1" lang="en-US" altLang="ja-JP" dirty="0"/>
              <a:t>-53.3%</a:t>
            </a:r>
            <a:r>
              <a:rPr kumimoji="1" lang="ja-JP" altLang="en-US"/>
              <a:t>となり，いずれのシステムでも状態数と遷移数が削減されていることがわかりました．また，このように定義した</a:t>
            </a:r>
            <a:r>
              <a:rPr kumimoji="1" lang="en-US" altLang="ja-JP" dirty="0"/>
              <a:t>N</a:t>
            </a:r>
            <a:r>
              <a:rPr kumimoji="1" lang="ja-JP" altLang="en-US"/>
              <a:t>と</a:t>
            </a:r>
            <a:r>
              <a:rPr kumimoji="1" lang="en-US" altLang="ja-JP" dirty="0"/>
              <a:t>K</a:t>
            </a:r>
            <a:r>
              <a:rPr kumimoji="1" lang="ja-JP" altLang="en-US"/>
              <a:t>の値を変動させても削減効果の変化に相関は見られませんでした．</a:t>
            </a:r>
          </a:p>
          <a:p>
            <a:endParaRPr kumimoji="1" lang="ja-JP" altLang="en-US"/>
          </a:p>
        </p:txBody>
      </p:sp>
      <p:sp>
        <p:nvSpPr>
          <p:cNvPr id="4" name="スライド番号プレースホルダー 3">
            <a:extLst>
              <a:ext uri="{FF2B5EF4-FFF2-40B4-BE49-F238E27FC236}">
                <a16:creationId xmlns:a16="http://schemas.microsoft.com/office/drawing/2014/main" id="{FD87CC8A-17CA-D426-54C3-E849760D65CE}"/>
              </a:ext>
            </a:extLst>
          </p:cNvPr>
          <p:cNvSpPr>
            <a:spLocks noGrp="1"/>
          </p:cNvSpPr>
          <p:nvPr>
            <p:ph type="sldNum" sz="quarter" idx="5"/>
          </p:nvPr>
        </p:nvSpPr>
        <p:spPr/>
        <p:txBody>
          <a:bodyPr/>
          <a:lstStyle/>
          <a:p>
            <a:fld id="{DECB0E78-FB0F-2646-A98F-B55C16366C94}" type="slidenum">
              <a:rPr kumimoji="1" lang="ja-JP" altLang="en-US" smtClean="0"/>
              <a:t>23</a:t>
            </a:fld>
            <a:endParaRPr kumimoji="1" lang="ja-JP" altLang="en-US"/>
          </a:p>
        </p:txBody>
      </p:sp>
    </p:spTree>
    <p:extLst>
      <p:ext uri="{BB962C8B-B14F-4D97-AF65-F5344CB8AC3E}">
        <p14:creationId xmlns:p14="http://schemas.microsoft.com/office/powerpoint/2010/main" val="74993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355A-F8F2-7873-B0CB-F537412496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2E4A27-34DD-4FAE-18DC-4B2AF2A59F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4FE7A7-2FDC-99EB-3A5B-14DB7A77AAFF}"/>
              </a:ext>
            </a:extLst>
          </p:cNvPr>
          <p:cNvSpPr>
            <a:spLocks noGrp="1"/>
          </p:cNvSpPr>
          <p:nvPr>
            <p:ph type="body" idx="1"/>
          </p:nvPr>
        </p:nvSpPr>
        <p:spPr/>
        <p:txBody>
          <a:bodyPr/>
          <a:lstStyle/>
          <a:p>
            <a:r>
              <a:rPr kumimoji="1" lang="ja-JP" altLang="en-US"/>
              <a:t>次にリサーチクエスチョン</a:t>
            </a:r>
            <a:r>
              <a:rPr kumimoji="1" lang="en-US" altLang="ja-JP" dirty="0"/>
              <a:t>2</a:t>
            </a:r>
            <a:r>
              <a:rPr kumimoji="1" lang="ja-JP" altLang="en-US"/>
              <a:t>の評価を行います．</a:t>
            </a:r>
            <a:endParaRPr kumimoji="1" lang="en-US" altLang="ja-JP" dirty="0"/>
          </a:p>
          <a:p>
            <a:r>
              <a:rPr kumimoji="1" lang="ja-JP" altLang="en-US"/>
              <a:t>削減率の平均をとると，人数管理システムが状態数</a:t>
            </a:r>
            <a:r>
              <a:rPr kumimoji="1" lang="en-US" altLang="ja-JP" dirty="0"/>
              <a:t>-21.9%</a:t>
            </a:r>
            <a:r>
              <a:rPr kumimoji="1" lang="ja-JP" altLang="en-US"/>
              <a:t>遷移数</a:t>
            </a:r>
            <a:r>
              <a:rPr kumimoji="1" lang="en-US" altLang="ja-JP" dirty="0"/>
              <a:t>-19.9%</a:t>
            </a:r>
            <a:r>
              <a:rPr kumimoji="1" lang="ja-JP" altLang="en-US"/>
              <a:t>，自動倉庫管理システムが状態数</a:t>
            </a:r>
            <a:r>
              <a:rPr kumimoji="1" lang="en-US" altLang="ja-JP" dirty="0"/>
              <a:t>-52.8%</a:t>
            </a:r>
            <a:r>
              <a:rPr kumimoji="1" lang="ja-JP" altLang="en-US"/>
              <a:t>遷移数</a:t>
            </a:r>
            <a:r>
              <a:rPr kumimoji="1" lang="en-US" altLang="ja-JP" dirty="0"/>
              <a:t>-53.3%</a:t>
            </a:r>
            <a:r>
              <a:rPr kumimoji="1" lang="ja-JP" altLang="en-US"/>
              <a:t>となり，いずれのシステムでも状態数と遷移数が削減されていることがわかりました．今回の場合は，人数管理システムで</a:t>
            </a:r>
            <a:r>
              <a:rPr kumimoji="1" lang="en-US" altLang="ja-JP" dirty="0">
                <a:solidFill>
                  <a:prstClr val="black"/>
                </a:solidFill>
                <a:latin typeface="Yu Gothic Medium" panose="020B0400000000000000" pitchFamily="34" charset="-128"/>
                <a:ea typeface="Yu Gothic Medium" panose="020B0400000000000000" pitchFamily="34" charset="-128"/>
              </a:rPr>
              <a:t>N</a:t>
            </a:r>
            <a:r>
              <a:rPr kumimoji="1" lang="ja-JP" altLang="en-US">
                <a:solidFill>
                  <a:prstClr val="black"/>
                </a:solidFill>
                <a:latin typeface="Yu Gothic Medium" panose="020B0400000000000000" pitchFamily="34" charset="-128"/>
                <a:ea typeface="Yu Gothic Medium" panose="020B0400000000000000" pitchFamily="34" charset="-128"/>
              </a:rPr>
              <a:t>の値が大きいほど主記憶量と計算時間が大きいことがわかります．</a:t>
            </a:r>
            <a:endParaRPr kumimoji="1" lang="ja-JP" altLang="en-US"/>
          </a:p>
        </p:txBody>
      </p:sp>
      <p:sp>
        <p:nvSpPr>
          <p:cNvPr id="4" name="スライド番号プレースホルダー 3">
            <a:extLst>
              <a:ext uri="{FF2B5EF4-FFF2-40B4-BE49-F238E27FC236}">
                <a16:creationId xmlns:a16="http://schemas.microsoft.com/office/drawing/2014/main" id="{899B99C0-BCB9-ECAB-AC34-4170DA44003D}"/>
              </a:ext>
            </a:extLst>
          </p:cNvPr>
          <p:cNvSpPr>
            <a:spLocks noGrp="1"/>
          </p:cNvSpPr>
          <p:nvPr>
            <p:ph type="sldNum" sz="quarter" idx="5"/>
          </p:nvPr>
        </p:nvSpPr>
        <p:spPr/>
        <p:txBody>
          <a:bodyPr/>
          <a:lstStyle/>
          <a:p>
            <a:fld id="{DECB0E78-FB0F-2646-A98F-B55C16366C94}" type="slidenum">
              <a:rPr kumimoji="1" lang="ja-JP" altLang="en-US" smtClean="0"/>
              <a:t>24</a:t>
            </a:fld>
            <a:endParaRPr kumimoji="1" lang="ja-JP" altLang="en-US"/>
          </a:p>
        </p:txBody>
      </p:sp>
    </p:spTree>
    <p:extLst>
      <p:ext uri="{BB962C8B-B14F-4D97-AF65-F5344CB8AC3E}">
        <p14:creationId xmlns:p14="http://schemas.microsoft.com/office/powerpoint/2010/main" val="4232821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25</a:t>
            </a:fld>
            <a:endParaRPr kumimoji="1" lang="ja-JP" altLang="en-US"/>
          </a:p>
        </p:txBody>
      </p:sp>
    </p:spTree>
    <p:extLst>
      <p:ext uri="{BB962C8B-B14F-4D97-AF65-F5344CB8AC3E}">
        <p14:creationId xmlns:p14="http://schemas.microsoft.com/office/powerpoint/2010/main" val="22881697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総括として，実験結果を分析すると，</a:t>
            </a:r>
            <a:endParaRPr kumimoji="1" lang="en-US" altLang="ja-JP" dirty="0"/>
          </a:p>
          <a:p>
            <a:r>
              <a:rPr kumimoji="1" lang="ja-JP" altLang="en-US"/>
              <a:t>状態数と遷移数に関しては，いずれのシステムでも削減が見られ，</a:t>
            </a:r>
            <a:r>
              <a:rPr kumimoji="1" lang="en-US" altLang="ja-JP" dirty="0"/>
              <a:t>LTS</a:t>
            </a:r>
            <a:r>
              <a:rPr kumimoji="1" lang="ja-JP" altLang="en-US"/>
              <a:t>の最小化が状態数と遷移数の削減に効果的であることが確認できました．</a:t>
            </a:r>
            <a:endParaRPr kumimoji="1" lang="en-US" altLang="ja-JP" dirty="0"/>
          </a:p>
          <a:p>
            <a:r>
              <a:rPr kumimoji="1" lang="ja-JP" altLang="en-US"/>
              <a:t>主記憶量と計算時間に関しては，自動倉庫管理システムでは削減されたが人数管理システムでは増加したため，</a:t>
            </a:r>
            <a:r>
              <a:rPr kumimoji="1" lang="en-US" altLang="ja-JP" dirty="0"/>
              <a:t>LTS</a:t>
            </a:r>
            <a:r>
              <a:rPr kumimoji="1" lang="ja-JP" altLang="en-US"/>
              <a:t>の最小化が主記憶量と計算時間の削減に効果的であることは確認できませんでした．</a:t>
            </a:r>
            <a:endParaRPr kumimoji="1"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en-US" altLang="ja-JP" dirty="0"/>
              <a:t>LTS</a:t>
            </a:r>
            <a:r>
              <a:rPr kumimoji="1" lang="ja-JP" altLang="en-US"/>
              <a:t>の最小化を加えたことによる追加の主記憶量と計算時間が無視できないほどに大きくなったという提案手法の限界を解決するため，今後は</a:t>
            </a:r>
            <a:r>
              <a:rPr lang="en-US" altLang="ja-JP" dirty="0"/>
              <a:t>LTS</a:t>
            </a:r>
            <a:r>
              <a:rPr lang="ja-JP" altLang="en-US"/>
              <a:t>の最小化を用いる段階を，全段階ではなく，効果的な段階のみに適用することで</a:t>
            </a:r>
            <a:r>
              <a:rPr lang="en-US" altLang="ja-JP" dirty="0"/>
              <a:t>LTS</a:t>
            </a:r>
            <a:r>
              <a:rPr lang="ja-JP" altLang="en-US"/>
              <a:t>の最小化を効果的に用いる研究を進めていきます．</a:t>
            </a:r>
            <a:endParaRPr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endParaRPr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26</a:t>
            </a:fld>
            <a:endParaRPr kumimoji="1" lang="ja-JP" altLang="en-US"/>
          </a:p>
        </p:txBody>
      </p:sp>
    </p:spTree>
    <p:extLst>
      <p:ext uri="{BB962C8B-B14F-4D97-AF65-F5344CB8AC3E}">
        <p14:creationId xmlns:p14="http://schemas.microsoft.com/office/powerpoint/2010/main" val="4184582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最後に今後の展望として，課題解決のための展望を紹介させていただきます．</a:t>
            </a:r>
            <a:endParaRPr kumimoji="1"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ja-JP" altLang="en-US"/>
              <a:t>提案手法の限界の解決のために，人数管理システムの一部の各段階の部分合成の後の最小化にかかった時間を計測してみました．</a:t>
            </a:r>
          </a:p>
          <a:p>
            <a:r>
              <a:rPr kumimoji="1" lang="ja-JP" altLang="en-US"/>
              <a:t>表を見ると，</a:t>
            </a:r>
            <a:r>
              <a:rPr kumimoji="1" lang="en-US" altLang="ja-JP" dirty="0"/>
              <a:t>N=5,K=4</a:t>
            </a:r>
            <a:r>
              <a:rPr kumimoji="1" lang="ja-JP" altLang="en-US"/>
              <a:t>の場合では</a:t>
            </a:r>
            <a:r>
              <a:rPr kumimoji="1" lang="en-US" altLang="ja-JP" dirty="0"/>
              <a:t>9</a:t>
            </a:r>
            <a:r>
              <a:rPr kumimoji="1" lang="ja-JP" altLang="en-US"/>
              <a:t>回目，</a:t>
            </a:r>
            <a:r>
              <a:rPr kumimoji="1" lang="en-US" altLang="ja-JP" dirty="0"/>
              <a:t>N=6,K=4</a:t>
            </a:r>
            <a:r>
              <a:rPr kumimoji="1" lang="ja-JP" altLang="en-US"/>
              <a:t>の場合では</a:t>
            </a:r>
            <a:r>
              <a:rPr kumimoji="1" lang="en-US" altLang="ja-JP" dirty="0"/>
              <a:t>11</a:t>
            </a:r>
            <a:r>
              <a:rPr kumimoji="1" lang="ja-JP" altLang="en-US"/>
              <a:t>回目の最小化に時間がかかっていることがわかります．</a:t>
            </a:r>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27</a:t>
            </a:fld>
            <a:endParaRPr kumimoji="1" lang="ja-JP" altLang="en-US"/>
          </a:p>
        </p:txBody>
      </p:sp>
    </p:spTree>
    <p:extLst>
      <p:ext uri="{BB962C8B-B14F-4D97-AF65-F5344CB8AC3E}">
        <p14:creationId xmlns:p14="http://schemas.microsoft.com/office/powerpoint/2010/main" val="26679467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そこで，今後は効果的な</a:t>
            </a:r>
            <a:r>
              <a:rPr kumimoji="1" lang="en-US" altLang="ja-JP" dirty="0"/>
              <a:t>LTS</a:t>
            </a:r>
            <a:r>
              <a:rPr kumimoji="1" lang="ja-JP" altLang="en-US"/>
              <a:t>の最小化を適用した段階的制御器合成を検証したいと思います．</a:t>
            </a:r>
            <a:endParaRPr kumimoji="1" lang="en-US" altLang="ja-JP" dirty="0"/>
          </a:p>
          <a:p>
            <a:r>
              <a:rPr kumimoji="1" lang="ja-JP" altLang="en-US"/>
              <a:t>この手法では，最小化判断という部分合成の後に最小化を行うかどうかを判断するプロセスを導入します．</a:t>
            </a:r>
            <a:endParaRPr kumimoji="1"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lang="ja-JP" altLang="en-US"/>
              <a:t>現状の</a:t>
            </a:r>
            <a:r>
              <a:rPr lang="ja-JP" altLang="en-US" b="1">
                <a:latin typeface="Yu Gothic" panose="020B0400000000000000" pitchFamily="34" charset="-128"/>
                <a:ea typeface="Yu Gothic" panose="020B0400000000000000" pitchFamily="34" charset="-128"/>
              </a:rPr>
              <a:t>最小化判断</a:t>
            </a:r>
            <a:r>
              <a:rPr lang="ja-JP" altLang="en-US"/>
              <a:t>では最小化にかかる時間が最も長い段階では最小化を適用しないことにしました．</a:t>
            </a:r>
            <a:endParaRPr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28</a:t>
            </a:fld>
            <a:endParaRPr kumimoji="1" lang="ja-JP" altLang="en-US"/>
          </a:p>
        </p:txBody>
      </p:sp>
    </p:spTree>
    <p:extLst>
      <p:ext uri="{BB962C8B-B14F-4D97-AF65-F5344CB8AC3E}">
        <p14:creationId xmlns:p14="http://schemas.microsoft.com/office/powerpoint/2010/main" val="30223278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こちらの表は効率的な</a:t>
            </a:r>
            <a:r>
              <a:rPr kumimoji="1" lang="en-US" altLang="ja-JP" dirty="0"/>
              <a:t>LTS</a:t>
            </a:r>
            <a:r>
              <a:rPr kumimoji="1" lang="ja-JP" altLang="en-US"/>
              <a:t>の最小化を用いた制御器合成のデータを含んだものになります．</a:t>
            </a:r>
            <a:endParaRPr kumimoji="1" lang="en-US" altLang="ja-JP" dirty="0"/>
          </a:p>
          <a:p>
            <a:r>
              <a:rPr kumimoji="1" lang="ja-JP" altLang="en-US"/>
              <a:t>表を見るとわかるとおり，この</a:t>
            </a: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手法では，状態空間削減効果は今回の提案手法に劣るものの，主記憶量と実行時間が削減できていることがわかります．</a:t>
            </a:r>
            <a:br>
              <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rPr>
            </a:b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これの結果を元に，私は今後，最小化に時間がかかるかどうかを入力モデルから判断する手法を研究していきたいと思います．</a:t>
            </a: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29</a:t>
            </a:fld>
            <a:endParaRPr kumimoji="1" lang="ja-JP" altLang="en-US"/>
          </a:p>
        </p:txBody>
      </p:sp>
    </p:spTree>
    <p:extLst>
      <p:ext uri="{BB962C8B-B14F-4D97-AF65-F5344CB8AC3E}">
        <p14:creationId xmlns:p14="http://schemas.microsoft.com/office/powerpoint/2010/main" val="4095384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最後に今回の研究発表を振り返ります．</a:t>
            </a:r>
            <a:endParaRPr kumimoji="1" lang="en-US" altLang="ja-JP"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ja-JP" altLang="en-US"/>
              <a:t>まず背景として，</a:t>
            </a:r>
            <a:r>
              <a:rPr kumimoji="1" lang="ja-JP" altLang="en-US" sz="1600" b="1">
                <a:latin typeface="Yu Gothic" panose="020B0400000000000000" pitchFamily="34" charset="-128"/>
                <a:ea typeface="Yu Gothic" panose="020B0400000000000000" pitchFamily="34" charset="-128"/>
              </a:rPr>
              <a:t>離散事象システム</a:t>
            </a:r>
            <a:r>
              <a:rPr kumimoji="1" lang="ja-JP" altLang="en-US" sz="1600"/>
              <a:t>を表す</a:t>
            </a:r>
            <a:r>
              <a:rPr kumimoji="1" lang="en-US" altLang="ja-JP" sz="1600" dirty="0"/>
              <a:t>LTS</a:t>
            </a:r>
            <a:r>
              <a:rPr kumimoji="1" lang="ja-JP" altLang="en-US" sz="1600"/>
              <a:t>を</a:t>
            </a:r>
            <a:r>
              <a:rPr lang="en-US" altLang="ja-JP" sz="1600" dirty="0"/>
              <a:t>1</a:t>
            </a:r>
            <a:r>
              <a:rPr lang="ja-JP" altLang="en-US" sz="1600"/>
              <a:t>つの</a:t>
            </a:r>
            <a:r>
              <a:rPr lang="en-US" altLang="ja-JP" sz="1600" dirty="0"/>
              <a:t>LTS</a:t>
            </a:r>
            <a:r>
              <a:rPr lang="ja-JP" altLang="en-US" sz="1600"/>
              <a:t>として合成する技術として</a:t>
            </a:r>
            <a:r>
              <a:rPr lang="ja-JP" altLang="en-US" sz="1600" b="1">
                <a:latin typeface="Yu Gothic" panose="020B0400000000000000" pitchFamily="34" charset="-128"/>
                <a:ea typeface="Yu Gothic" panose="020B0400000000000000" pitchFamily="34" charset="-128"/>
              </a:rPr>
              <a:t>離散制御器合成</a:t>
            </a:r>
            <a:r>
              <a:rPr lang="ja-JP" altLang="en-US" sz="1600"/>
              <a:t>があります．</a:t>
            </a:r>
            <a:br>
              <a:rPr lang="en-US" altLang="ja-JP" sz="1600" dirty="0"/>
            </a:br>
            <a:r>
              <a:rPr lang="ja-JP" altLang="en-US" sz="1600"/>
              <a:t>しかし，離散制御器合成には状態空間の指数増加の課題があります．</a:t>
            </a:r>
            <a:endParaRPr lang="en-US" altLang="ja-JP" sz="1600"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ja-JP" altLang="en-US"/>
              <a:t>そこで私は，</a:t>
            </a:r>
            <a:r>
              <a:rPr kumimoji="1" lang="ja-JP" altLang="en-US" sz="1600"/>
              <a:t>離散制御器合成において段階的な</a:t>
            </a:r>
            <a:r>
              <a:rPr kumimoji="1" lang="en-US" altLang="ja-JP" sz="1600" dirty="0"/>
              <a:t>LTS</a:t>
            </a:r>
            <a:r>
              <a:rPr kumimoji="1" lang="ja-JP" altLang="en-US" sz="1600"/>
              <a:t>の最小化を提案しました．</a:t>
            </a:r>
            <a:br>
              <a:rPr kumimoji="1" lang="en-US" altLang="ja-JP" sz="1600" dirty="0"/>
            </a:br>
            <a:r>
              <a:rPr kumimoji="1" lang="ja-JP" altLang="en-US" sz="1600"/>
              <a:t>具体的には，</a:t>
            </a:r>
            <a:r>
              <a:rPr kumimoji="1" lang="ja-JP" altLang="en-US" sz="1600" b="1">
                <a:latin typeface="Yu Gothic" panose="020B0400000000000000" pitchFamily="34" charset="-128"/>
                <a:ea typeface="Yu Gothic" panose="020B0400000000000000" pitchFamily="34" charset="-128"/>
              </a:rPr>
              <a:t>段階的制御器合成</a:t>
            </a:r>
            <a:r>
              <a:rPr kumimoji="1" lang="ja-JP" altLang="en-US" sz="1600"/>
              <a:t>の部分合成の後に</a:t>
            </a:r>
            <a:r>
              <a:rPr kumimoji="1" lang="en-US" altLang="ja-JP" sz="1600" b="1" dirty="0">
                <a:latin typeface="Yu Gothic" panose="020B0400000000000000" pitchFamily="34" charset="-128"/>
                <a:ea typeface="Yu Gothic" panose="020B0400000000000000" pitchFamily="34" charset="-128"/>
              </a:rPr>
              <a:t>LTS</a:t>
            </a:r>
            <a:r>
              <a:rPr kumimoji="1" lang="ja-JP" altLang="en-US" sz="1600" b="1">
                <a:latin typeface="Yu Gothic" panose="020B0400000000000000" pitchFamily="34" charset="-128"/>
                <a:ea typeface="Yu Gothic" panose="020B0400000000000000" pitchFamily="34" charset="-128"/>
              </a:rPr>
              <a:t>を最小化</a:t>
            </a:r>
            <a:r>
              <a:rPr kumimoji="1" lang="ja-JP" altLang="en-US" sz="1600"/>
              <a:t>を適用しました．</a:t>
            </a:r>
            <a:endParaRPr kumimoji="1" lang="en-US" altLang="ja-JP" sz="1600" dirty="0"/>
          </a:p>
          <a:p>
            <a:pPr marL="0" marR="0" lvl="0" indent="0" algn="l" defTabSz="1219140" rtl="0" eaLnBrk="1" fontAlgn="auto" latinLnBrk="0" hangingPunct="1">
              <a:lnSpc>
                <a:spcPct val="100000"/>
              </a:lnSpc>
              <a:spcBef>
                <a:spcPts val="0"/>
              </a:spcBef>
              <a:spcAft>
                <a:spcPts val="0"/>
              </a:spcAft>
              <a:buClrTx/>
              <a:buSzTx/>
              <a:buFontTx/>
              <a:buNone/>
              <a:tabLst/>
              <a:defRPr/>
            </a:pPr>
            <a:r>
              <a:rPr kumimoji="1" lang="ja-JP" altLang="en-US"/>
              <a:t>この手法と，</a:t>
            </a:r>
            <a:r>
              <a:rPr kumimoji="1" lang="ja-JP" altLang="en-US" sz="1600"/>
              <a:t>従来手法の段階的制御器合成との比較実験を行い，状態数と遷移数には削減効果があることがわかりました</a:t>
            </a:r>
            <a:r>
              <a:rPr lang="ja-JP" altLang="en-US" sz="1600"/>
              <a:t>．</a:t>
            </a:r>
            <a:endParaRPr lang="en-US" altLang="ja-JP" sz="1600" dirty="0"/>
          </a:p>
          <a:p>
            <a:pPr marL="0" marR="0" lvl="0" indent="0" algn="l" defTabSz="1219140" rtl="0" eaLnBrk="1" fontAlgn="auto" latinLnBrk="0" hangingPunct="1">
              <a:lnSpc>
                <a:spcPct val="100000"/>
              </a:lnSpc>
              <a:spcBef>
                <a:spcPts val="0"/>
              </a:spcBef>
              <a:spcAft>
                <a:spcPts val="0"/>
              </a:spcAft>
              <a:buClrTx/>
              <a:buSzTx/>
              <a:buFontTx/>
              <a:buNone/>
              <a:tabLst/>
              <a:defRPr/>
            </a:pPr>
            <a:r>
              <a:rPr lang="ja-JP" altLang="en-US" sz="1600"/>
              <a:t>しかし，</a:t>
            </a:r>
            <a:r>
              <a:rPr kumimoji="1" lang="ja-JP" altLang="en-US" sz="1600"/>
              <a:t>主記憶量と計算時間の削減効果には限界があることがわかりました．</a:t>
            </a:r>
            <a:endParaRPr kumimoji="1" lang="en-US" altLang="ja-JP" sz="1600" dirty="0"/>
          </a:p>
          <a:p>
            <a:pPr marL="0" indent="0">
              <a:buNone/>
            </a:pPr>
            <a:r>
              <a:rPr kumimoji="1" lang="ja-JP" altLang="en-US" sz="1600"/>
              <a:t>今後の展望として，</a:t>
            </a:r>
            <a:r>
              <a:rPr lang="ja-JP" altLang="en-US" sz="1600"/>
              <a:t>効果的な段階にのみ</a:t>
            </a:r>
            <a:r>
              <a:rPr lang="en-US" altLang="ja-JP" sz="1600" dirty="0"/>
              <a:t>LTS</a:t>
            </a:r>
            <a:r>
              <a:rPr lang="ja-JP" altLang="en-US" sz="1600"/>
              <a:t>の最小化を適用する段階的制御器合成手法の確立を構想しており，予備実験の結果，提案手法の限界への対処の可能性を確認できました．</a:t>
            </a:r>
            <a:endParaRPr lang="en-US" altLang="ja-JP" sz="1600" dirty="0"/>
          </a:p>
          <a:p>
            <a:pPr marL="0" indent="0">
              <a:buNone/>
            </a:pPr>
            <a:r>
              <a:rPr kumimoji="1" lang="ja-JP" altLang="en-US" sz="1600"/>
              <a:t>以上で発表を終わります．ご清聴ありがとうございました．</a:t>
            </a:r>
          </a:p>
          <a:p>
            <a:pPr marL="0" marR="0" lvl="0" indent="0" algn="l" defTabSz="1219140" rtl="0" eaLnBrk="1" fontAlgn="auto" latinLnBrk="0" hangingPunct="1">
              <a:lnSpc>
                <a:spcPct val="100000"/>
              </a:lnSpc>
              <a:spcBef>
                <a:spcPts val="0"/>
              </a:spcBef>
              <a:spcAft>
                <a:spcPts val="0"/>
              </a:spcAft>
              <a:buClrTx/>
              <a:buSzTx/>
              <a:buFontTx/>
              <a:buNone/>
              <a:tabLst/>
              <a:defRPr/>
            </a:pPr>
            <a:endParaRPr lang="en-US" altLang="ja-JP" sz="1600" dirty="0"/>
          </a:p>
          <a:p>
            <a:endParaRPr kumimoji="1" lang="ja-JP" altLang="en-US"/>
          </a:p>
        </p:txBody>
      </p:sp>
      <p:sp>
        <p:nvSpPr>
          <p:cNvPr id="4" name="スライド番号プレースホルダー 3"/>
          <p:cNvSpPr>
            <a:spLocks noGrp="1"/>
          </p:cNvSpPr>
          <p:nvPr>
            <p:ph type="sldNum" sz="quarter" idx="5"/>
          </p:nvPr>
        </p:nvSpPr>
        <p:spPr/>
        <p:txBody>
          <a:bodyPr/>
          <a:lstStyle/>
          <a:p>
            <a:fld id="{DECB0E78-FB0F-2646-A98F-B55C16366C94}" type="slidenum">
              <a:rPr kumimoji="1" lang="ja-JP" altLang="en-US" smtClean="0"/>
              <a:t>30</a:t>
            </a:fld>
            <a:endParaRPr kumimoji="1" lang="ja-JP" altLang="en-US"/>
          </a:p>
        </p:txBody>
      </p:sp>
    </p:spTree>
    <p:extLst>
      <p:ext uri="{BB962C8B-B14F-4D97-AF65-F5344CB8AC3E}">
        <p14:creationId xmlns:p14="http://schemas.microsoft.com/office/powerpoint/2010/main" val="1142006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中表紙スライド2">
    <p:spTree>
      <p:nvGrpSpPr>
        <p:cNvPr id="1" name=""/>
        <p:cNvGrpSpPr/>
        <p:nvPr/>
      </p:nvGrpSpPr>
      <p:grpSpPr>
        <a:xfrm>
          <a:off x="0" y="0"/>
          <a:ext cx="0" cy="0"/>
          <a:chOff x="0" y="0"/>
          <a:chExt cx="0" cy="0"/>
        </a:xfrm>
      </p:grpSpPr>
      <p:pic>
        <p:nvPicPr>
          <p:cNvPr id="9" name="図 8" descr="背景パターン&#10;&#10;中程度の精度で自動的に生成された説明">
            <a:extLst>
              <a:ext uri="{FF2B5EF4-FFF2-40B4-BE49-F238E27FC236}">
                <a16:creationId xmlns:a16="http://schemas.microsoft.com/office/drawing/2014/main" id="{9C23EC59-0C5A-7811-5B85-B9E539D0796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5" name="タイトル 6">
            <a:extLst>
              <a:ext uri="{FF2B5EF4-FFF2-40B4-BE49-F238E27FC236}">
                <a16:creationId xmlns:a16="http://schemas.microsoft.com/office/drawing/2014/main" id="{E19FAA7A-3085-9294-E31F-CE7196FF2A0A}"/>
              </a:ext>
            </a:extLst>
          </p:cNvPr>
          <p:cNvSpPr>
            <a:spLocks noGrp="1"/>
          </p:cNvSpPr>
          <p:nvPr>
            <p:ph type="title" hasCustomPrompt="1"/>
          </p:nvPr>
        </p:nvSpPr>
        <p:spPr>
          <a:xfrm>
            <a:off x="574040" y="314896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E0A0950-A128-01BF-1AAF-4BB004B48A28}"/>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17994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タイトルスライド">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89932967-DE81-3918-C882-41D1FC6677C4}"/>
              </a:ext>
            </a:extLst>
          </p:cNvPr>
          <p:cNvPicPr>
            <a:picLocks noChangeAspect="1"/>
          </p:cNvPicPr>
          <p:nvPr userDrawn="1"/>
        </p:nvPicPr>
        <p:blipFill>
          <a:blip r:embed="rId2"/>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8F74D12C-30DC-0E71-4D41-8204860B7443}"/>
              </a:ext>
            </a:extLst>
          </p:cNvPr>
          <p:cNvPicPr>
            <a:picLocks noChangeAspect="1"/>
          </p:cNvPicPr>
          <p:nvPr userDrawn="1"/>
        </p:nvPicPr>
        <p:blipFill>
          <a:blip r:embed="rId3"/>
          <a:stretch>
            <a:fillRect/>
          </a:stretch>
        </p:blipFill>
        <p:spPr>
          <a:xfrm>
            <a:off x="576263" y="5839891"/>
            <a:ext cx="2400000" cy="487403"/>
          </a:xfrm>
          <a:prstGeom prst="rect">
            <a:avLst/>
          </a:prstGeom>
        </p:spPr>
      </p:pic>
      <p:sp>
        <p:nvSpPr>
          <p:cNvPr id="4" name="タイトル 7">
            <a:extLst>
              <a:ext uri="{FF2B5EF4-FFF2-40B4-BE49-F238E27FC236}">
                <a16:creationId xmlns:a16="http://schemas.microsoft.com/office/drawing/2014/main" id="{C189C689-1BDE-72A8-5184-CE979693158A}"/>
              </a:ext>
            </a:extLst>
          </p:cNvPr>
          <p:cNvSpPr>
            <a:spLocks noGrp="1"/>
          </p:cNvSpPr>
          <p:nvPr>
            <p:ph type="title" hasCustomPrompt="1"/>
          </p:nvPr>
        </p:nvSpPr>
        <p:spPr>
          <a:xfrm>
            <a:off x="480401" y="2293206"/>
            <a:ext cx="9535342"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lang="ja-JP" altLang="en-US"/>
              <a:t>游ゴシック</a:t>
            </a:r>
            <a:r>
              <a:rPr lang="en-US" altLang="ja-JP"/>
              <a:t>/Bold</a:t>
            </a:r>
            <a:endParaRPr kumimoji="1" lang="ja-JP" altLang="en-US"/>
          </a:p>
        </p:txBody>
      </p:sp>
      <p:sp>
        <p:nvSpPr>
          <p:cNvPr id="5" name="コンテンツ プレースホルダー 12">
            <a:extLst>
              <a:ext uri="{FF2B5EF4-FFF2-40B4-BE49-F238E27FC236}">
                <a16:creationId xmlns:a16="http://schemas.microsoft.com/office/drawing/2014/main" id="{99C777D7-5079-B2D4-A805-52BC2427F213}"/>
              </a:ext>
            </a:extLst>
          </p:cNvPr>
          <p:cNvSpPr>
            <a:spLocks noGrp="1"/>
          </p:cNvSpPr>
          <p:nvPr>
            <p:ph sz="quarter" idx="10" hasCustomPrompt="1"/>
          </p:nvPr>
        </p:nvSpPr>
        <p:spPr>
          <a:xfrm>
            <a:off x="480399" y="3924163"/>
            <a:ext cx="8032228" cy="731359"/>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9" name="コンテンツ プレースホルダー 12">
            <a:extLst>
              <a:ext uri="{FF2B5EF4-FFF2-40B4-BE49-F238E27FC236}">
                <a16:creationId xmlns:a16="http://schemas.microsoft.com/office/drawing/2014/main" id="{CD517DDC-0F67-EAC6-D347-5253BB35F8B1}"/>
              </a:ext>
            </a:extLst>
          </p:cNvPr>
          <p:cNvSpPr>
            <a:spLocks noGrp="1"/>
          </p:cNvSpPr>
          <p:nvPr>
            <p:ph sz="quarter" idx="11" hasCustomPrompt="1"/>
          </p:nvPr>
        </p:nvSpPr>
        <p:spPr>
          <a:xfrm>
            <a:off x="480402" y="4701635"/>
            <a:ext cx="6181656" cy="731359"/>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r>
              <a:rPr kumimoji="1" lang="ja-JP" altLang="en-US"/>
              <a:t>　　　</a:t>
            </a:r>
          </a:p>
        </p:txBody>
      </p:sp>
      <p:sp>
        <p:nvSpPr>
          <p:cNvPr id="6" name="コンテンツ プレースホルダー 12">
            <a:extLst>
              <a:ext uri="{FF2B5EF4-FFF2-40B4-BE49-F238E27FC236}">
                <a16:creationId xmlns:a16="http://schemas.microsoft.com/office/drawing/2014/main" id="{437493F9-6402-7179-62B3-F93DBB80AC12}"/>
              </a:ext>
            </a:extLst>
          </p:cNvPr>
          <p:cNvSpPr>
            <a:spLocks noGrp="1"/>
          </p:cNvSpPr>
          <p:nvPr>
            <p:ph sz="quarter" idx="12" hasCustomPrompt="1"/>
          </p:nvPr>
        </p:nvSpPr>
        <p:spPr>
          <a:xfrm>
            <a:off x="6193977" y="6133056"/>
            <a:ext cx="5761568" cy="597511"/>
          </a:xfrm>
          <a:prstGeom prst="rect">
            <a:avLst/>
          </a:prstGeom>
        </p:spPr>
        <p:txBody>
          <a:bodyPr lIns="90000" anchor="ctr">
            <a:noAutofit/>
          </a:bodyPr>
          <a:lstStyle>
            <a:lvl1pPr marL="0" indent="0" algn="r">
              <a:lnSpc>
                <a:spcPct val="150000"/>
              </a:lnSpc>
              <a:spcBef>
                <a:spcPts val="0"/>
              </a:spcBef>
              <a:buNone/>
              <a:defRPr sz="14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95846219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中表紙スライド1">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764C0CE-FCED-56A8-6F0B-0E440EC00AF4}"/>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7" name="タイトル 6">
            <a:extLst>
              <a:ext uri="{FF2B5EF4-FFF2-40B4-BE49-F238E27FC236}">
                <a16:creationId xmlns:a16="http://schemas.microsoft.com/office/drawing/2014/main" id="{6C1A774C-7DB2-663C-4623-5850406753D0}"/>
              </a:ext>
            </a:extLst>
          </p:cNvPr>
          <p:cNvSpPr>
            <a:spLocks noGrp="1"/>
          </p:cNvSpPr>
          <p:nvPr>
            <p:ph type="title" hasCustomPrompt="1"/>
          </p:nvPr>
        </p:nvSpPr>
        <p:spPr>
          <a:xfrm>
            <a:off x="454294"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3" name="スライド番号プレースホルダー 2">
            <a:extLst>
              <a:ext uri="{FF2B5EF4-FFF2-40B4-BE49-F238E27FC236}">
                <a16:creationId xmlns:a16="http://schemas.microsoft.com/office/drawing/2014/main" id="{BEF15FF9-0880-B2C3-B4BF-CF5692E1BBE1}"/>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113895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_中表紙スライド2">
    <p:spTree>
      <p:nvGrpSpPr>
        <p:cNvPr id="1" name=""/>
        <p:cNvGrpSpPr/>
        <p:nvPr/>
      </p:nvGrpSpPr>
      <p:grpSpPr>
        <a:xfrm>
          <a:off x="0" y="0"/>
          <a:ext cx="0" cy="0"/>
          <a:chOff x="0" y="0"/>
          <a:chExt cx="0" cy="0"/>
        </a:xfrm>
      </p:grpSpPr>
      <p:pic>
        <p:nvPicPr>
          <p:cNvPr id="6" name="図 5" descr="図形, 背景パターン, 矢印&#10;&#10;自動的に生成された説明">
            <a:extLst>
              <a:ext uri="{FF2B5EF4-FFF2-40B4-BE49-F238E27FC236}">
                <a16:creationId xmlns:a16="http://schemas.microsoft.com/office/drawing/2014/main" id="{556B259B-B911-0CA1-C42F-FAA7E0FFD7B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タイトル 6">
            <a:extLst>
              <a:ext uri="{FF2B5EF4-FFF2-40B4-BE49-F238E27FC236}">
                <a16:creationId xmlns:a16="http://schemas.microsoft.com/office/drawing/2014/main" id="{3AAF5D27-76AF-9EF9-9D52-219FCF8F0E53}"/>
              </a:ext>
            </a:extLst>
          </p:cNvPr>
          <p:cNvSpPr>
            <a:spLocks noGrp="1"/>
          </p:cNvSpPr>
          <p:nvPr>
            <p:ph type="title" hasCustomPrompt="1"/>
          </p:nvPr>
        </p:nvSpPr>
        <p:spPr>
          <a:xfrm>
            <a:off x="454296"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4" name="スライド番号プレースホルダー 3">
            <a:extLst>
              <a:ext uri="{FF2B5EF4-FFF2-40B4-BE49-F238E27FC236}">
                <a16:creationId xmlns:a16="http://schemas.microsoft.com/office/drawing/2014/main" id="{926C43C7-AE2D-52F4-39C3-82789D69CC9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493254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FCD422C-2C8C-FA55-B96B-97B10DC1CC4B}"/>
              </a:ext>
            </a:extLst>
          </p:cNvPr>
          <p:cNvPicPr>
            <a:picLocks noChangeAspect="1"/>
          </p:cNvPicPr>
          <p:nvPr userDrawn="1"/>
        </p:nvPicPr>
        <p:blipFill rotWithShape="1">
          <a:blip r:embed="rId2"/>
          <a:srcRect r="2321"/>
          <a:stretch/>
        </p:blipFill>
        <p:spPr>
          <a:xfrm>
            <a:off x="283036" y="0"/>
            <a:ext cx="11908964" cy="6858000"/>
          </a:xfrm>
          <a:prstGeom prst="rect">
            <a:avLst/>
          </a:prstGeom>
        </p:spPr>
      </p:pic>
      <p:pic>
        <p:nvPicPr>
          <p:cNvPr id="5" name="図 4">
            <a:extLst>
              <a:ext uri="{FF2B5EF4-FFF2-40B4-BE49-F238E27FC236}">
                <a16:creationId xmlns:a16="http://schemas.microsoft.com/office/drawing/2014/main" id="{F66388A7-6010-5A0E-3B23-6394FC6EC478}"/>
              </a:ext>
            </a:extLst>
          </p:cNvPr>
          <p:cNvPicPr>
            <a:picLocks noChangeAspect="1"/>
          </p:cNvPicPr>
          <p:nvPr userDrawn="1"/>
        </p:nvPicPr>
        <p:blipFill>
          <a:blip r:embed="rId3"/>
          <a:stretch>
            <a:fillRect/>
          </a:stretch>
        </p:blipFill>
        <p:spPr>
          <a:xfrm>
            <a:off x="576263" y="5491831"/>
            <a:ext cx="2400000" cy="487403"/>
          </a:xfrm>
          <a:prstGeom prst="rect">
            <a:avLst/>
          </a:prstGeom>
        </p:spPr>
      </p:pic>
      <p:sp>
        <p:nvSpPr>
          <p:cNvPr id="11" name="コンテンツ プレースホルダー 12">
            <a:extLst>
              <a:ext uri="{FF2B5EF4-FFF2-40B4-BE49-F238E27FC236}">
                <a16:creationId xmlns:a16="http://schemas.microsoft.com/office/drawing/2014/main" id="{E889DD8F-8662-F86E-7D9D-2EBC4946B22C}"/>
              </a:ext>
            </a:extLst>
          </p:cNvPr>
          <p:cNvSpPr>
            <a:spLocks noGrp="1"/>
          </p:cNvSpPr>
          <p:nvPr>
            <p:ph sz="quarter" idx="11" hasCustomPrompt="1"/>
          </p:nvPr>
        </p:nvSpPr>
        <p:spPr>
          <a:xfrm>
            <a:off x="487531" y="2022017"/>
            <a:ext cx="7317526" cy="65342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2" name="タイトル 1">
            <a:extLst>
              <a:ext uri="{FF2B5EF4-FFF2-40B4-BE49-F238E27FC236}">
                <a16:creationId xmlns:a16="http://schemas.microsoft.com/office/drawing/2014/main" id="{B1D6FE57-69DC-8236-A030-07B36F0CCC2D}"/>
              </a:ext>
            </a:extLst>
          </p:cNvPr>
          <p:cNvSpPr>
            <a:spLocks noGrp="1"/>
          </p:cNvSpPr>
          <p:nvPr>
            <p:ph type="title" hasCustomPrompt="1"/>
          </p:nvPr>
        </p:nvSpPr>
        <p:spPr>
          <a:xfrm>
            <a:off x="468133" y="265791"/>
            <a:ext cx="8337200" cy="1396497"/>
          </a:xfrm>
          <a:prstGeom prst="rect">
            <a:avLst/>
          </a:prstGeom>
        </p:spPr>
        <p:txBody>
          <a:bodyPr/>
          <a:lstStyle>
            <a:lvl1pPr>
              <a:lnSpc>
                <a:spcPct val="110000"/>
              </a:lnSpc>
              <a:defRPr sz="4000" b="1">
                <a:solidFill>
                  <a:schemeClr val="tx2"/>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3" name="コンテンツ プレースホルダー 12">
            <a:extLst>
              <a:ext uri="{FF2B5EF4-FFF2-40B4-BE49-F238E27FC236}">
                <a16:creationId xmlns:a16="http://schemas.microsoft.com/office/drawing/2014/main" id="{2A8EBC5D-D2E1-1C20-DCE7-A64CD225CA2C}"/>
              </a:ext>
            </a:extLst>
          </p:cNvPr>
          <p:cNvSpPr>
            <a:spLocks noGrp="1"/>
          </p:cNvSpPr>
          <p:nvPr>
            <p:ph sz="quarter" idx="12" hasCustomPrompt="1"/>
          </p:nvPr>
        </p:nvSpPr>
        <p:spPr>
          <a:xfrm>
            <a:off x="487531" y="2871021"/>
            <a:ext cx="4816307" cy="93252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a:t>
            </a:r>
            <a:endParaRPr kumimoji="1" lang="en-US" altLang="ja-JP"/>
          </a:p>
          <a:p>
            <a:pPr lvl="0"/>
            <a:r>
              <a:rPr kumimoji="1" lang="ja-JP" altLang="en-US"/>
              <a:t>所属</a:t>
            </a:r>
            <a:r>
              <a:rPr kumimoji="1" lang="en-US" altLang="ja-JP"/>
              <a:t>         </a:t>
            </a:r>
          </a:p>
          <a:p>
            <a:pPr lvl="0"/>
            <a:r>
              <a:rPr kumimoji="1" lang="ja-JP" altLang="en-US"/>
              <a:t>游ゴシック</a:t>
            </a:r>
            <a:r>
              <a:rPr kumimoji="1" lang="en-US" altLang="ja-JP"/>
              <a:t>/Bold</a:t>
            </a:r>
          </a:p>
        </p:txBody>
      </p:sp>
      <p:sp>
        <p:nvSpPr>
          <p:cNvPr id="6" name="コンテンツ プレースホルダー 12">
            <a:extLst>
              <a:ext uri="{FF2B5EF4-FFF2-40B4-BE49-F238E27FC236}">
                <a16:creationId xmlns:a16="http://schemas.microsoft.com/office/drawing/2014/main" id="{D69F5F0E-B33F-A6C1-A24C-00513592DBCB}"/>
              </a:ext>
            </a:extLst>
          </p:cNvPr>
          <p:cNvSpPr>
            <a:spLocks noGrp="1"/>
          </p:cNvSpPr>
          <p:nvPr>
            <p:ph sz="quarter" idx="13" hasCustomPrompt="1"/>
          </p:nvPr>
        </p:nvSpPr>
        <p:spPr>
          <a:xfrm>
            <a:off x="8805333" y="261448"/>
            <a:ext cx="2910716" cy="61747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53339919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中表紙スライド1">
    <p:bg>
      <p:bgPr>
        <a:solidFill>
          <a:srgbClr val="FFFFFF"/>
        </a:solidFill>
        <a:effectLst/>
      </p:bgPr>
    </p:bg>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B09E5F40-522C-6EC0-7328-7F52FDF9E064}"/>
              </a:ext>
            </a:extLst>
          </p:cNvPr>
          <p:cNvPicPr>
            <a:picLocks noChangeAspect="1"/>
          </p:cNvPicPr>
          <p:nvPr userDrawn="1"/>
        </p:nvPicPr>
        <p:blipFill rotWithShape="1">
          <a:blip r:embed="rId2"/>
          <a:srcRect r="4795"/>
          <a:stretch/>
        </p:blipFill>
        <p:spPr>
          <a:xfrm>
            <a:off x="584610" y="0"/>
            <a:ext cx="1160739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E6C33D6D-9C84-D9CF-C2DA-008D7EF00E7D}"/>
              </a:ext>
            </a:extLst>
          </p:cNvPr>
          <p:cNvSpPr>
            <a:spLocks noGrp="1"/>
          </p:cNvSpPr>
          <p:nvPr>
            <p:ph type="title" hasCustomPrompt="1"/>
          </p:nvPr>
        </p:nvSpPr>
        <p:spPr>
          <a:xfrm>
            <a:off x="486952" y="4404047"/>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57DDFCDE-6AC7-26AD-1E99-E35A31393F97}"/>
              </a:ext>
            </a:extLst>
          </p:cNvPr>
          <p:cNvSpPr>
            <a:spLocks noGrp="1"/>
          </p:cNvSpPr>
          <p:nvPr>
            <p:ph type="sldNum" sz="quarter" idx="10"/>
          </p:nvPr>
        </p:nvSpPr>
        <p:spPr/>
        <p:txBody>
          <a:bodyPr/>
          <a:lstStyle>
            <a:lvl1pPr>
              <a:defRPr>
                <a:solidFill>
                  <a:schemeClr val="bg1"/>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50021206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中表紙スライド2">
    <p:spTree>
      <p:nvGrpSpPr>
        <p:cNvPr id="1" name=""/>
        <p:cNvGrpSpPr/>
        <p:nvPr/>
      </p:nvGrpSpPr>
      <p:grpSpPr>
        <a:xfrm>
          <a:off x="0" y="0"/>
          <a:ext cx="0" cy="0"/>
          <a:chOff x="0" y="0"/>
          <a:chExt cx="0" cy="0"/>
        </a:xfrm>
      </p:grpSpPr>
      <p:pic>
        <p:nvPicPr>
          <p:cNvPr id="6" name="図 5" descr="背景パターン&#10;&#10;自動的に生成された説明">
            <a:extLst>
              <a:ext uri="{FF2B5EF4-FFF2-40B4-BE49-F238E27FC236}">
                <a16:creationId xmlns:a16="http://schemas.microsoft.com/office/drawing/2014/main" id="{3552089B-BE10-A6B4-0520-088629B63AF6}"/>
              </a:ext>
            </a:extLst>
          </p:cNvPr>
          <p:cNvPicPr>
            <a:picLocks noChangeAspect="1"/>
          </p:cNvPicPr>
          <p:nvPr userDrawn="1"/>
        </p:nvPicPr>
        <p:blipFill rotWithShape="1">
          <a:blip r:embed="rId2"/>
          <a:srcRect r="4795"/>
          <a:stretch/>
        </p:blipFill>
        <p:spPr>
          <a:xfrm>
            <a:off x="584613" y="0"/>
            <a:ext cx="11607387"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スライド番号プレースホルダー 1">
            <a:extLst>
              <a:ext uri="{FF2B5EF4-FFF2-40B4-BE49-F238E27FC236}">
                <a16:creationId xmlns:a16="http://schemas.microsoft.com/office/drawing/2014/main" id="{1B6F4E6A-6447-6E0D-0158-4A77C5531E0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
        <p:nvSpPr>
          <p:cNvPr id="3" name="タイトル 6">
            <a:extLst>
              <a:ext uri="{FF2B5EF4-FFF2-40B4-BE49-F238E27FC236}">
                <a16:creationId xmlns:a16="http://schemas.microsoft.com/office/drawing/2014/main" id="{55C1AE9A-A0E5-2B15-C809-16C60A5E7E74}"/>
              </a:ext>
            </a:extLst>
          </p:cNvPr>
          <p:cNvSpPr>
            <a:spLocks noGrp="1"/>
          </p:cNvSpPr>
          <p:nvPr>
            <p:ph type="title" hasCustomPrompt="1"/>
          </p:nvPr>
        </p:nvSpPr>
        <p:spPr>
          <a:xfrm>
            <a:off x="486952" y="4404050"/>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Tree>
    <p:extLst>
      <p:ext uri="{BB962C8B-B14F-4D97-AF65-F5344CB8AC3E}">
        <p14:creationId xmlns:p14="http://schemas.microsoft.com/office/powerpoint/2010/main" val="1971637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07384A5-816F-4B1C-723C-1CCF10DD75D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4087F9BA-766B-8200-DC42-2D03F5DD8196}"/>
              </a:ext>
            </a:extLst>
          </p:cNvPr>
          <p:cNvPicPr>
            <a:picLocks noChangeAspect="1"/>
          </p:cNvPicPr>
          <p:nvPr userDrawn="1"/>
        </p:nvPicPr>
        <p:blipFill>
          <a:blip r:embed="rId3"/>
          <a:stretch>
            <a:fillRect/>
          </a:stretch>
        </p:blipFill>
        <p:spPr>
          <a:xfrm>
            <a:off x="9457038" y="836369"/>
            <a:ext cx="2400000" cy="487403"/>
          </a:xfrm>
          <a:prstGeom prst="rect">
            <a:avLst/>
          </a:prstGeom>
        </p:spPr>
      </p:pic>
      <p:sp>
        <p:nvSpPr>
          <p:cNvPr id="6" name="タイトル 7">
            <a:extLst>
              <a:ext uri="{FF2B5EF4-FFF2-40B4-BE49-F238E27FC236}">
                <a16:creationId xmlns:a16="http://schemas.microsoft.com/office/drawing/2014/main" id="{B0E283A0-90F6-1D77-C0DD-892F47D1C478}"/>
              </a:ext>
            </a:extLst>
          </p:cNvPr>
          <p:cNvSpPr>
            <a:spLocks noGrp="1"/>
          </p:cNvSpPr>
          <p:nvPr>
            <p:ph type="title" hasCustomPrompt="1"/>
          </p:nvPr>
        </p:nvSpPr>
        <p:spPr>
          <a:xfrm>
            <a:off x="483118" y="3682279"/>
            <a:ext cx="10488876"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7" name="コンテンツ プレースホルダー 12">
            <a:extLst>
              <a:ext uri="{FF2B5EF4-FFF2-40B4-BE49-F238E27FC236}">
                <a16:creationId xmlns:a16="http://schemas.microsoft.com/office/drawing/2014/main" id="{705224EE-311E-7AAA-7C7B-93AE5CF2EF36}"/>
              </a:ext>
            </a:extLst>
          </p:cNvPr>
          <p:cNvSpPr>
            <a:spLocks noGrp="1"/>
          </p:cNvSpPr>
          <p:nvPr>
            <p:ph sz="quarter" idx="10" hasCustomPrompt="1"/>
          </p:nvPr>
        </p:nvSpPr>
        <p:spPr>
          <a:xfrm>
            <a:off x="482151" y="5218706"/>
            <a:ext cx="8487678" cy="68679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名前</a:t>
            </a:r>
            <a:r>
              <a:rPr kumimoji="1" lang="en-US" altLang="ja-JP"/>
              <a:t>        </a:t>
            </a:r>
          </a:p>
          <a:p>
            <a:pPr lvl="0"/>
            <a:r>
              <a:rPr kumimoji="1" lang="ja-JP" altLang="en-US"/>
              <a:t>游ゴシック</a:t>
            </a:r>
            <a:r>
              <a:rPr kumimoji="1" lang="en-US" altLang="ja-JP"/>
              <a:t>/Bold</a:t>
            </a:r>
            <a:endParaRPr kumimoji="1" lang="ja-JP" altLang="en-US"/>
          </a:p>
        </p:txBody>
      </p:sp>
      <p:sp>
        <p:nvSpPr>
          <p:cNvPr id="2" name="コンテンツ プレースホルダー 12">
            <a:extLst>
              <a:ext uri="{FF2B5EF4-FFF2-40B4-BE49-F238E27FC236}">
                <a16:creationId xmlns:a16="http://schemas.microsoft.com/office/drawing/2014/main" id="{15C8D278-230A-DD61-6E93-44412F5CC2F7}"/>
              </a:ext>
            </a:extLst>
          </p:cNvPr>
          <p:cNvSpPr>
            <a:spLocks noGrp="1"/>
          </p:cNvSpPr>
          <p:nvPr>
            <p:ph sz="quarter" idx="11" hasCustomPrompt="1"/>
          </p:nvPr>
        </p:nvSpPr>
        <p:spPr>
          <a:xfrm>
            <a:off x="482151" y="5998028"/>
            <a:ext cx="8487678" cy="56795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p>
        </p:txBody>
      </p:sp>
      <p:sp>
        <p:nvSpPr>
          <p:cNvPr id="3" name="コンテンツ プレースホルダー 12">
            <a:extLst>
              <a:ext uri="{FF2B5EF4-FFF2-40B4-BE49-F238E27FC236}">
                <a16:creationId xmlns:a16="http://schemas.microsoft.com/office/drawing/2014/main" id="{A1ED2FF8-9462-1D57-B7AA-32BCEA1BC89C}"/>
              </a:ext>
            </a:extLst>
          </p:cNvPr>
          <p:cNvSpPr>
            <a:spLocks noGrp="1"/>
          </p:cNvSpPr>
          <p:nvPr>
            <p:ph sz="quarter" idx="13" hasCustomPrompt="1"/>
          </p:nvPr>
        </p:nvSpPr>
        <p:spPr>
          <a:xfrm>
            <a:off x="7434942" y="1475590"/>
            <a:ext cx="4509711" cy="35653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游ゴシック</a:t>
            </a:r>
            <a:r>
              <a:rPr kumimoji="1" lang="en-US" altLang="ja-JP"/>
              <a:t> /Bold</a:t>
            </a:r>
            <a:r>
              <a:rPr kumimoji="1" lang="ja-JP" altLang="en-US"/>
              <a:t>　　</a:t>
            </a:r>
          </a:p>
        </p:txBody>
      </p:sp>
    </p:spTree>
    <p:extLst>
      <p:ext uri="{BB962C8B-B14F-4D97-AF65-F5344CB8AC3E}">
        <p14:creationId xmlns:p14="http://schemas.microsoft.com/office/powerpoint/2010/main" val="19252845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中表紙スライド1">
    <p:bg>
      <p:bgPr>
        <a:solidFill>
          <a:srgbClr val="FFFFFF"/>
        </a:solid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DC0F47B4-DF50-5051-5B14-DE4EEDCD918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AF7EF454-1737-6C1B-59FF-6E6B61B85D44}"/>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FE49821C-314C-A319-5974-669DFE735907}"/>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2963869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中表紙スライド2">
    <p:spTree>
      <p:nvGrpSpPr>
        <p:cNvPr id="1" name=""/>
        <p:cNvGrpSpPr/>
        <p:nvPr/>
      </p:nvGrpSpPr>
      <p:grpSpPr>
        <a:xfrm>
          <a:off x="0" y="0"/>
          <a:ext cx="0" cy="0"/>
          <a:chOff x="0" y="0"/>
          <a:chExt cx="0" cy="0"/>
        </a:xfrm>
      </p:grpSpPr>
      <p:pic>
        <p:nvPicPr>
          <p:cNvPr id="9" name="図 8" descr="図形, 背景パターン&#10;&#10;自動的に生成された説明">
            <a:extLst>
              <a:ext uri="{FF2B5EF4-FFF2-40B4-BE49-F238E27FC236}">
                <a16:creationId xmlns:a16="http://schemas.microsoft.com/office/drawing/2014/main" id="{EDA50170-5274-385C-B6E6-B3C076E9ACC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454D65FC-2A2B-4BF4-4649-A4D4326D05FC}"/>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C66FA5D-9CFE-6140-1F7C-0FE2713CC42B}"/>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82761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1-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6"/>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691426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1-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05452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1-3">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F801ECE0-2CE6-CA80-8167-1365EF70C560}"/>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3"/>
            <a:endParaRPr kumimoji="1" lang="en-US" altLang="ja-JP" dirty="0">
              <a:latin typeface="+mn-ea"/>
              <a:ea typeface="+mn-ea"/>
            </a:endParaRPr>
          </a:p>
        </p:txBody>
      </p:sp>
    </p:spTree>
    <p:extLst>
      <p:ext uri="{BB962C8B-B14F-4D97-AF65-F5344CB8AC3E}">
        <p14:creationId xmlns:p14="http://schemas.microsoft.com/office/powerpoint/2010/main" val="3813697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1-4">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コンテンツ プレースホルダー 8">
            <a:extLst>
              <a:ext uri="{FF2B5EF4-FFF2-40B4-BE49-F238E27FC236}">
                <a16:creationId xmlns:a16="http://schemas.microsoft.com/office/drawing/2014/main" id="{EA71EB9A-AFE7-F3C9-5167-0954EACFD5BC}"/>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1186206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2-1">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1108FD7B-9622-6750-A983-348138413EC9}"/>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4" name="図 3">
            <a:extLst>
              <a:ext uri="{FF2B5EF4-FFF2-40B4-BE49-F238E27FC236}">
                <a16:creationId xmlns:a16="http://schemas.microsoft.com/office/drawing/2014/main" id="{E8ABFC63-59DC-59D8-07F3-F0CB7C1BA821}"/>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3" name="コンテンツ プレースホルダー 8">
            <a:extLst>
              <a:ext uri="{FF2B5EF4-FFF2-40B4-BE49-F238E27FC236}">
                <a16:creationId xmlns:a16="http://schemas.microsoft.com/office/drawing/2014/main" id="{D3B28D76-F95B-F94B-C8D6-1BC0750235CC}"/>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Arial" panose="020B0604020202020204" pitchFamily="34" charset="0"/>
              <a:buNone/>
              <a:defRPr sz="2400" b="1">
                <a:latin typeface="+mn-ea"/>
                <a:ea typeface="+mn-ea"/>
              </a:defRPr>
            </a:lvl1pPr>
            <a:lvl2pPr marL="457200" indent="0">
              <a:lnSpc>
                <a:spcPct val="120000"/>
              </a:lnSpc>
              <a:spcBef>
                <a:spcPts val="600"/>
              </a:spcBef>
              <a:spcAft>
                <a:spcPts val="600"/>
              </a:spcAft>
              <a:buFont typeface="Arial" panose="020B0604020202020204" pitchFamily="34" charset="0"/>
              <a:buNone/>
              <a:defRPr sz="2000" b="1">
                <a:latin typeface="+mn-ea"/>
                <a:ea typeface="+mn-ea"/>
              </a:defRPr>
            </a:lvl2pPr>
            <a:lvl3pPr marL="914400" indent="0">
              <a:lnSpc>
                <a:spcPct val="120000"/>
              </a:lnSpc>
              <a:buFont typeface="Arial" panose="020B0604020202020204" pitchFamily="34" charset="0"/>
              <a:buNone/>
              <a:defRPr b="1">
                <a:latin typeface="+mn-ea"/>
                <a:ea typeface="+mn-ea"/>
              </a:defRPr>
            </a:lvl3pPr>
            <a:lvl4pPr marL="1371600" indent="0">
              <a:lnSpc>
                <a:spcPct val="120000"/>
              </a:lnSpc>
              <a:buFont typeface="Arial" panose="020B0604020202020204" pitchFamily="34" charset="0"/>
              <a:buNone/>
              <a:defRPr b="1">
                <a:latin typeface="+mn-ea"/>
                <a:ea typeface="+mn-ea"/>
              </a:defRPr>
            </a:lvl4pPr>
            <a:lvl5pPr marL="1828800" indent="0">
              <a:lnSpc>
                <a:spcPct val="120000"/>
              </a:lnSpc>
              <a:buFont typeface="Arial" panose="020B0604020202020204" pitchFamily="34" charset="0"/>
              <a:buNone/>
              <a:defRPr b="1">
                <a:latin typeface="+mn-ea"/>
                <a:ea typeface="+mn-ea"/>
              </a:defRPr>
            </a:lvl5pPr>
            <a:lvl6pPr marL="2286000" indent="0">
              <a:buFont typeface="Arial" panose="020B0604020202020204" pitchFamily="34" charset="0"/>
              <a:buNone/>
              <a:defRPr b="1">
                <a:latin typeface="+mn-ea"/>
                <a:ea typeface="+mn-ea"/>
              </a:defRPr>
            </a:lvl6pPr>
            <a:lvl7pPr marL="2743200" indent="0">
              <a:buFont typeface="Arial" panose="020B0604020202020204" pitchFamily="34" charset="0"/>
              <a:buNone/>
              <a:defRPr b="1">
                <a:latin typeface="+mn-ea"/>
                <a:ea typeface="+mn-ea"/>
              </a:defRPr>
            </a:lvl7pPr>
            <a:lvl8pPr marL="3200400" indent="0">
              <a:buFont typeface="Arial" panose="020B0604020202020204" pitchFamily="34" charset="0"/>
              <a:buNone/>
              <a:defRPr b="1">
                <a:latin typeface="+mn-ea"/>
                <a:ea typeface="+mn-ea"/>
              </a:defRPr>
            </a:lvl8pPr>
            <a:lvl9pPr marL="3657600" indent="0">
              <a:buFont typeface="Arial" panose="020B0604020202020204" pitchFamily="34" charset="0"/>
              <a:buNone/>
              <a:defRPr b="1">
                <a:latin typeface="+mn-ea"/>
                <a:ea typeface="+mn-ea"/>
              </a:defRPr>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endParaRPr kumimoji="1" lang="en-US" altLang="ja-JP" dirty="0"/>
          </a:p>
          <a:p>
            <a:pPr lvl="0"/>
            <a:endParaRPr kumimoji="1" lang="en-US" altLang="ja-JP" dirty="0"/>
          </a:p>
          <a:p>
            <a:pPr lvl="8"/>
            <a:endParaRPr kumimoji="1" lang="en-US" altLang="ja-JP" dirty="0">
              <a:latin typeface="+mn-ea"/>
              <a:ea typeface="+mn-ea"/>
            </a:endParaRPr>
          </a:p>
        </p:txBody>
      </p:sp>
    </p:spTree>
    <p:extLst>
      <p:ext uri="{BB962C8B-B14F-4D97-AF65-F5344CB8AC3E}">
        <p14:creationId xmlns:p14="http://schemas.microsoft.com/office/powerpoint/2010/main" val="1268007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2-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14D2D2E6-1180-C1EA-1064-AD51276426BF}"/>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801908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コンテンツ2-3">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3518" y="250516"/>
            <a:ext cx="1193520" cy="566336"/>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55A7F55F-BF45-81CB-D2FE-5C7F3F29EDE6}"/>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3" name="コンテンツ プレースホルダー 8">
            <a:extLst>
              <a:ext uri="{FF2B5EF4-FFF2-40B4-BE49-F238E27FC236}">
                <a16:creationId xmlns:a16="http://schemas.microsoft.com/office/drawing/2014/main" id="{761E4339-D633-1B48-645B-157DEE624E0F}"/>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p:txBody>
      </p:sp>
    </p:spTree>
    <p:extLst>
      <p:ext uri="{BB962C8B-B14F-4D97-AF65-F5344CB8AC3E}">
        <p14:creationId xmlns:p14="http://schemas.microsoft.com/office/powerpoint/2010/main" val="1572674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コンテンツ2-4">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8398" y="250516"/>
            <a:ext cx="1188639" cy="56402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正方形/長方形 2">
            <a:extLst>
              <a:ext uri="{FF2B5EF4-FFF2-40B4-BE49-F238E27FC236}">
                <a16:creationId xmlns:a16="http://schemas.microsoft.com/office/drawing/2014/main" id="{8B3519EF-C712-DB1D-51D4-66F9520AEF08}"/>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4" name="コンテンツ プレースホルダー 8">
            <a:extLst>
              <a:ext uri="{FF2B5EF4-FFF2-40B4-BE49-F238E27FC236}">
                <a16:creationId xmlns:a16="http://schemas.microsoft.com/office/drawing/2014/main" id="{EC4BD3DB-5E86-5B16-8A96-C416ADC23793}"/>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3756968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9BB4154-9B11-5B4F-FAB1-50F01BF43C40}"/>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656464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4A882F94-5EAE-CF39-B474-E260417963B1}"/>
              </a:ext>
            </a:extLst>
          </p:cNvPr>
          <p:cNvSpPr>
            <a:spLocks noGrp="1"/>
          </p:cNvSpPr>
          <p:nvPr>
            <p:ph type="sldNum" sz="quarter" idx="4"/>
          </p:nvPr>
        </p:nvSpPr>
        <p:spPr>
          <a:xfrm>
            <a:off x="11476382" y="6599583"/>
            <a:ext cx="646044" cy="245165"/>
          </a:xfrm>
          <a:prstGeom prst="rect">
            <a:avLst/>
          </a:prstGeom>
        </p:spPr>
        <p:txBody>
          <a:bodyPr vert="horz" lIns="91440" tIns="45720" rIns="91440" bIns="45720" rtlCol="0" anchor="ctr"/>
          <a:lstStyle>
            <a:lvl1pPr algn="r">
              <a:defRPr sz="1800" b="0">
                <a:solidFill>
                  <a:schemeClr val="tx2"/>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120389575"/>
      </p:ext>
    </p:extLst>
  </p:cSld>
  <p:clrMap bg1="lt1" tx1="dk1" bg2="lt2" tx2="dk2" accent1="accent1" accent2="accent2" accent3="accent3" accent4="accent4" accent5="accent5" accent6="accent6" hlink="hlink" folHlink="folHlink"/>
  <p:sldLayoutIdLst>
    <p:sldLayoutId id="2147483736" r:id="rId1"/>
    <p:sldLayoutId id="2147483724" r:id="rId2"/>
    <p:sldLayoutId id="2147483726" r:id="rId3"/>
    <p:sldLayoutId id="2147483739" r:id="rId4"/>
    <p:sldLayoutId id="2147483748" r:id="rId5"/>
    <p:sldLayoutId id="2147483757" r:id="rId6"/>
    <p:sldLayoutId id="2147483752" r:id="rId7"/>
    <p:sldLayoutId id="2147483729" r:id="rId8"/>
    <p:sldLayoutId id="2147483731" r:id="rId9"/>
    <p:sldLayoutId id="2147483743" r:id="rId10"/>
    <p:sldLayoutId id="2147483720" r:id="rId11"/>
    <p:sldLayoutId id="2147483766" r:id="rId12"/>
    <p:sldLayoutId id="2147483765" r:id="rId13"/>
    <p:sldLayoutId id="2147483767" r:id="rId14"/>
    <p:sldLayoutId id="2147483768" r:id="rId15"/>
    <p:sldLayoutId id="2147483769" r:id="rId16"/>
    <p:sldLayoutId id="2147483770" r:id="rId17"/>
    <p:sldLayoutId id="2147483771" r:id="rId18"/>
    <p:sldLayoutId id="2147483695" r:id="rId19"/>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665">
          <p15:clr>
            <a:srgbClr val="F26B43"/>
          </p15:clr>
        </p15:guide>
        <p15:guide id="4" pos="7015">
          <p15:clr>
            <a:srgbClr val="F26B43"/>
          </p15:clr>
        </p15:guide>
        <p15:guide id="6" orient="horz" pos="3680">
          <p15:clr>
            <a:srgbClr val="F26B43"/>
          </p15:clr>
        </p15:guide>
        <p15:guide id="7" pos="7469">
          <p15:clr>
            <a:srgbClr val="F26B43"/>
          </p15:clr>
        </p15:guide>
        <p15:guide id="8" pos="181">
          <p15:clr>
            <a:srgbClr val="F26B43"/>
          </p15:clr>
        </p15:guide>
        <p15:guide id="9" orient="horz" pos="195">
          <p15:clr>
            <a:srgbClr val="F26B43"/>
          </p15:clr>
        </p15:guide>
        <p15:guide id="10" orient="horz" pos="4125">
          <p15:clr>
            <a:srgbClr val="F26B43"/>
          </p15:clr>
        </p15:guide>
        <p15:guide id="11" pos="363">
          <p15:clr>
            <a:srgbClr val="F26B43"/>
          </p15:clr>
        </p15:guide>
        <p15:guide id="12" pos="7317">
          <p15:clr>
            <a:srgbClr val="F26B43"/>
          </p15:clr>
        </p15:guide>
        <p15:guide id="13" orient="horz" pos="640">
          <p15:clr>
            <a:srgbClr val="F26B43"/>
          </p15:clr>
        </p15:guide>
        <p15:guide id="14" orient="horz" pos="754">
          <p15:clr>
            <a:srgbClr val="F26B43"/>
          </p15:clr>
        </p15:guide>
        <p15:guide id="15" orient="horz" pos="2659">
          <p15:clr>
            <a:srgbClr val="F26B43"/>
          </p15:clr>
        </p15:guide>
        <p15:guide id="16" orient="horz" pos="3566">
          <p15:clr>
            <a:srgbClr val="F26B43"/>
          </p15:clr>
        </p15:guide>
        <p15:guide id="17" orient="horz" pos="1661">
          <p15:clr>
            <a:srgbClr val="F26B43"/>
          </p15:clr>
        </p15:guide>
        <p15:guide id="18" pos="3341">
          <p15:clr>
            <a:srgbClr val="F26B43"/>
          </p15:clr>
        </p15:guide>
        <p15:guide id="19" pos="43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5.png"/><Relationship Id="rId10"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F6E7BE-2B4E-5076-15FD-537B7DCD9261}"/>
              </a:ext>
            </a:extLst>
          </p:cNvPr>
          <p:cNvSpPr>
            <a:spLocks noGrp="1"/>
          </p:cNvSpPr>
          <p:nvPr>
            <p:ph type="title"/>
          </p:nvPr>
        </p:nvSpPr>
        <p:spPr>
          <a:xfrm>
            <a:off x="480402" y="2293206"/>
            <a:ext cx="8905970" cy="1325563"/>
          </a:xfrm>
        </p:spPr>
        <p:txBody>
          <a:bodyPr/>
          <a:lstStyle/>
          <a:p>
            <a:r>
              <a:rPr kumimoji="1" lang="ja-JP" altLang="en-US"/>
              <a:t>離散制御器合成における計算空間爆発抑制のための段階的な</a:t>
            </a:r>
            <a:r>
              <a:rPr kumimoji="1" lang="en-US" altLang="ja-JP" dirty="0"/>
              <a:t>LTS</a:t>
            </a:r>
            <a:r>
              <a:rPr kumimoji="1" lang="ja-JP" altLang="en-US"/>
              <a:t>の最小化</a:t>
            </a:r>
          </a:p>
        </p:txBody>
      </p:sp>
      <p:sp>
        <p:nvSpPr>
          <p:cNvPr id="3" name="コンテンツ プレースホルダー 2">
            <a:extLst>
              <a:ext uri="{FF2B5EF4-FFF2-40B4-BE49-F238E27FC236}">
                <a16:creationId xmlns:a16="http://schemas.microsoft.com/office/drawing/2014/main" id="{2212D26A-EF43-37BC-86B0-410FC1902565}"/>
              </a:ext>
            </a:extLst>
          </p:cNvPr>
          <p:cNvSpPr>
            <a:spLocks noGrp="1"/>
          </p:cNvSpPr>
          <p:nvPr>
            <p:ph sz="quarter" idx="10"/>
          </p:nvPr>
        </p:nvSpPr>
        <p:spPr/>
        <p:txBody>
          <a:bodyPr/>
          <a:lstStyle/>
          <a:p>
            <a:r>
              <a:rPr kumimoji="1" lang="ja-JP" altLang="en-US"/>
              <a:t>山口友輝</a:t>
            </a:r>
          </a:p>
        </p:txBody>
      </p:sp>
      <p:sp>
        <p:nvSpPr>
          <p:cNvPr id="4" name="コンテンツ プレースホルダー 3">
            <a:extLst>
              <a:ext uri="{FF2B5EF4-FFF2-40B4-BE49-F238E27FC236}">
                <a16:creationId xmlns:a16="http://schemas.microsoft.com/office/drawing/2014/main" id="{685E0B96-48B8-D165-DED1-CC7162B84923}"/>
              </a:ext>
            </a:extLst>
          </p:cNvPr>
          <p:cNvSpPr>
            <a:spLocks noGrp="1"/>
          </p:cNvSpPr>
          <p:nvPr>
            <p:ph sz="quarter" idx="11"/>
          </p:nvPr>
        </p:nvSpPr>
        <p:spPr/>
        <p:txBody>
          <a:bodyPr/>
          <a:lstStyle/>
          <a:p>
            <a:r>
              <a:rPr kumimoji="1" lang="ja-JP" altLang="en-US"/>
              <a:t>東京科学大学　鄭研究室</a:t>
            </a:r>
          </a:p>
        </p:txBody>
      </p:sp>
      <p:sp>
        <p:nvSpPr>
          <p:cNvPr id="5" name="コンテンツ プレースホルダー 4">
            <a:extLst>
              <a:ext uri="{FF2B5EF4-FFF2-40B4-BE49-F238E27FC236}">
                <a16:creationId xmlns:a16="http://schemas.microsoft.com/office/drawing/2014/main" id="{E4919F93-9F0C-5A40-2962-B1FA5CE967DC}"/>
              </a:ext>
            </a:extLst>
          </p:cNvPr>
          <p:cNvSpPr>
            <a:spLocks noGrp="1"/>
          </p:cNvSpPr>
          <p:nvPr>
            <p:ph sz="quarter" idx="12"/>
          </p:nvPr>
        </p:nvSpPr>
        <p:spPr/>
        <p:txBody>
          <a:bodyPr/>
          <a:lstStyle/>
          <a:p>
            <a:r>
              <a:rPr kumimoji="1" lang="en-US" altLang="ja-JP" dirty="0"/>
              <a:t>2025</a:t>
            </a:r>
            <a:r>
              <a:rPr kumimoji="1" lang="ja-JP" altLang="en-US"/>
              <a:t>年</a:t>
            </a:r>
            <a:r>
              <a:rPr kumimoji="1" lang="en-US" altLang="ja-JP" dirty="0"/>
              <a:t>11</a:t>
            </a:r>
            <a:r>
              <a:rPr kumimoji="1" lang="ja-JP" altLang="en-US"/>
              <a:t>月</a:t>
            </a:r>
            <a:r>
              <a:rPr kumimoji="1" lang="en-US" altLang="ja-JP" dirty="0"/>
              <a:t>14</a:t>
            </a:r>
            <a:r>
              <a:rPr kumimoji="1" lang="ja-JP" altLang="en-US"/>
              <a:t>日</a:t>
            </a:r>
          </a:p>
        </p:txBody>
      </p:sp>
    </p:spTree>
    <p:extLst>
      <p:ext uri="{BB962C8B-B14F-4D97-AF65-F5344CB8AC3E}">
        <p14:creationId xmlns:p14="http://schemas.microsoft.com/office/powerpoint/2010/main" val="697674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BA8E98-AFB4-963C-1491-17F86A2F1AB5}"/>
              </a:ext>
            </a:extLst>
          </p:cNvPr>
          <p:cNvSpPr>
            <a:spLocks noGrp="1"/>
          </p:cNvSpPr>
          <p:nvPr>
            <p:ph type="title"/>
          </p:nvPr>
        </p:nvSpPr>
        <p:spPr/>
        <p:txBody>
          <a:bodyPr/>
          <a:lstStyle/>
          <a:p>
            <a:r>
              <a:rPr kumimoji="1" lang="ja-JP" altLang="en-US"/>
              <a:t>離散事象システム</a:t>
            </a:r>
          </a:p>
        </p:txBody>
      </p:sp>
      <p:sp>
        <p:nvSpPr>
          <p:cNvPr id="3" name="コンテンツ プレースホルダー 2">
            <a:extLst>
              <a:ext uri="{FF2B5EF4-FFF2-40B4-BE49-F238E27FC236}">
                <a16:creationId xmlns:a16="http://schemas.microsoft.com/office/drawing/2014/main" id="{4C49E2F8-31FE-573A-2ECC-A81840D89DD7}"/>
              </a:ext>
            </a:extLst>
          </p:cNvPr>
          <p:cNvSpPr>
            <a:spLocks noGrp="1"/>
          </p:cNvSpPr>
          <p:nvPr>
            <p:ph sz="quarter" idx="10"/>
          </p:nvPr>
        </p:nvSpPr>
        <p:spPr>
          <a:xfrm>
            <a:off x="188844" y="892885"/>
            <a:ext cx="11287538" cy="5706698"/>
          </a:xfrm>
        </p:spPr>
        <p:txBody>
          <a:bodyPr/>
          <a:lstStyle/>
          <a:p>
            <a:pPr marL="0" indent="0">
              <a:buNone/>
            </a:pPr>
            <a:r>
              <a:rPr kumimoji="1" lang="ja-JP" altLang="en-US" sz="2400" b="1">
                <a:latin typeface="Yu Gothic" panose="020B0400000000000000" pitchFamily="34" charset="-128"/>
                <a:ea typeface="Yu Gothic" panose="020B0400000000000000" pitchFamily="34" charset="-128"/>
              </a:rPr>
              <a:t>離散事象システム</a:t>
            </a:r>
            <a:r>
              <a:rPr kumimoji="1" lang="en-US" altLang="ja-JP" sz="1200" b="1" dirty="0">
                <a:latin typeface="Yu Gothic" panose="020B0400000000000000" pitchFamily="34" charset="-128"/>
                <a:ea typeface="Yu Gothic" panose="020B0400000000000000" pitchFamily="34" charset="-128"/>
              </a:rPr>
              <a:t>[1]</a:t>
            </a:r>
            <a:endParaRPr kumimoji="1" lang="en-US" altLang="ja-JP" sz="2400" b="1" dirty="0">
              <a:latin typeface="Yu Gothic" panose="020B0400000000000000" pitchFamily="34" charset="-128"/>
              <a:ea typeface="Yu Gothic" panose="020B0400000000000000" pitchFamily="34" charset="-128"/>
            </a:endParaRPr>
          </a:p>
          <a:p>
            <a:r>
              <a:rPr kumimoji="1" lang="ja-JP" altLang="en-US"/>
              <a:t>アクションの発火によって，状態が離散的に遷移するシステム</a:t>
            </a:r>
            <a:endParaRPr kumimoji="1" lang="en-US" altLang="ja-JP" dirty="0"/>
          </a:p>
          <a:p>
            <a:r>
              <a:rPr kumimoji="1" lang="en-US" altLang="ja-JP" dirty="0"/>
              <a:t>LTS</a:t>
            </a:r>
            <a:r>
              <a:rPr kumimoji="1" lang="en-US" altLang="ja-JP" sz="1050" dirty="0"/>
              <a:t>[1]</a:t>
            </a:r>
            <a:r>
              <a:rPr kumimoji="1" lang="ja-JP" altLang="en-US"/>
              <a:t>（ラベル付き状態遷移システム）で表現が可能</a:t>
            </a:r>
            <a:endParaRPr kumimoji="1" lang="en-US" altLang="ja-JP" dirty="0"/>
          </a:p>
          <a:p>
            <a:endParaRPr lang="en-US" altLang="ja-JP" dirty="0">
              <a:latin typeface="Yu Gothic" panose="020B0400000000000000" pitchFamily="34" charset="-128"/>
              <a:ea typeface="Yu Gothic" panose="020B0400000000000000" pitchFamily="34" charset="-128"/>
            </a:endParaRPr>
          </a:p>
          <a:p>
            <a:pPr marL="0" indent="0">
              <a:buNone/>
            </a:pPr>
            <a:r>
              <a:rPr lang="ja-JP" altLang="en-US" sz="2400" b="1">
                <a:latin typeface="Yu Gothic" panose="020B0400000000000000" pitchFamily="34" charset="-128"/>
                <a:ea typeface="Yu Gothic" panose="020B0400000000000000" pitchFamily="34" charset="-128"/>
              </a:rPr>
              <a:t>安全性が保証された離散事象システム</a:t>
            </a:r>
            <a:endParaRPr lang="en-US" altLang="ja-JP" sz="1200" b="1" dirty="0">
              <a:latin typeface="Yu Gothic" panose="020B0400000000000000" pitchFamily="34" charset="-128"/>
              <a:ea typeface="Yu Gothic" panose="020B0400000000000000" pitchFamily="34" charset="-128"/>
            </a:endParaRPr>
          </a:p>
          <a:p>
            <a:r>
              <a:rPr lang="ja-JP" altLang="en-US" b="1">
                <a:latin typeface="Yu Gothic" panose="020B0400000000000000" pitchFamily="34" charset="-128"/>
                <a:ea typeface="Yu Gothic" panose="020B0400000000000000" pitchFamily="34" charset="-128"/>
              </a:rPr>
              <a:t>安全性</a:t>
            </a:r>
            <a:r>
              <a:rPr lang="ja-JP" altLang="en-US"/>
              <a:t>：システムにとって悪い事象が発生しないこと</a:t>
            </a:r>
            <a:endParaRPr lang="en-US" altLang="ja-JP" dirty="0"/>
          </a:p>
          <a:p>
            <a:r>
              <a:rPr lang="ja-JP" altLang="en-US"/>
              <a:t>システムが制御不能な事象が発生しようとも悪い状態が発生しないようにする</a:t>
            </a:r>
            <a:br>
              <a:rPr lang="en-US" altLang="ja-JP" dirty="0"/>
            </a:br>
            <a:r>
              <a:rPr lang="ja-JP" altLang="en-US"/>
              <a:t>→安全性が保証されているということ</a:t>
            </a:r>
            <a:endParaRPr lang="en-US" altLang="ja-JP" dirty="0"/>
          </a:p>
          <a:p>
            <a:r>
              <a:rPr lang="ja-JP" altLang="en-US"/>
              <a:t>セキリュティなどのミス（悪い事象の発生）が許されないシステムで</a:t>
            </a:r>
            <a:br>
              <a:rPr lang="en-US" altLang="ja-JP" dirty="0"/>
            </a:br>
            <a:r>
              <a:rPr lang="ja-JP" altLang="en-US"/>
              <a:t>安全性の保証が特に有効である</a:t>
            </a:r>
            <a:endParaRPr lang="en-US" altLang="ja-JP" dirty="0"/>
          </a:p>
          <a:p>
            <a:pPr marL="0" indent="0">
              <a:buNone/>
            </a:pPr>
            <a:endParaRPr lang="en-US" altLang="ja-JP" dirty="0">
              <a:latin typeface="Yu Gothic" panose="020B0400000000000000" pitchFamily="34" charset="-128"/>
              <a:ea typeface="Yu Gothic" panose="020B0400000000000000" pitchFamily="34" charset="-128"/>
            </a:endParaRPr>
          </a:p>
          <a:p>
            <a:endParaRPr lang="en-US" altLang="ja-JP" dirty="0">
              <a:latin typeface="Yu Gothic" panose="020B0400000000000000" pitchFamily="34" charset="-128"/>
              <a:ea typeface="Yu Gothic" panose="020B0400000000000000" pitchFamily="34" charset="-128"/>
            </a:endParaRPr>
          </a:p>
          <a:p>
            <a:pPr marL="0" indent="0">
              <a:buNone/>
            </a:pPr>
            <a:endParaRPr lang="en-US" altLang="ja-JP" dirty="0">
              <a:latin typeface="Yu Gothic" panose="020B0400000000000000" pitchFamily="34" charset="-128"/>
              <a:ea typeface="Yu Gothic" panose="020B0400000000000000" pitchFamily="34" charset="-128"/>
            </a:endParaRPr>
          </a:p>
        </p:txBody>
      </p:sp>
      <p:sp>
        <p:nvSpPr>
          <p:cNvPr id="4" name="スライド番号プレースホルダー 3">
            <a:extLst>
              <a:ext uri="{FF2B5EF4-FFF2-40B4-BE49-F238E27FC236}">
                <a16:creationId xmlns:a16="http://schemas.microsoft.com/office/drawing/2014/main" id="{C8FD12DF-24F2-74BC-17FC-0A82795B4E67}"/>
              </a:ext>
            </a:extLst>
          </p:cNvPr>
          <p:cNvSpPr>
            <a:spLocks noGrp="1"/>
          </p:cNvSpPr>
          <p:nvPr>
            <p:ph type="sldNum" sz="quarter" idx="11"/>
          </p:nvPr>
        </p:nvSpPr>
        <p:spPr/>
        <p:txBody>
          <a:bodyPr/>
          <a:lstStyle/>
          <a:p>
            <a:fld id="{E0D93E39-1AFA-2A42-BAF4-0CDD5F6E9A80}" type="slidenum">
              <a:rPr kumimoji="1" lang="ja-JP" altLang="en-US" smtClean="0"/>
              <a:pPr/>
              <a:t>1</a:t>
            </a:fld>
            <a:endParaRPr kumimoji="1" lang="ja-JP" altLang="en-US"/>
          </a:p>
        </p:txBody>
      </p:sp>
      <p:sp>
        <p:nvSpPr>
          <p:cNvPr id="17" name="テキスト ボックス 16">
            <a:extLst>
              <a:ext uri="{FF2B5EF4-FFF2-40B4-BE49-F238E27FC236}">
                <a16:creationId xmlns:a16="http://schemas.microsoft.com/office/drawing/2014/main" id="{59C15A1E-E46F-DDE6-685E-64835AADC522}"/>
              </a:ext>
            </a:extLst>
          </p:cNvPr>
          <p:cNvSpPr txBox="1"/>
          <p:nvPr/>
        </p:nvSpPr>
        <p:spPr>
          <a:xfrm>
            <a:off x="6040581" y="1676399"/>
            <a:ext cx="4904683" cy="886691"/>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8" name="テキスト ボックス 17">
            <a:extLst>
              <a:ext uri="{FF2B5EF4-FFF2-40B4-BE49-F238E27FC236}">
                <a16:creationId xmlns:a16="http://schemas.microsoft.com/office/drawing/2014/main" id="{17180CDA-107E-DE70-744B-3AD09B0E37D4}"/>
              </a:ext>
            </a:extLst>
          </p:cNvPr>
          <p:cNvSpPr txBox="1"/>
          <p:nvPr/>
        </p:nvSpPr>
        <p:spPr>
          <a:xfrm>
            <a:off x="6567055" y="1884218"/>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20" name="テキスト ボックス 19">
            <a:extLst>
              <a:ext uri="{FF2B5EF4-FFF2-40B4-BE49-F238E27FC236}">
                <a16:creationId xmlns:a16="http://schemas.microsoft.com/office/drawing/2014/main" id="{6F6E7CCB-4A14-7E5C-B591-CBCC37E84248}"/>
              </a:ext>
            </a:extLst>
          </p:cNvPr>
          <p:cNvSpPr txBox="1"/>
          <p:nvPr/>
        </p:nvSpPr>
        <p:spPr>
          <a:xfrm>
            <a:off x="188844" y="6228414"/>
            <a:ext cx="6337300" cy="503933"/>
          </a:xfrm>
          <a:prstGeom prst="rect">
            <a:avLst/>
          </a:prstGeom>
        </p:spPr>
        <p:txBody>
          <a:bodyPr vert="horz" wrap="square" lIns="91440" tIns="45720" rIns="91440" bIns="45720" rtlCol="0">
            <a:normAutofit fontScale="85000" lnSpcReduction="10000"/>
          </a:bodyPr>
          <a:lstStyle/>
          <a:p>
            <a:pPr defTabSz="914400">
              <a:lnSpc>
                <a:spcPct val="110000"/>
              </a:lnSpc>
              <a:spcBef>
                <a:spcPts val="1000"/>
              </a:spcBef>
            </a:pPr>
            <a:r>
              <a:rPr lang="en-US" altLang="ja-JP" dirty="0"/>
              <a:t>[1] Jeﬀ Magee and Jeﬀ Kramer. Concurrency: State Models and Java Programs.</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Tree>
    <p:extLst>
      <p:ext uri="{BB962C8B-B14F-4D97-AF65-F5344CB8AC3E}">
        <p14:creationId xmlns:p14="http://schemas.microsoft.com/office/powerpoint/2010/main" val="4190013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DD0B-9541-D0AF-1764-D6C8EC65A8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172D93-DB4D-DA4B-2FD7-E600249FAEB7}"/>
              </a:ext>
            </a:extLst>
          </p:cNvPr>
          <p:cNvSpPr>
            <a:spLocks noGrp="1"/>
          </p:cNvSpPr>
          <p:nvPr>
            <p:ph type="title"/>
          </p:nvPr>
        </p:nvSpPr>
        <p:spPr/>
        <p:txBody>
          <a:bodyPr/>
          <a:lstStyle/>
          <a:p>
            <a:r>
              <a:rPr lang="ja-JP" altLang="en-US">
                <a:latin typeface="Yu Gothic" panose="020B0400000000000000" pitchFamily="34" charset="-128"/>
                <a:ea typeface="Yu Gothic" panose="020B0400000000000000" pitchFamily="34" charset="-128"/>
              </a:rPr>
              <a:t>安全性が保証された</a:t>
            </a:r>
            <a:r>
              <a:rPr kumimoji="1" lang="ja-JP" altLang="en-US"/>
              <a:t>離散事象システム</a:t>
            </a:r>
          </a:p>
        </p:txBody>
      </p:sp>
      <p:sp>
        <p:nvSpPr>
          <p:cNvPr id="3" name="コンテンツ プレースホルダー 2">
            <a:extLst>
              <a:ext uri="{FF2B5EF4-FFF2-40B4-BE49-F238E27FC236}">
                <a16:creationId xmlns:a16="http://schemas.microsoft.com/office/drawing/2014/main" id="{0E98D54D-BF2B-7C82-4931-99EC25E47FCB}"/>
              </a:ext>
            </a:extLst>
          </p:cNvPr>
          <p:cNvSpPr>
            <a:spLocks noGrp="1"/>
          </p:cNvSpPr>
          <p:nvPr>
            <p:ph sz="quarter" idx="10"/>
          </p:nvPr>
        </p:nvSpPr>
        <p:spPr>
          <a:xfrm>
            <a:off x="188843" y="892885"/>
            <a:ext cx="5242139" cy="5706698"/>
          </a:xfrm>
        </p:spPr>
        <p:txBody>
          <a:bodyPr/>
          <a:lstStyle/>
          <a:p>
            <a:pPr marL="0" indent="0">
              <a:buNone/>
            </a:pPr>
            <a:br>
              <a:rPr lang="en-US" altLang="ja-JP" dirty="0"/>
            </a:br>
            <a:r>
              <a:rPr lang="ja-JP" altLang="en-US"/>
              <a:t>安全性が保証された離散事象システムの設計者は</a:t>
            </a:r>
            <a:br>
              <a:rPr lang="en-US" altLang="ja-JP" dirty="0"/>
            </a:br>
            <a:r>
              <a:rPr lang="ja-JP" altLang="en-US"/>
              <a:t>まず，</a:t>
            </a:r>
            <a:r>
              <a:rPr lang="ja-JP" altLang="en-US" b="1">
                <a:latin typeface="Yu Gothic" panose="020B0400000000000000" pitchFamily="34" charset="-128"/>
                <a:ea typeface="Yu Gothic" panose="020B0400000000000000" pitchFamily="34" charset="-128"/>
              </a:rPr>
              <a:t>環境モデル</a:t>
            </a:r>
            <a:r>
              <a:rPr lang="ja-JP" altLang="en-US"/>
              <a:t>と</a:t>
            </a:r>
            <a:r>
              <a:rPr lang="ja-JP" altLang="en-US" b="1">
                <a:latin typeface="Yu Gothic" panose="020B0400000000000000" pitchFamily="34" charset="-128"/>
                <a:ea typeface="Yu Gothic" panose="020B0400000000000000" pitchFamily="34" charset="-128"/>
              </a:rPr>
              <a:t>監視モデル</a:t>
            </a:r>
            <a:r>
              <a:rPr lang="ja-JP" altLang="en-US"/>
              <a:t>を用意する</a:t>
            </a:r>
            <a:endParaRPr lang="en-US" altLang="ja-JP" dirty="0"/>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r>
              <a:rPr lang="ja-JP" altLang="en-US" sz="2400" b="1">
                <a:latin typeface="Yu Gothic" panose="020B0400000000000000" pitchFamily="34" charset="-128"/>
                <a:ea typeface="Yu Gothic" panose="020B0400000000000000" pitchFamily="34" charset="-128"/>
              </a:rPr>
              <a:t>環境モデル</a:t>
            </a:r>
            <a:r>
              <a:rPr kumimoji="1" lang="en-US" altLang="ja-JP" sz="1200" b="1"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[1]</a:t>
            </a:r>
            <a:endParaRPr lang="en-US" altLang="ja-JP" sz="2400" b="1" dirty="0">
              <a:latin typeface="Yu Gothic" panose="020B0400000000000000" pitchFamily="34" charset="-128"/>
              <a:ea typeface="Yu Gothic" panose="020B0400000000000000" pitchFamily="34" charset="-128"/>
            </a:endParaRPr>
          </a:p>
          <a:p>
            <a:r>
              <a:rPr lang="ja-JP" altLang="en-US"/>
              <a:t>システムの動作環境を</a:t>
            </a:r>
            <a:r>
              <a:rPr lang="en-US" altLang="ja-JP" dirty="0"/>
              <a:t>LTS</a:t>
            </a:r>
            <a:r>
              <a:rPr lang="ja-JP" altLang="en-US"/>
              <a:t>として表現したもの</a:t>
            </a:r>
            <a:endParaRPr lang="en-US" altLang="ja-JP" dirty="0"/>
          </a:p>
          <a:p>
            <a:pPr marL="0" indent="0">
              <a:buNone/>
            </a:pPr>
            <a:endParaRPr lang="en-US" altLang="ja-JP" dirty="0"/>
          </a:p>
          <a:p>
            <a:pPr marL="0" indent="0">
              <a:buNone/>
            </a:pPr>
            <a:r>
              <a:rPr lang="ja-JP" altLang="en-US" sz="2400" b="1">
                <a:latin typeface="Yu Gothic" panose="020B0400000000000000" pitchFamily="34" charset="-128"/>
                <a:ea typeface="Yu Gothic" panose="020B0400000000000000" pitchFamily="34" charset="-128"/>
              </a:rPr>
              <a:t>監視モデル</a:t>
            </a:r>
            <a:r>
              <a:rPr kumimoji="1" lang="en-US" altLang="ja-JP" sz="1200" b="1" i="0"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cs typeface="+mn-cs"/>
              </a:rPr>
              <a:t>[1]</a:t>
            </a:r>
            <a:endParaRPr lang="en-US" altLang="ja-JP" sz="2400" b="1" dirty="0">
              <a:latin typeface="Yu Gothic" panose="020B0400000000000000" pitchFamily="34" charset="-128"/>
              <a:ea typeface="Yu Gothic" panose="020B0400000000000000" pitchFamily="34" charset="-128"/>
            </a:endParaRPr>
          </a:p>
          <a:p>
            <a:r>
              <a:rPr lang="ja-JP" altLang="en-US"/>
              <a:t>システムの安全性を</a:t>
            </a:r>
            <a:r>
              <a:rPr lang="en-US" altLang="ja-JP" dirty="0"/>
              <a:t>LTS</a:t>
            </a:r>
            <a:r>
              <a:rPr lang="ja-JP" altLang="en-US"/>
              <a:t>として表現したもの</a:t>
            </a:r>
            <a:endParaRPr lang="en-US" altLang="ja-JP" dirty="0">
              <a:latin typeface="Yu Gothic" panose="020B0400000000000000" pitchFamily="34" charset="-128"/>
              <a:ea typeface="Yu Gothic" panose="020B0400000000000000" pitchFamily="34" charset="-128"/>
            </a:endParaRPr>
          </a:p>
          <a:p>
            <a:r>
              <a:rPr lang="ja-JP" altLang="en-US"/>
              <a:t>安全性を違反する事象が発生したときに違反状態（</a:t>
            </a:r>
            <a:r>
              <a:rPr lang="en-US" altLang="ja-JP" dirty="0"/>
              <a:t>-1</a:t>
            </a:r>
            <a:r>
              <a:rPr lang="ja-JP" altLang="en-US"/>
              <a:t>の状態）に遷移させることで安全性を表現</a:t>
            </a:r>
            <a:endParaRPr lang="en-US" altLang="ja-JP" dirty="0"/>
          </a:p>
        </p:txBody>
      </p:sp>
      <p:sp>
        <p:nvSpPr>
          <p:cNvPr id="4" name="スライド番号プレースホルダー 3">
            <a:extLst>
              <a:ext uri="{FF2B5EF4-FFF2-40B4-BE49-F238E27FC236}">
                <a16:creationId xmlns:a16="http://schemas.microsoft.com/office/drawing/2014/main" id="{8AD6F6F0-ADB3-1DDF-CE63-5F056749251E}"/>
              </a:ext>
            </a:extLst>
          </p:cNvPr>
          <p:cNvSpPr>
            <a:spLocks noGrp="1"/>
          </p:cNvSpPr>
          <p:nvPr>
            <p:ph type="sldNum" sz="quarter" idx="11"/>
          </p:nvPr>
        </p:nvSpPr>
        <p:spPr/>
        <p:txBody>
          <a:bodyPr/>
          <a:lstStyle/>
          <a:p>
            <a:fld id="{E0D93E39-1AFA-2A42-BAF4-0CDD5F6E9A80}" type="slidenum">
              <a:rPr kumimoji="1" lang="ja-JP" altLang="en-US" smtClean="0"/>
              <a:pPr/>
              <a:t>2</a:t>
            </a:fld>
            <a:endParaRPr kumimoji="1" lang="ja-JP" altLang="en-US"/>
          </a:p>
        </p:txBody>
      </p:sp>
      <p:sp>
        <p:nvSpPr>
          <p:cNvPr id="17" name="テキスト ボックス 16">
            <a:extLst>
              <a:ext uri="{FF2B5EF4-FFF2-40B4-BE49-F238E27FC236}">
                <a16:creationId xmlns:a16="http://schemas.microsoft.com/office/drawing/2014/main" id="{70483C78-7C52-CD4D-4D8F-F3E415114A9B}"/>
              </a:ext>
            </a:extLst>
          </p:cNvPr>
          <p:cNvSpPr txBox="1"/>
          <p:nvPr/>
        </p:nvSpPr>
        <p:spPr>
          <a:xfrm>
            <a:off x="6040581" y="1676399"/>
            <a:ext cx="4904683" cy="886691"/>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8" name="テキスト ボックス 17">
            <a:extLst>
              <a:ext uri="{FF2B5EF4-FFF2-40B4-BE49-F238E27FC236}">
                <a16:creationId xmlns:a16="http://schemas.microsoft.com/office/drawing/2014/main" id="{6F52C4AA-3B68-2572-C31E-C1A9AC52B4E7}"/>
              </a:ext>
            </a:extLst>
          </p:cNvPr>
          <p:cNvSpPr txBox="1"/>
          <p:nvPr/>
        </p:nvSpPr>
        <p:spPr>
          <a:xfrm>
            <a:off x="6567055" y="1884218"/>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20" name="テキスト ボックス 19">
            <a:extLst>
              <a:ext uri="{FF2B5EF4-FFF2-40B4-BE49-F238E27FC236}">
                <a16:creationId xmlns:a16="http://schemas.microsoft.com/office/drawing/2014/main" id="{B517EE4F-EAA9-3D11-6147-2A0CB69F3270}"/>
              </a:ext>
            </a:extLst>
          </p:cNvPr>
          <p:cNvSpPr txBox="1"/>
          <p:nvPr/>
        </p:nvSpPr>
        <p:spPr>
          <a:xfrm>
            <a:off x="188844" y="6228414"/>
            <a:ext cx="6337300" cy="503933"/>
          </a:xfrm>
          <a:prstGeom prst="rect">
            <a:avLst/>
          </a:prstGeom>
        </p:spPr>
        <p:txBody>
          <a:bodyPr vert="horz" wrap="square" lIns="91440" tIns="45720" rIns="91440" bIns="45720" rtlCol="0">
            <a:normAutofit fontScale="85000" lnSpcReduction="10000"/>
          </a:bodyPr>
          <a:lstStyle/>
          <a:p>
            <a:pPr defTabSz="914400">
              <a:lnSpc>
                <a:spcPct val="110000"/>
              </a:lnSpc>
              <a:spcBef>
                <a:spcPts val="1000"/>
              </a:spcBef>
            </a:pPr>
            <a:r>
              <a:rPr lang="en-US" altLang="ja-JP" dirty="0"/>
              <a:t>[1] N. R. D’Ippolito, </a:t>
            </a:r>
            <a:r>
              <a:rPr lang="en-US" altLang="ja-JP" dirty="0" err="1"/>
              <a:t>et.al</a:t>
            </a:r>
            <a:r>
              <a:rPr lang="en-US" altLang="ja-JP" dirty="0"/>
              <a:t>., “Synthesis of live </a:t>
            </a:r>
            <a:r>
              <a:rPr lang="en-US" altLang="ja-JP" dirty="0" err="1"/>
              <a:t>behaviour</a:t>
            </a:r>
            <a:r>
              <a:rPr lang="en-US" altLang="ja-JP" dirty="0"/>
              <a:t> models,” FSE ’10</a:t>
            </a:r>
          </a:p>
          <a:p>
            <a:pPr defTabSz="914400">
              <a:lnSpc>
                <a:spcPct val="110000"/>
              </a:lnSpc>
              <a:spcBef>
                <a:spcPts val="1000"/>
              </a:spcBef>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pic>
        <p:nvPicPr>
          <p:cNvPr id="6" name="図 5" descr="ダイアグラム&#10;&#10;AI 生成コンテンツは誤りを含む可能性があります。">
            <a:extLst>
              <a:ext uri="{FF2B5EF4-FFF2-40B4-BE49-F238E27FC236}">
                <a16:creationId xmlns:a16="http://schemas.microsoft.com/office/drawing/2014/main" id="{FEF56FDD-EECC-70E7-92D9-57138D89762F}"/>
              </a:ext>
            </a:extLst>
          </p:cNvPr>
          <p:cNvPicPr>
            <a:picLocks noChangeAspect="1"/>
          </p:cNvPicPr>
          <p:nvPr/>
        </p:nvPicPr>
        <p:blipFill>
          <a:blip r:embed="rId3"/>
          <a:stretch>
            <a:fillRect/>
          </a:stretch>
        </p:blipFill>
        <p:spPr>
          <a:xfrm>
            <a:off x="7251148" y="1517704"/>
            <a:ext cx="3390900" cy="1130300"/>
          </a:xfrm>
          <a:prstGeom prst="rect">
            <a:avLst/>
          </a:prstGeom>
        </p:spPr>
      </p:pic>
      <p:pic>
        <p:nvPicPr>
          <p:cNvPr id="8" name="図 7" descr="ダイアグラム&#10;&#10;AI 生成コンテンツは誤りを含む可能性があります。">
            <a:extLst>
              <a:ext uri="{FF2B5EF4-FFF2-40B4-BE49-F238E27FC236}">
                <a16:creationId xmlns:a16="http://schemas.microsoft.com/office/drawing/2014/main" id="{021D8C70-2E08-DA33-76D9-A698923035BE}"/>
              </a:ext>
            </a:extLst>
          </p:cNvPr>
          <p:cNvPicPr>
            <a:picLocks noChangeAspect="1"/>
          </p:cNvPicPr>
          <p:nvPr/>
        </p:nvPicPr>
        <p:blipFill>
          <a:blip r:embed="rId4"/>
          <a:stretch>
            <a:fillRect/>
          </a:stretch>
        </p:blipFill>
        <p:spPr>
          <a:xfrm>
            <a:off x="7251148" y="2635972"/>
            <a:ext cx="3467100" cy="1397000"/>
          </a:xfrm>
          <a:prstGeom prst="rect">
            <a:avLst/>
          </a:prstGeom>
        </p:spPr>
      </p:pic>
      <p:pic>
        <p:nvPicPr>
          <p:cNvPr id="10" name="図 9" descr="ダイアグラム&#10;&#10;AI 生成コンテンツは誤りを含む可能性があります。">
            <a:extLst>
              <a:ext uri="{FF2B5EF4-FFF2-40B4-BE49-F238E27FC236}">
                <a16:creationId xmlns:a16="http://schemas.microsoft.com/office/drawing/2014/main" id="{9DD962D9-3EF6-3434-8337-7CD41EBC3F91}"/>
              </a:ext>
            </a:extLst>
          </p:cNvPr>
          <p:cNvPicPr>
            <a:picLocks noChangeAspect="1"/>
          </p:cNvPicPr>
          <p:nvPr/>
        </p:nvPicPr>
        <p:blipFill>
          <a:blip r:embed="rId5"/>
          <a:stretch>
            <a:fillRect/>
          </a:stretch>
        </p:blipFill>
        <p:spPr>
          <a:xfrm>
            <a:off x="7543248" y="4691714"/>
            <a:ext cx="3175000" cy="1536700"/>
          </a:xfrm>
          <a:prstGeom prst="rect">
            <a:avLst/>
          </a:prstGeom>
        </p:spPr>
      </p:pic>
    </p:spTree>
    <p:extLst>
      <p:ext uri="{BB962C8B-B14F-4D97-AF65-F5344CB8AC3E}">
        <p14:creationId xmlns:p14="http://schemas.microsoft.com/office/powerpoint/2010/main" val="286403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7C2A1C-5FCD-A21A-CE74-F70D78243ACF}"/>
              </a:ext>
            </a:extLst>
          </p:cNvPr>
          <p:cNvSpPr>
            <a:spLocks noGrp="1"/>
          </p:cNvSpPr>
          <p:nvPr>
            <p:ph type="title"/>
          </p:nvPr>
        </p:nvSpPr>
        <p:spPr/>
        <p:txBody>
          <a:bodyPr/>
          <a:lstStyle/>
          <a:p>
            <a:r>
              <a:rPr kumimoji="1" lang="ja-JP" altLang="en-US"/>
              <a:t>離散制御器合成</a:t>
            </a:r>
          </a:p>
        </p:txBody>
      </p:sp>
      <p:sp>
        <p:nvSpPr>
          <p:cNvPr id="3" name="コンテンツ プレースホルダー 2">
            <a:extLst>
              <a:ext uri="{FF2B5EF4-FFF2-40B4-BE49-F238E27FC236}">
                <a16:creationId xmlns:a16="http://schemas.microsoft.com/office/drawing/2014/main" id="{7B15D9A1-25A4-29B0-6F4F-030508078699}"/>
              </a:ext>
            </a:extLst>
          </p:cNvPr>
          <p:cNvSpPr>
            <a:spLocks noGrp="1"/>
          </p:cNvSpPr>
          <p:nvPr>
            <p:ph sz="quarter" idx="10"/>
          </p:nvPr>
        </p:nvSpPr>
        <p:spPr/>
        <p:txBody>
          <a:bodyPr/>
          <a:lstStyle/>
          <a:p>
            <a:pPr marL="0" indent="0">
              <a:buNone/>
            </a:pPr>
            <a:r>
              <a:rPr lang="ja-JP" altLang="en-US" sz="2400" b="1">
                <a:latin typeface="Yu Gothic" panose="020B0400000000000000" pitchFamily="34" charset="-128"/>
                <a:ea typeface="Yu Gothic" panose="020B0400000000000000" pitchFamily="34" charset="-128"/>
              </a:rPr>
              <a:t>離散制御器合成</a:t>
            </a:r>
            <a:r>
              <a:rPr lang="en-US" altLang="ja-JP" sz="1200" b="1" dirty="0">
                <a:latin typeface="Yu Gothic" panose="020B0400000000000000" pitchFamily="34" charset="-128"/>
                <a:ea typeface="Yu Gothic" panose="020B0400000000000000" pitchFamily="34" charset="-128"/>
              </a:rPr>
              <a:t>[1]</a:t>
            </a:r>
            <a:endParaRPr lang="en-US" altLang="ja-JP" sz="2400" b="1" dirty="0">
              <a:latin typeface="Yu Gothic" panose="020B0400000000000000" pitchFamily="34" charset="-128"/>
              <a:ea typeface="Yu Gothic" panose="020B0400000000000000" pitchFamily="34" charset="-128"/>
            </a:endParaRPr>
          </a:p>
          <a:p>
            <a:r>
              <a:rPr kumimoji="1" lang="ja-JP" altLang="en-US"/>
              <a:t>環境モデルと監視モデルを入力として，これらを自動で合成し，</a:t>
            </a:r>
            <a:r>
              <a:rPr kumimoji="1" lang="ja-JP" altLang="en-US" b="1">
                <a:latin typeface="Yu Gothic" panose="020B0400000000000000" pitchFamily="34" charset="-128"/>
                <a:ea typeface="Yu Gothic" panose="020B0400000000000000" pitchFamily="34" charset="-128"/>
              </a:rPr>
              <a:t>制御器</a:t>
            </a:r>
            <a:r>
              <a:rPr kumimoji="1" lang="ja-JP" altLang="en-US"/>
              <a:t>を出力する</a:t>
            </a:r>
            <a:endParaRPr kumimoji="1" lang="en-US" altLang="ja-JP" dirty="0"/>
          </a:p>
          <a:p>
            <a:r>
              <a:rPr kumimoji="1" lang="ja-JP" altLang="en-US"/>
              <a:t>制御器は監視モデルの安全性を保証する動作仕様として</a:t>
            </a:r>
            <a:r>
              <a:rPr kumimoji="1" lang="en-US" altLang="ja-JP" dirty="0"/>
              <a:t>LTS</a:t>
            </a:r>
            <a:r>
              <a:rPr kumimoji="1" lang="ja-JP" altLang="en-US"/>
              <a:t>で表現される</a:t>
            </a:r>
            <a:endParaRPr kumimoji="1" lang="en-US" altLang="ja-JP" dirty="0"/>
          </a:p>
          <a:p>
            <a:r>
              <a:rPr kumimoji="1" lang="ja-JP" altLang="en-US"/>
              <a:t>離散制御器合成は並列合成と安全性分析の２つのプロセスで行われる</a:t>
            </a:r>
            <a:endParaRPr kumimoji="1" lang="en-US" altLang="ja-JP" dirty="0"/>
          </a:p>
        </p:txBody>
      </p:sp>
      <p:sp>
        <p:nvSpPr>
          <p:cNvPr id="4" name="スライド番号プレースホルダー 3">
            <a:extLst>
              <a:ext uri="{FF2B5EF4-FFF2-40B4-BE49-F238E27FC236}">
                <a16:creationId xmlns:a16="http://schemas.microsoft.com/office/drawing/2014/main" id="{BA0B3AFE-A845-4E3E-8EC2-D95D09BB26A1}"/>
              </a:ext>
            </a:extLst>
          </p:cNvPr>
          <p:cNvSpPr>
            <a:spLocks noGrp="1"/>
          </p:cNvSpPr>
          <p:nvPr>
            <p:ph type="sldNum" sz="quarter" idx="11"/>
          </p:nvPr>
        </p:nvSpPr>
        <p:spPr/>
        <p:txBody>
          <a:bodyPr/>
          <a:lstStyle/>
          <a:p>
            <a:fld id="{E0D93E39-1AFA-2A42-BAF4-0CDD5F6E9A80}" type="slidenum">
              <a:rPr kumimoji="1" lang="ja-JP" altLang="en-US" smtClean="0"/>
              <a:pPr/>
              <a:t>3</a:t>
            </a:fld>
            <a:endParaRPr kumimoji="1" lang="ja-JP" altLang="en-US"/>
          </a:p>
        </p:txBody>
      </p:sp>
      <p:sp>
        <p:nvSpPr>
          <p:cNvPr id="8" name="テキスト ボックス 7">
            <a:extLst>
              <a:ext uri="{FF2B5EF4-FFF2-40B4-BE49-F238E27FC236}">
                <a16:creationId xmlns:a16="http://schemas.microsoft.com/office/drawing/2014/main" id="{2FC0F6DF-E189-29E5-F7A7-6DE4B828B33B}"/>
              </a:ext>
            </a:extLst>
          </p:cNvPr>
          <p:cNvSpPr txBox="1"/>
          <p:nvPr/>
        </p:nvSpPr>
        <p:spPr>
          <a:xfrm>
            <a:off x="2227998" y="3609288"/>
            <a:ext cx="512618" cy="48963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24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0" name="山形 9">
            <a:extLst>
              <a:ext uri="{FF2B5EF4-FFF2-40B4-BE49-F238E27FC236}">
                <a16:creationId xmlns:a16="http://schemas.microsoft.com/office/drawing/2014/main" id="{FC1D14FD-4B6E-7241-EAD9-CD27738F2ED0}"/>
              </a:ext>
            </a:extLst>
          </p:cNvPr>
          <p:cNvSpPr/>
          <p:nvPr/>
        </p:nvSpPr>
        <p:spPr>
          <a:xfrm>
            <a:off x="4527765" y="4050854"/>
            <a:ext cx="1476579" cy="844288"/>
          </a:xfrm>
          <a:prstGeom prst="chevron">
            <a:avLst>
              <a:gd name="adj" fmla="val 25385"/>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Medium" panose="020B0400000000000000" pitchFamily="34" charset="-128"/>
                <a:ea typeface="Yu Gothic Medium" panose="020B0400000000000000" pitchFamily="34" charset="-128"/>
              </a:rPr>
              <a:t>離散</a:t>
            </a:r>
            <a:endParaRPr kumimoji="1" lang="en-US" altLang="ja-JP" dirty="0">
              <a:solidFill>
                <a:schemeClr val="tx1"/>
              </a:solidFill>
              <a:latin typeface="Yu Gothic Medium" panose="020B0400000000000000" pitchFamily="34" charset="-128"/>
              <a:ea typeface="Yu Gothic Medium" panose="020B0400000000000000" pitchFamily="34" charset="-128"/>
            </a:endParaRPr>
          </a:p>
          <a:p>
            <a:pPr algn="ctr"/>
            <a:r>
              <a:rPr kumimoji="1" lang="ja-JP" altLang="en-US">
                <a:solidFill>
                  <a:schemeClr val="tx1"/>
                </a:solidFill>
                <a:latin typeface="Yu Gothic Medium" panose="020B0400000000000000" pitchFamily="34" charset="-128"/>
                <a:ea typeface="Yu Gothic Medium" panose="020B0400000000000000" pitchFamily="34" charset="-128"/>
              </a:rPr>
              <a:t>制御器合成</a:t>
            </a:r>
          </a:p>
        </p:txBody>
      </p:sp>
      <p:sp>
        <p:nvSpPr>
          <p:cNvPr id="11" name="テキスト ボックス 10">
            <a:extLst>
              <a:ext uri="{FF2B5EF4-FFF2-40B4-BE49-F238E27FC236}">
                <a16:creationId xmlns:a16="http://schemas.microsoft.com/office/drawing/2014/main" id="{8E44B287-7FE5-C571-5F66-7F0A606CCB1A}"/>
              </a:ext>
            </a:extLst>
          </p:cNvPr>
          <p:cNvSpPr txBox="1"/>
          <p:nvPr/>
        </p:nvSpPr>
        <p:spPr>
          <a:xfrm>
            <a:off x="188844" y="6228414"/>
            <a:ext cx="6337300" cy="503933"/>
          </a:xfrm>
          <a:prstGeom prst="rect">
            <a:avLst/>
          </a:prstGeom>
        </p:spPr>
        <p:txBody>
          <a:bodyPr vert="horz" wrap="square" lIns="91440" tIns="45720" rIns="91440" bIns="45720" rtlCol="0">
            <a:normAutofit fontScale="85000" lnSpcReduction="10000"/>
          </a:bodyPr>
          <a:lstStyle/>
          <a:p>
            <a:pPr defTabSz="914400">
              <a:lnSpc>
                <a:spcPct val="110000"/>
              </a:lnSpc>
              <a:spcBef>
                <a:spcPts val="1000"/>
              </a:spcBef>
            </a:pPr>
            <a:r>
              <a:rPr lang="en-US" altLang="ja-JP" dirty="0"/>
              <a:t>[1] N. R. D’Ippolito, </a:t>
            </a:r>
            <a:r>
              <a:rPr lang="en-US" altLang="ja-JP" dirty="0" err="1"/>
              <a:t>et.al</a:t>
            </a:r>
            <a:r>
              <a:rPr lang="en-US" altLang="ja-JP" dirty="0"/>
              <a:t>., “Synthesis of live </a:t>
            </a:r>
            <a:r>
              <a:rPr lang="en-US" altLang="ja-JP" dirty="0" err="1"/>
              <a:t>behaviour</a:t>
            </a:r>
            <a:r>
              <a:rPr lang="en-US" altLang="ja-JP" dirty="0"/>
              <a:t> models,” FSE ’10</a:t>
            </a:r>
          </a:p>
          <a:p>
            <a:pPr defTabSz="914400">
              <a:lnSpc>
                <a:spcPct val="110000"/>
              </a:lnSpc>
              <a:spcBef>
                <a:spcPts val="1000"/>
              </a:spcBef>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9" name="テキスト ボックス 8">
            <a:extLst>
              <a:ext uri="{FF2B5EF4-FFF2-40B4-BE49-F238E27FC236}">
                <a16:creationId xmlns:a16="http://schemas.microsoft.com/office/drawing/2014/main" id="{31EC98CE-8067-2F36-A9EE-C1E01A7C22B3}"/>
              </a:ext>
            </a:extLst>
          </p:cNvPr>
          <p:cNvSpPr txBox="1"/>
          <p:nvPr/>
        </p:nvSpPr>
        <p:spPr>
          <a:xfrm>
            <a:off x="6761408" y="5782614"/>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2" name="テキスト ボックス 11">
            <a:extLst>
              <a:ext uri="{FF2B5EF4-FFF2-40B4-BE49-F238E27FC236}">
                <a16:creationId xmlns:a16="http://schemas.microsoft.com/office/drawing/2014/main" id="{6A5897BA-C055-2ADA-D6DD-16CFC2DFEB81}"/>
              </a:ext>
            </a:extLst>
          </p:cNvPr>
          <p:cNvSpPr txBox="1"/>
          <p:nvPr/>
        </p:nvSpPr>
        <p:spPr>
          <a:xfrm>
            <a:off x="1244441" y="3209457"/>
            <a:ext cx="45719" cy="45719"/>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pic>
        <p:nvPicPr>
          <p:cNvPr id="13" name="図 12" descr="ダイアグラム&#10;&#10;AI 生成コンテンツは誤りを含む可能性があります。">
            <a:extLst>
              <a:ext uri="{FF2B5EF4-FFF2-40B4-BE49-F238E27FC236}">
                <a16:creationId xmlns:a16="http://schemas.microsoft.com/office/drawing/2014/main" id="{DF5C7077-D454-7991-6A4F-2E1A4BFBA215}"/>
              </a:ext>
            </a:extLst>
          </p:cNvPr>
          <p:cNvPicPr>
            <a:picLocks noChangeAspect="1"/>
          </p:cNvPicPr>
          <p:nvPr/>
        </p:nvPicPr>
        <p:blipFill>
          <a:blip r:embed="rId3"/>
          <a:stretch>
            <a:fillRect/>
          </a:stretch>
        </p:blipFill>
        <p:spPr>
          <a:xfrm>
            <a:off x="713874" y="2836020"/>
            <a:ext cx="1333329" cy="444443"/>
          </a:xfrm>
          <a:prstGeom prst="rect">
            <a:avLst/>
          </a:prstGeom>
        </p:spPr>
      </p:pic>
      <p:pic>
        <p:nvPicPr>
          <p:cNvPr id="14" name="図 13" descr="ダイアグラム&#10;&#10;AI 生成コンテンツは誤りを含む可能性があります。">
            <a:extLst>
              <a:ext uri="{FF2B5EF4-FFF2-40B4-BE49-F238E27FC236}">
                <a16:creationId xmlns:a16="http://schemas.microsoft.com/office/drawing/2014/main" id="{B6DC4C9F-81B3-D3F8-F61D-EBE2C2F194E1}"/>
              </a:ext>
            </a:extLst>
          </p:cNvPr>
          <p:cNvPicPr>
            <a:picLocks noChangeAspect="1"/>
          </p:cNvPicPr>
          <p:nvPr/>
        </p:nvPicPr>
        <p:blipFill>
          <a:blip r:embed="rId4"/>
          <a:stretch>
            <a:fillRect/>
          </a:stretch>
        </p:blipFill>
        <p:spPr>
          <a:xfrm>
            <a:off x="713874" y="3272325"/>
            <a:ext cx="1466032" cy="590709"/>
          </a:xfrm>
          <a:prstGeom prst="rect">
            <a:avLst/>
          </a:prstGeom>
        </p:spPr>
      </p:pic>
      <p:pic>
        <p:nvPicPr>
          <p:cNvPr id="15" name="図 14" descr="ダイアグラム&#10;&#10;AI 生成コンテンツは誤りを含む可能性があります。">
            <a:extLst>
              <a:ext uri="{FF2B5EF4-FFF2-40B4-BE49-F238E27FC236}">
                <a16:creationId xmlns:a16="http://schemas.microsoft.com/office/drawing/2014/main" id="{746515E2-C070-3BC5-9054-3820E973A30B}"/>
              </a:ext>
            </a:extLst>
          </p:cNvPr>
          <p:cNvPicPr>
            <a:picLocks noChangeAspect="1"/>
          </p:cNvPicPr>
          <p:nvPr/>
        </p:nvPicPr>
        <p:blipFill>
          <a:blip r:embed="rId5"/>
          <a:stretch>
            <a:fillRect/>
          </a:stretch>
        </p:blipFill>
        <p:spPr>
          <a:xfrm>
            <a:off x="713874" y="4830513"/>
            <a:ext cx="1379050" cy="667460"/>
          </a:xfrm>
          <a:prstGeom prst="rect">
            <a:avLst/>
          </a:prstGeom>
        </p:spPr>
      </p:pic>
      <p:sp>
        <p:nvSpPr>
          <p:cNvPr id="16" name="テキスト ボックス 15">
            <a:extLst>
              <a:ext uri="{FF2B5EF4-FFF2-40B4-BE49-F238E27FC236}">
                <a16:creationId xmlns:a16="http://schemas.microsoft.com/office/drawing/2014/main" id="{8E462987-D938-294F-0E55-A3F8D5C78521}"/>
              </a:ext>
            </a:extLst>
          </p:cNvPr>
          <p:cNvSpPr txBox="1"/>
          <p:nvPr/>
        </p:nvSpPr>
        <p:spPr>
          <a:xfrm>
            <a:off x="989091" y="2529708"/>
            <a:ext cx="2682640"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7" name="テキスト ボックス 16">
            <a:extLst>
              <a:ext uri="{FF2B5EF4-FFF2-40B4-BE49-F238E27FC236}">
                <a16:creationId xmlns:a16="http://schemas.microsoft.com/office/drawing/2014/main" id="{0B751086-184F-89C4-429B-790F5B7BA94E}"/>
              </a:ext>
            </a:extLst>
          </p:cNvPr>
          <p:cNvSpPr txBox="1"/>
          <p:nvPr/>
        </p:nvSpPr>
        <p:spPr>
          <a:xfrm>
            <a:off x="765236" y="4540422"/>
            <a:ext cx="914400" cy="914400"/>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監視モデル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cxnSp>
        <p:nvCxnSpPr>
          <p:cNvPr id="22" name="カギ線コネクタ 21">
            <a:extLst>
              <a:ext uri="{FF2B5EF4-FFF2-40B4-BE49-F238E27FC236}">
                <a16:creationId xmlns:a16="http://schemas.microsoft.com/office/drawing/2014/main" id="{8CFACDE3-3AD1-578A-B417-CAD47B17742B}"/>
              </a:ext>
            </a:extLst>
          </p:cNvPr>
          <p:cNvCxnSpPr>
            <a:cxnSpLocks/>
            <a:endCxn id="10" idx="1"/>
          </p:cNvCxnSpPr>
          <p:nvPr/>
        </p:nvCxnSpPr>
        <p:spPr>
          <a:xfrm>
            <a:off x="2311814" y="3724850"/>
            <a:ext cx="2430274" cy="748148"/>
          </a:xfrm>
          <a:prstGeom prst="bentConnector3">
            <a:avLst>
              <a:gd name="adj1" fmla="val 46101"/>
            </a:avLst>
          </a:prstGeom>
        </p:spPr>
        <p:style>
          <a:lnRef idx="1">
            <a:schemeClr val="dk1"/>
          </a:lnRef>
          <a:fillRef idx="0">
            <a:schemeClr val="dk1"/>
          </a:fillRef>
          <a:effectRef idx="0">
            <a:schemeClr val="dk1"/>
          </a:effectRef>
          <a:fontRef idx="minor">
            <a:schemeClr val="tx1"/>
          </a:fontRef>
        </p:style>
      </p:cxnSp>
      <p:pic>
        <p:nvPicPr>
          <p:cNvPr id="29" name="図 28">
            <a:extLst>
              <a:ext uri="{FF2B5EF4-FFF2-40B4-BE49-F238E27FC236}">
                <a16:creationId xmlns:a16="http://schemas.microsoft.com/office/drawing/2014/main" id="{E05EE04E-E8C0-1B3F-786C-564647771ECF}"/>
              </a:ext>
            </a:extLst>
          </p:cNvPr>
          <p:cNvPicPr>
            <a:picLocks noChangeAspect="1"/>
          </p:cNvPicPr>
          <p:nvPr/>
        </p:nvPicPr>
        <p:blipFill>
          <a:blip r:embed="rId6"/>
          <a:srcRect/>
          <a:stretch/>
        </p:blipFill>
        <p:spPr>
          <a:xfrm>
            <a:off x="6746126" y="3655058"/>
            <a:ext cx="5159004" cy="1635879"/>
          </a:xfrm>
          <a:prstGeom prst="rect">
            <a:avLst/>
          </a:prstGeom>
        </p:spPr>
      </p:pic>
      <p:cxnSp>
        <p:nvCxnSpPr>
          <p:cNvPr id="31" name="直線矢印コネクタ 30">
            <a:extLst>
              <a:ext uri="{FF2B5EF4-FFF2-40B4-BE49-F238E27FC236}">
                <a16:creationId xmlns:a16="http://schemas.microsoft.com/office/drawing/2014/main" id="{45579AF4-973E-CF3D-A82C-452634015BB3}"/>
              </a:ext>
            </a:extLst>
          </p:cNvPr>
          <p:cNvCxnSpPr>
            <a:cxnSpLocks/>
            <a:stCxn id="10" idx="3"/>
            <a:endCxn id="29" idx="1"/>
          </p:cNvCxnSpPr>
          <p:nvPr/>
        </p:nvCxnSpPr>
        <p:spPr>
          <a:xfrm>
            <a:off x="6004344" y="4472998"/>
            <a:ext cx="74178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テキスト ボックス 32">
            <a:extLst>
              <a:ext uri="{FF2B5EF4-FFF2-40B4-BE49-F238E27FC236}">
                <a16:creationId xmlns:a16="http://schemas.microsoft.com/office/drawing/2014/main" id="{6549AE70-F67B-D0E5-15A7-338806F20F79}"/>
              </a:ext>
            </a:extLst>
          </p:cNvPr>
          <p:cNvSpPr txBox="1"/>
          <p:nvPr/>
        </p:nvSpPr>
        <p:spPr>
          <a:xfrm>
            <a:off x="8803920" y="3323325"/>
            <a:ext cx="2682640"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panose="020B0400000000000000" pitchFamily="34" charset="-128"/>
                <a:ea typeface="Yu Gothic" panose="020B0400000000000000" pitchFamily="34" charset="-128"/>
              </a:rPr>
              <a:t>　制御器：</a:t>
            </a:r>
            <a:r>
              <a:rPr kumimoji="1" lang="en-US" altLang="ja-JP" sz="1600" b="1" dirty="0">
                <a:solidFill>
                  <a:sysClr val="windowText" lastClr="000000"/>
                </a:solidFill>
                <a:latin typeface="Yu Gothic" panose="020B0400000000000000" pitchFamily="34" charset="-128"/>
                <a:ea typeface="Yu Gothic" panose="020B0400000000000000" pitchFamily="34" charset="-128"/>
              </a:rPr>
              <a:t>14</a:t>
            </a:r>
            <a:r>
              <a:rPr kumimoji="1" lang="ja-JP" altLang="en-US" sz="1600" b="1">
                <a:solidFill>
                  <a:sysClr val="windowText" lastClr="000000"/>
                </a:solidFill>
                <a:latin typeface="Yu Gothic" panose="020B0400000000000000" pitchFamily="34" charset="-128"/>
                <a:ea typeface="Yu Gothic" panose="020B0400000000000000" pitchFamily="34" charset="-128"/>
              </a:rPr>
              <a:t>状態</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pic>
        <p:nvPicPr>
          <p:cNvPr id="35" name="図 34" descr="挿絵, 時計 が含まれている画像&#10;&#10;AI 生成コンテンツは誤りを含む可能性があります。">
            <a:extLst>
              <a:ext uri="{FF2B5EF4-FFF2-40B4-BE49-F238E27FC236}">
                <a16:creationId xmlns:a16="http://schemas.microsoft.com/office/drawing/2014/main" id="{62EB29DD-D07C-3058-8A6F-362A06B7891C}"/>
              </a:ext>
            </a:extLst>
          </p:cNvPr>
          <p:cNvPicPr>
            <a:picLocks noChangeAspect="1"/>
          </p:cNvPicPr>
          <p:nvPr/>
        </p:nvPicPr>
        <p:blipFill>
          <a:blip r:embed="rId7"/>
          <a:stretch>
            <a:fillRect/>
          </a:stretch>
        </p:blipFill>
        <p:spPr>
          <a:xfrm>
            <a:off x="713874" y="3871252"/>
            <a:ext cx="1214912" cy="520676"/>
          </a:xfrm>
          <a:prstGeom prst="rect">
            <a:avLst/>
          </a:prstGeom>
        </p:spPr>
      </p:pic>
      <p:pic>
        <p:nvPicPr>
          <p:cNvPr id="38" name="図 37" descr="抽象, 挿絵, 時計 が含まれている画像&#10;&#10;AI 生成コンテンツは誤りを含む可能性があります。">
            <a:extLst>
              <a:ext uri="{FF2B5EF4-FFF2-40B4-BE49-F238E27FC236}">
                <a16:creationId xmlns:a16="http://schemas.microsoft.com/office/drawing/2014/main" id="{F496B3E1-BF60-4272-3AC1-CB44F31D8D19}"/>
              </a:ext>
            </a:extLst>
          </p:cNvPr>
          <p:cNvPicPr>
            <a:picLocks noChangeAspect="1"/>
          </p:cNvPicPr>
          <p:nvPr/>
        </p:nvPicPr>
        <p:blipFill>
          <a:blip r:embed="rId8"/>
          <a:stretch>
            <a:fillRect/>
          </a:stretch>
        </p:blipFill>
        <p:spPr>
          <a:xfrm>
            <a:off x="713874" y="5510998"/>
            <a:ext cx="1446849" cy="564026"/>
          </a:xfrm>
          <a:prstGeom prst="rect">
            <a:avLst/>
          </a:prstGeom>
        </p:spPr>
      </p:pic>
      <p:cxnSp>
        <p:nvCxnSpPr>
          <p:cNvPr id="6" name="カギ線コネクタ 5">
            <a:extLst>
              <a:ext uri="{FF2B5EF4-FFF2-40B4-BE49-F238E27FC236}">
                <a16:creationId xmlns:a16="http://schemas.microsoft.com/office/drawing/2014/main" id="{DA7F6D60-730C-CD83-F379-77FA8FEE96D3}"/>
              </a:ext>
            </a:extLst>
          </p:cNvPr>
          <p:cNvCxnSpPr>
            <a:cxnSpLocks/>
            <a:endCxn id="10" idx="1"/>
          </p:cNvCxnSpPr>
          <p:nvPr/>
        </p:nvCxnSpPr>
        <p:spPr>
          <a:xfrm flipV="1">
            <a:off x="2227998" y="4472998"/>
            <a:ext cx="2514090" cy="981824"/>
          </a:xfrm>
          <a:prstGeom prst="bentConnector3">
            <a:avLst>
              <a:gd name="adj1" fmla="val 48119"/>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02772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2C3C89-1CF1-CC37-0A39-344E946CF67A}"/>
              </a:ext>
            </a:extLst>
          </p:cNvPr>
          <p:cNvSpPr>
            <a:spLocks noGrp="1"/>
          </p:cNvSpPr>
          <p:nvPr>
            <p:ph type="title"/>
          </p:nvPr>
        </p:nvSpPr>
        <p:spPr/>
        <p:txBody>
          <a:bodyPr/>
          <a:lstStyle/>
          <a:p>
            <a:r>
              <a:rPr kumimoji="1" lang="ja-JP" altLang="en-US"/>
              <a:t>離散制御器合成の課題</a:t>
            </a:r>
          </a:p>
        </p:txBody>
      </p:sp>
      <p:sp>
        <p:nvSpPr>
          <p:cNvPr id="3" name="コンテンツ プレースホルダー 2">
            <a:extLst>
              <a:ext uri="{FF2B5EF4-FFF2-40B4-BE49-F238E27FC236}">
                <a16:creationId xmlns:a16="http://schemas.microsoft.com/office/drawing/2014/main" id="{7F8E6B54-E339-3FBD-4ED8-038744B02121}"/>
              </a:ext>
            </a:extLst>
          </p:cNvPr>
          <p:cNvSpPr>
            <a:spLocks noGrp="1"/>
          </p:cNvSpPr>
          <p:nvPr>
            <p:ph sz="quarter" idx="10"/>
          </p:nvPr>
        </p:nvSpPr>
        <p:spPr/>
        <p:txBody>
          <a:bodyPr/>
          <a:lstStyle/>
          <a:p>
            <a:pPr marL="0" indent="0">
              <a:buNone/>
            </a:pPr>
            <a:r>
              <a:rPr lang="ja-JP" altLang="en-US" sz="2400" b="1">
                <a:latin typeface="Yu Gothic" panose="020B0400000000000000" pitchFamily="34" charset="-128"/>
                <a:ea typeface="Yu Gothic" panose="020B0400000000000000" pitchFamily="34" charset="-128"/>
              </a:rPr>
              <a:t>計算空間の状態数は入力モデルの数に対して指数増加する</a:t>
            </a:r>
            <a:endParaRPr lang="en-US" altLang="ja-JP" sz="2400" b="1" dirty="0">
              <a:latin typeface="Yu Gothic" panose="020B0400000000000000" pitchFamily="34" charset="-128"/>
              <a:ea typeface="Yu Gothic" panose="020B0400000000000000" pitchFamily="34" charset="-128"/>
            </a:endParaRPr>
          </a:p>
          <a:p>
            <a:r>
              <a:rPr lang="ja-JP" altLang="en-US"/>
              <a:t>合成の際に構築される状態空間は各入力モデルの状態数の積によって決まる</a:t>
            </a:r>
            <a:endParaRPr lang="en-US" altLang="ja-JP" dirty="0"/>
          </a:p>
          <a:p>
            <a:r>
              <a:rPr lang="ja-JP" altLang="en-US"/>
              <a:t>大規模なシステムでは適用できない</a:t>
            </a:r>
            <a:endParaRPr lang="en-US" altLang="ja-JP" dirty="0"/>
          </a:p>
          <a:p>
            <a:r>
              <a:rPr lang="ja-JP" altLang="en-US"/>
              <a:t>特に，離散制御器合成の際に生成される</a:t>
            </a:r>
            <a:r>
              <a:rPr lang="ja-JP" altLang="en-US" b="1">
                <a:latin typeface="Yu Gothic" panose="020B0400000000000000" pitchFamily="34" charset="-128"/>
                <a:ea typeface="Yu Gothic" panose="020B0400000000000000" pitchFamily="34" charset="-128"/>
              </a:rPr>
              <a:t>状態数が最大となる中間生成物</a:t>
            </a:r>
            <a:r>
              <a:rPr lang="ja-JP" altLang="en-US"/>
              <a:t>がボトルネックになる</a:t>
            </a:r>
            <a:endParaRPr lang="en-US" altLang="ja-JP" dirty="0"/>
          </a:p>
          <a:p>
            <a:pPr marL="0" indent="0">
              <a:buNone/>
            </a:pPr>
            <a:endParaRPr kumimoji="1" lang="ja-JP" altLang="en-US"/>
          </a:p>
        </p:txBody>
      </p:sp>
      <p:sp>
        <p:nvSpPr>
          <p:cNvPr id="4" name="スライド番号プレースホルダー 3">
            <a:extLst>
              <a:ext uri="{FF2B5EF4-FFF2-40B4-BE49-F238E27FC236}">
                <a16:creationId xmlns:a16="http://schemas.microsoft.com/office/drawing/2014/main" id="{5F1153ED-CB77-564A-DA0B-6812F35AF0BE}"/>
              </a:ext>
            </a:extLst>
          </p:cNvPr>
          <p:cNvSpPr>
            <a:spLocks noGrp="1"/>
          </p:cNvSpPr>
          <p:nvPr>
            <p:ph type="sldNum" sz="quarter" idx="11"/>
          </p:nvPr>
        </p:nvSpPr>
        <p:spPr/>
        <p:txBody>
          <a:bodyPr/>
          <a:lstStyle/>
          <a:p>
            <a:fld id="{E0D93E39-1AFA-2A42-BAF4-0CDD5F6E9A80}" type="slidenum">
              <a:rPr kumimoji="1" lang="ja-JP" altLang="en-US" smtClean="0"/>
              <a:pPr/>
              <a:t>4</a:t>
            </a:fld>
            <a:endParaRPr kumimoji="1" lang="ja-JP" altLang="en-US"/>
          </a:p>
        </p:txBody>
      </p:sp>
      <p:sp>
        <p:nvSpPr>
          <p:cNvPr id="5" name="テキスト ボックス 4">
            <a:extLst>
              <a:ext uri="{FF2B5EF4-FFF2-40B4-BE49-F238E27FC236}">
                <a16:creationId xmlns:a16="http://schemas.microsoft.com/office/drawing/2014/main" id="{ACAF1815-E5CD-8C8D-2860-5C3F9311F90C}"/>
              </a:ext>
            </a:extLst>
          </p:cNvPr>
          <p:cNvSpPr txBox="1"/>
          <p:nvPr/>
        </p:nvSpPr>
        <p:spPr>
          <a:xfrm>
            <a:off x="1762934" y="3751518"/>
            <a:ext cx="512618" cy="48963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24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7" name="山形 6">
            <a:extLst>
              <a:ext uri="{FF2B5EF4-FFF2-40B4-BE49-F238E27FC236}">
                <a16:creationId xmlns:a16="http://schemas.microsoft.com/office/drawing/2014/main" id="{A571941B-6E1E-23F3-7D38-4555FBAA9FB5}"/>
              </a:ext>
            </a:extLst>
          </p:cNvPr>
          <p:cNvSpPr/>
          <p:nvPr/>
        </p:nvSpPr>
        <p:spPr>
          <a:xfrm>
            <a:off x="1845003" y="3347344"/>
            <a:ext cx="1107567" cy="590709"/>
          </a:xfrm>
          <a:prstGeom prst="chevron">
            <a:avLst>
              <a:gd name="adj" fmla="val 25385"/>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Medium" panose="020B0400000000000000" pitchFamily="34" charset="-128"/>
                <a:ea typeface="Yu Gothic Medium" panose="020B0400000000000000" pitchFamily="34" charset="-128"/>
              </a:rPr>
              <a:t>並列合成</a:t>
            </a:r>
            <a:endParaRPr kumimoji="1" lang="en-US" altLang="ja-JP" dirty="0">
              <a:solidFill>
                <a:schemeClr val="tx1"/>
              </a:solidFill>
              <a:latin typeface="Yu Gothic Medium" panose="020B0400000000000000" pitchFamily="34" charset="-128"/>
              <a:ea typeface="Yu Gothic Medium" panose="020B0400000000000000" pitchFamily="34" charset="-128"/>
            </a:endParaRPr>
          </a:p>
        </p:txBody>
      </p:sp>
      <p:sp>
        <p:nvSpPr>
          <p:cNvPr id="9" name="テキスト ボックス 8">
            <a:extLst>
              <a:ext uri="{FF2B5EF4-FFF2-40B4-BE49-F238E27FC236}">
                <a16:creationId xmlns:a16="http://schemas.microsoft.com/office/drawing/2014/main" id="{92CEA110-A8EF-080A-7233-6608C0427C05}"/>
              </a:ext>
            </a:extLst>
          </p:cNvPr>
          <p:cNvSpPr txBox="1"/>
          <p:nvPr/>
        </p:nvSpPr>
        <p:spPr>
          <a:xfrm>
            <a:off x="6687792" y="5524707"/>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1" name="テキスト ボックス 10">
            <a:extLst>
              <a:ext uri="{FF2B5EF4-FFF2-40B4-BE49-F238E27FC236}">
                <a16:creationId xmlns:a16="http://schemas.microsoft.com/office/drawing/2014/main" id="{17A03623-9911-838F-EFB0-C3176D9D25C6}"/>
              </a:ext>
            </a:extLst>
          </p:cNvPr>
          <p:cNvSpPr txBox="1"/>
          <p:nvPr/>
        </p:nvSpPr>
        <p:spPr>
          <a:xfrm>
            <a:off x="779377" y="3351687"/>
            <a:ext cx="45719" cy="45719"/>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pic>
        <p:nvPicPr>
          <p:cNvPr id="12" name="図 11" descr="ダイアグラム&#10;&#10;AI 生成コンテンツは誤りを含む可能性があります。">
            <a:extLst>
              <a:ext uri="{FF2B5EF4-FFF2-40B4-BE49-F238E27FC236}">
                <a16:creationId xmlns:a16="http://schemas.microsoft.com/office/drawing/2014/main" id="{99BEED69-E825-0390-80CD-8A63619AFB69}"/>
              </a:ext>
            </a:extLst>
          </p:cNvPr>
          <p:cNvPicPr>
            <a:picLocks noChangeAspect="1"/>
          </p:cNvPicPr>
          <p:nvPr/>
        </p:nvPicPr>
        <p:blipFill>
          <a:blip r:embed="rId3"/>
          <a:stretch>
            <a:fillRect/>
          </a:stretch>
        </p:blipFill>
        <p:spPr>
          <a:xfrm>
            <a:off x="248810" y="2978250"/>
            <a:ext cx="1142025" cy="380675"/>
          </a:xfrm>
          <a:prstGeom prst="rect">
            <a:avLst/>
          </a:prstGeom>
        </p:spPr>
      </p:pic>
      <p:pic>
        <p:nvPicPr>
          <p:cNvPr id="13" name="図 12" descr="ダイアグラム&#10;&#10;AI 生成コンテンツは誤りを含む可能性があります。">
            <a:extLst>
              <a:ext uri="{FF2B5EF4-FFF2-40B4-BE49-F238E27FC236}">
                <a16:creationId xmlns:a16="http://schemas.microsoft.com/office/drawing/2014/main" id="{62F87959-DCB5-8C4A-6A74-AF8ADEF52C07}"/>
              </a:ext>
            </a:extLst>
          </p:cNvPr>
          <p:cNvPicPr>
            <a:picLocks noChangeAspect="1"/>
          </p:cNvPicPr>
          <p:nvPr/>
        </p:nvPicPr>
        <p:blipFill>
          <a:blip r:embed="rId4"/>
          <a:stretch>
            <a:fillRect/>
          </a:stretch>
        </p:blipFill>
        <p:spPr>
          <a:xfrm>
            <a:off x="248810" y="3414555"/>
            <a:ext cx="1255688" cy="505955"/>
          </a:xfrm>
          <a:prstGeom prst="rect">
            <a:avLst/>
          </a:prstGeom>
        </p:spPr>
      </p:pic>
      <p:pic>
        <p:nvPicPr>
          <p:cNvPr id="14" name="図 13" descr="ダイアグラム&#10;&#10;AI 生成コンテンツは誤りを含む可能性があります。">
            <a:extLst>
              <a:ext uri="{FF2B5EF4-FFF2-40B4-BE49-F238E27FC236}">
                <a16:creationId xmlns:a16="http://schemas.microsoft.com/office/drawing/2014/main" id="{35740E9A-C9BD-C8CB-3B4B-896D3E3B0BEF}"/>
              </a:ext>
            </a:extLst>
          </p:cNvPr>
          <p:cNvPicPr>
            <a:picLocks noChangeAspect="1"/>
          </p:cNvPicPr>
          <p:nvPr/>
        </p:nvPicPr>
        <p:blipFill>
          <a:blip r:embed="rId5"/>
          <a:stretch>
            <a:fillRect/>
          </a:stretch>
        </p:blipFill>
        <p:spPr>
          <a:xfrm>
            <a:off x="248810" y="4972743"/>
            <a:ext cx="1181186" cy="571694"/>
          </a:xfrm>
          <a:prstGeom prst="rect">
            <a:avLst/>
          </a:prstGeom>
        </p:spPr>
      </p:pic>
      <p:sp>
        <p:nvSpPr>
          <p:cNvPr id="15" name="テキスト ボックス 14">
            <a:extLst>
              <a:ext uri="{FF2B5EF4-FFF2-40B4-BE49-F238E27FC236}">
                <a16:creationId xmlns:a16="http://schemas.microsoft.com/office/drawing/2014/main" id="{2A8E65B8-FBC3-F28B-7050-177FD82C765D}"/>
              </a:ext>
            </a:extLst>
          </p:cNvPr>
          <p:cNvSpPr txBox="1"/>
          <p:nvPr/>
        </p:nvSpPr>
        <p:spPr>
          <a:xfrm>
            <a:off x="373522" y="2512638"/>
            <a:ext cx="2682640"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F73B7566-372E-1DB2-41C3-51C7C5B3D7E5}"/>
              </a:ext>
            </a:extLst>
          </p:cNvPr>
          <p:cNvSpPr txBox="1"/>
          <p:nvPr/>
        </p:nvSpPr>
        <p:spPr>
          <a:xfrm>
            <a:off x="300172" y="4682652"/>
            <a:ext cx="482082" cy="783204"/>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監視モデル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20" name="テキスト ボックス 19">
            <a:extLst>
              <a:ext uri="{FF2B5EF4-FFF2-40B4-BE49-F238E27FC236}">
                <a16:creationId xmlns:a16="http://schemas.microsoft.com/office/drawing/2014/main" id="{31965602-BFBE-34EC-3D7A-03775611333D}"/>
              </a:ext>
            </a:extLst>
          </p:cNvPr>
          <p:cNvSpPr txBox="1"/>
          <p:nvPr/>
        </p:nvSpPr>
        <p:spPr>
          <a:xfrm>
            <a:off x="8861034" y="4489833"/>
            <a:ext cx="2682640"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panose="020B0400000000000000" pitchFamily="34" charset="-128"/>
                <a:ea typeface="Yu Gothic" panose="020B0400000000000000" pitchFamily="34" charset="-128"/>
              </a:rPr>
              <a:t>　制御器：</a:t>
            </a:r>
            <a:r>
              <a:rPr kumimoji="1" lang="en-US" altLang="ja-JP" sz="1600" b="1" dirty="0">
                <a:solidFill>
                  <a:sysClr val="windowText" lastClr="000000"/>
                </a:solidFill>
                <a:latin typeface="Yu Gothic" panose="020B0400000000000000" pitchFamily="34" charset="-128"/>
                <a:ea typeface="Yu Gothic" panose="020B0400000000000000" pitchFamily="34" charset="-128"/>
              </a:rPr>
              <a:t>14</a:t>
            </a:r>
            <a:r>
              <a:rPr kumimoji="1" lang="ja-JP" altLang="en-US" sz="1600" b="1">
                <a:solidFill>
                  <a:sysClr val="windowText" lastClr="000000"/>
                </a:solidFill>
                <a:latin typeface="Yu Gothic" panose="020B0400000000000000" pitchFamily="34" charset="-128"/>
                <a:ea typeface="Yu Gothic" panose="020B0400000000000000" pitchFamily="34" charset="-128"/>
              </a:rPr>
              <a:t>状態</a:t>
            </a:r>
            <a:endParaRPr kumimoji="1" lang="ja-JP" altLang="en-US"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pic>
        <p:nvPicPr>
          <p:cNvPr id="21" name="図 20" descr="挿絵, 時計 が含まれている画像&#10;&#10;AI 生成コンテンツは誤りを含む可能性があります。">
            <a:extLst>
              <a:ext uri="{FF2B5EF4-FFF2-40B4-BE49-F238E27FC236}">
                <a16:creationId xmlns:a16="http://schemas.microsoft.com/office/drawing/2014/main" id="{DFD3B0DC-85F0-65D1-878A-6AA26F1A577C}"/>
              </a:ext>
            </a:extLst>
          </p:cNvPr>
          <p:cNvPicPr>
            <a:picLocks noChangeAspect="1"/>
          </p:cNvPicPr>
          <p:nvPr/>
        </p:nvPicPr>
        <p:blipFill>
          <a:blip r:embed="rId6"/>
          <a:stretch>
            <a:fillRect/>
          </a:stretch>
        </p:blipFill>
        <p:spPr>
          <a:xfrm>
            <a:off x="248810" y="4013482"/>
            <a:ext cx="1040600" cy="445971"/>
          </a:xfrm>
          <a:prstGeom prst="rect">
            <a:avLst/>
          </a:prstGeom>
        </p:spPr>
      </p:pic>
      <p:pic>
        <p:nvPicPr>
          <p:cNvPr id="22" name="図 21" descr="抽象, 挿絵, 時計 が含まれている画像&#10;&#10;AI 生成コンテンツは誤りを含む可能性があります。">
            <a:extLst>
              <a:ext uri="{FF2B5EF4-FFF2-40B4-BE49-F238E27FC236}">
                <a16:creationId xmlns:a16="http://schemas.microsoft.com/office/drawing/2014/main" id="{55647334-7B04-315F-793D-9F0DBB107196}"/>
              </a:ext>
            </a:extLst>
          </p:cNvPr>
          <p:cNvPicPr>
            <a:picLocks noChangeAspect="1"/>
          </p:cNvPicPr>
          <p:nvPr/>
        </p:nvPicPr>
        <p:blipFill>
          <a:blip r:embed="rId7"/>
          <a:stretch>
            <a:fillRect/>
          </a:stretch>
        </p:blipFill>
        <p:spPr>
          <a:xfrm>
            <a:off x="248810" y="5653228"/>
            <a:ext cx="1239259" cy="483101"/>
          </a:xfrm>
          <a:prstGeom prst="rect">
            <a:avLst/>
          </a:prstGeom>
        </p:spPr>
      </p:pic>
      <p:sp>
        <p:nvSpPr>
          <p:cNvPr id="25" name="角丸四角形 24">
            <a:extLst>
              <a:ext uri="{FF2B5EF4-FFF2-40B4-BE49-F238E27FC236}">
                <a16:creationId xmlns:a16="http://schemas.microsoft.com/office/drawing/2014/main" id="{CAC2B57F-CB49-1DDF-9129-DD13FEDB123D}"/>
              </a:ext>
            </a:extLst>
          </p:cNvPr>
          <p:cNvSpPr/>
          <p:nvPr/>
        </p:nvSpPr>
        <p:spPr>
          <a:xfrm>
            <a:off x="227807" y="2825946"/>
            <a:ext cx="1307099" cy="16335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 25">
            <a:extLst>
              <a:ext uri="{FF2B5EF4-FFF2-40B4-BE49-F238E27FC236}">
                <a16:creationId xmlns:a16="http://schemas.microsoft.com/office/drawing/2014/main" id="{093D926C-4BF4-8AC5-5F0B-0FC4C8978B42}"/>
              </a:ext>
            </a:extLst>
          </p:cNvPr>
          <p:cNvSpPr/>
          <p:nvPr/>
        </p:nvSpPr>
        <p:spPr>
          <a:xfrm>
            <a:off x="188844" y="4957737"/>
            <a:ext cx="1299225" cy="13069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A5892DB8-1CFB-C948-68E0-B3BDDB6042B3}"/>
              </a:ext>
            </a:extLst>
          </p:cNvPr>
          <p:cNvCxnSpPr>
            <a:cxnSpLocks/>
            <a:stCxn id="25" idx="3"/>
            <a:endCxn id="7" idx="1"/>
          </p:cNvCxnSpPr>
          <p:nvPr/>
        </p:nvCxnSpPr>
        <p:spPr>
          <a:xfrm flipV="1">
            <a:off x="1534906" y="3642699"/>
            <a:ext cx="46004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6" name="図 35" descr="ダイアグラム&#10;&#10;AI 生成コンテンツは誤りを含む可能性があります。">
            <a:extLst>
              <a:ext uri="{FF2B5EF4-FFF2-40B4-BE49-F238E27FC236}">
                <a16:creationId xmlns:a16="http://schemas.microsoft.com/office/drawing/2014/main" id="{8BD5815E-C4AF-ED95-5F2C-397EF854AB35}"/>
              </a:ext>
            </a:extLst>
          </p:cNvPr>
          <p:cNvPicPr>
            <a:picLocks noChangeAspect="1"/>
          </p:cNvPicPr>
          <p:nvPr/>
        </p:nvPicPr>
        <p:blipFill>
          <a:blip r:embed="rId8"/>
          <a:stretch>
            <a:fillRect/>
          </a:stretch>
        </p:blipFill>
        <p:spPr>
          <a:xfrm>
            <a:off x="3366259" y="3002824"/>
            <a:ext cx="2657751" cy="1279749"/>
          </a:xfrm>
          <a:prstGeom prst="rect">
            <a:avLst/>
          </a:prstGeom>
        </p:spPr>
      </p:pic>
      <p:cxnSp>
        <p:nvCxnSpPr>
          <p:cNvPr id="38" name="直線矢印コネクタ 37">
            <a:extLst>
              <a:ext uri="{FF2B5EF4-FFF2-40B4-BE49-F238E27FC236}">
                <a16:creationId xmlns:a16="http://schemas.microsoft.com/office/drawing/2014/main" id="{8719A460-3B87-4A90-3F5B-18DF79AED6A4}"/>
              </a:ext>
            </a:extLst>
          </p:cNvPr>
          <p:cNvCxnSpPr>
            <a:cxnSpLocks/>
            <a:stCxn id="7" idx="3"/>
            <a:endCxn id="36" idx="1"/>
          </p:cNvCxnSpPr>
          <p:nvPr/>
        </p:nvCxnSpPr>
        <p:spPr>
          <a:xfrm>
            <a:off x="2952570" y="3642699"/>
            <a:ext cx="4136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1" name="図 40" descr="ダイアグラム&#10;&#10;AI 生成コンテンツは誤りを含む可能性があります。">
            <a:extLst>
              <a:ext uri="{FF2B5EF4-FFF2-40B4-BE49-F238E27FC236}">
                <a16:creationId xmlns:a16="http://schemas.microsoft.com/office/drawing/2014/main" id="{9072A284-E5AC-CBB0-6BAA-1F1DEFA8BD86}"/>
              </a:ext>
            </a:extLst>
          </p:cNvPr>
          <p:cNvPicPr>
            <a:picLocks noChangeAspect="1"/>
          </p:cNvPicPr>
          <p:nvPr/>
        </p:nvPicPr>
        <p:blipFill>
          <a:blip r:embed="rId9"/>
          <a:stretch>
            <a:fillRect/>
          </a:stretch>
        </p:blipFill>
        <p:spPr>
          <a:xfrm>
            <a:off x="7496864" y="4924012"/>
            <a:ext cx="4349261" cy="1379116"/>
          </a:xfrm>
          <a:prstGeom prst="rect">
            <a:avLst/>
          </a:prstGeom>
        </p:spPr>
      </p:pic>
      <p:cxnSp>
        <p:nvCxnSpPr>
          <p:cNvPr id="43" name="直線矢印コネクタ 42">
            <a:extLst>
              <a:ext uri="{FF2B5EF4-FFF2-40B4-BE49-F238E27FC236}">
                <a16:creationId xmlns:a16="http://schemas.microsoft.com/office/drawing/2014/main" id="{0D18C00E-3B39-1EEB-8506-2567C7AB4468}"/>
              </a:ext>
            </a:extLst>
          </p:cNvPr>
          <p:cNvCxnSpPr>
            <a:cxnSpLocks/>
            <a:stCxn id="26" idx="3"/>
            <a:endCxn id="75" idx="1"/>
          </p:cNvCxnSpPr>
          <p:nvPr/>
        </p:nvCxnSpPr>
        <p:spPr>
          <a:xfrm>
            <a:off x="1488069" y="5611215"/>
            <a:ext cx="42040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コネクタ 70">
            <a:extLst>
              <a:ext uri="{FF2B5EF4-FFF2-40B4-BE49-F238E27FC236}">
                <a16:creationId xmlns:a16="http://schemas.microsoft.com/office/drawing/2014/main" id="{2DD32759-097E-3B7E-27DA-9F77D24B9ABE}"/>
              </a:ext>
            </a:extLst>
          </p:cNvPr>
          <p:cNvCxnSpPr>
            <a:cxnSpLocks/>
            <a:stCxn id="36" idx="2"/>
          </p:cNvCxnSpPr>
          <p:nvPr/>
        </p:nvCxnSpPr>
        <p:spPr>
          <a:xfrm flipH="1">
            <a:off x="4684222" y="4282573"/>
            <a:ext cx="10913" cy="1328641"/>
          </a:xfrm>
          <a:prstGeom prst="line">
            <a:avLst/>
          </a:prstGeom>
        </p:spPr>
        <p:style>
          <a:lnRef idx="1">
            <a:schemeClr val="dk1"/>
          </a:lnRef>
          <a:fillRef idx="0">
            <a:schemeClr val="dk1"/>
          </a:fillRef>
          <a:effectRef idx="0">
            <a:schemeClr val="dk1"/>
          </a:effectRef>
          <a:fontRef idx="minor">
            <a:schemeClr val="tx1"/>
          </a:fontRef>
        </p:style>
      </p:cxnSp>
      <p:sp>
        <p:nvSpPr>
          <p:cNvPr id="75" name="山形 74">
            <a:extLst>
              <a:ext uri="{FF2B5EF4-FFF2-40B4-BE49-F238E27FC236}">
                <a16:creationId xmlns:a16="http://schemas.microsoft.com/office/drawing/2014/main" id="{951F1897-CBD9-E588-67DC-696017837C72}"/>
              </a:ext>
            </a:extLst>
          </p:cNvPr>
          <p:cNvSpPr/>
          <p:nvPr/>
        </p:nvSpPr>
        <p:spPr>
          <a:xfrm>
            <a:off x="5542216" y="5315860"/>
            <a:ext cx="1107567" cy="590709"/>
          </a:xfrm>
          <a:prstGeom prst="chevron">
            <a:avLst>
              <a:gd name="adj" fmla="val 25385"/>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Yu Gothic Medium" panose="020B0400000000000000" pitchFamily="34" charset="-128"/>
                <a:ea typeface="Yu Gothic Medium" panose="020B0400000000000000" pitchFamily="34" charset="-128"/>
              </a:rPr>
              <a:t>安全性</a:t>
            </a:r>
            <a:br>
              <a:rPr kumimoji="1" lang="en-US" altLang="ja-JP" sz="1200" dirty="0">
                <a:solidFill>
                  <a:schemeClr val="tx1"/>
                </a:solidFill>
                <a:latin typeface="Yu Gothic Medium" panose="020B0400000000000000" pitchFamily="34" charset="-128"/>
                <a:ea typeface="Yu Gothic Medium" panose="020B0400000000000000" pitchFamily="34" charset="-128"/>
              </a:rPr>
            </a:br>
            <a:r>
              <a:rPr kumimoji="1" lang="ja-JP" altLang="en-US" sz="1200">
                <a:solidFill>
                  <a:schemeClr val="tx1"/>
                </a:solidFill>
                <a:latin typeface="Yu Gothic Medium" panose="020B0400000000000000" pitchFamily="34" charset="-128"/>
                <a:ea typeface="Yu Gothic Medium" panose="020B0400000000000000" pitchFamily="34" charset="-128"/>
              </a:rPr>
              <a:t>分析</a:t>
            </a:r>
            <a:endParaRPr kumimoji="1" lang="en-US" altLang="ja-JP" sz="1200" dirty="0">
              <a:solidFill>
                <a:schemeClr val="tx1"/>
              </a:solidFill>
              <a:latin typeface="Yu Gothic Medium" panose="020B0400000000000000" pitchFamily="34" charset="-128"/>
              <a:ea typeface="Yu Gothic Medium" panose="020B0400000000000000" pitchFamily="34" charset="-128"/>
            </a:endParaRPr>
          </a:p>
        </p:txBody>
      </p:sp>
      <p:cxnSp>
        <p:nvCxnSpPr>
          <p:cNvPr id="79" name="直線矢印コネクタ 78">
            <a:extLst>
              <a:ext uri="{FF2B5EF4-FFF2-40B4-BE49-F238E27FC236}">
                <a16:creationId xmlns:a16="http://schemas.microsoft.com/office/drawing/2014/main" id="{FCBFF378-8C75-0BE5-3D62-A37CEAD9A50A}"/>
              </a:ext>
            </a:extLst>
          </p:cNvPr>
          <p:cNvCxnSpPr>
            <a:cxnSpLocks/>
            <a:stCxn id="75" idx="3"/>
            <a:endCxn id="41" idx="1"/>
          </p:cNvCxnSpPr>
          <p:nvPr/>
        </p:nvCxnSpPr>
        <p:spPr>
          <a:xfrm>
            <a:off x="6649783" y="5611215"/>
            <a:ext cx="847081" cy="23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テキスト ボックス 85">
            <a:extLst>
              <a:ext uri="{FF2B5EF4-FFF2-40B4-BE49-F238E27FC236}">
                <a16:creationId xmlns:a16="http://schemas.microsoft.com/office/drawing/2014/main" id="{96737E2E-9598-83DD-39D4-77D67A9A4A17}"/>
              </a:ext>
            </a:extLst>
          </p:cNvPr>
          <p:cNvSpPr txBox="1"/>
          <p:nvPr/>
        </p:nvSpPr>
        <p:spPr>
          <a:xfrm>
            <a:off x="3405550" y="2618503"/>
            <a:ext cx="2928557" cy="512956"/>
          </a:xfrm>
          <a:prstGeom prst="rect">
            <a:avLst/>
          </a:prstGeom>
        </p:spPr>
        <p:txBody>
          <a:bodyPr vert="horz" wrap="square" lIns="91440" tIns="45720" rIns="91440" bIns="45720" rtlCol="0">
            <a:normAutofit fontScale="925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panose="020B0400000000000000" pitchFamily="34" charset="-128"/>
                <a:ea typeface="Yu Gothic" panose="020B0400000000000000" pitchFamily="34" charset="-128"/>
              </a:rPr>
              <a:t>中間生成物：</a:t>
            </a:r>
            <a:r>
              <a:rPr kumimoji="1" lang="en-US" altLang="ja-JP" sz="1600" b="1" dirty="0">
                <a:solidFill>
                  <a:sysClr val="windowText" lastClr="000000"/>
                </a:solidFill>
                <a:latin typeface="Yu Gothic" panose="020B0400000000000000" pitchFamily="34" charset="-128"/>
                <a:ea typeface="Yu Gothic" panose="020B0400000000000000" pitchFamily="34" charset="-128"/>
              </a:rPr>
              <a:t>18</a:t>
            </a:r>
            <a:r>
              <a:rPr kumimoji="1" lang="ja-JP" altLang="en-US" sz="1600" b="1">
                <a:solidFill>
                  <a:sysClr val="windowText" lastClr="000000"/>
                </a:solidFill>
                <a:latin typeface="Yu Gothic" panose="020B0400000000000000" pitchFamily="34" charset="-128"/>
                <a:ea typeface="Yu Gothic" panose="020B0400000000000000" pitchFamily="34" charset="-128"/>
              </a:rPr>
              <a:t>状態</a:t>
            </a:r>
            <a:r>
              <a:rPr kumimoji="1" lang="en-US" altLang="ja-JP" sz="1600" dirty="0">
                <a:solidFill>
                  <a:sysClr val="windowText" lastClr="000000"/>
                </a:solidFill>
                <a:latin typeface="Yu Gothic" panose="020B0400000000000000" pitchFamily="34" charset="-128"/>
                <a:ea typeface="Yu Gothic" panose="020B0400000000000000" pitchFamily="34" charset="-128"/>
              </a:rPr>
              <a:t>(=3×3×2)</a:t>
            </a:r>
          </a:p>
        </p:txBody>
      </p:sp>
      <p:sp>
        <p:nvSpPr>
          <p:cNvPr id="87" name="右中かっこ 86">
            <a:extLst>
              <a:ext uri="{FF2B5EF4-FFF2-40B4-BE49-F238E27FC236}">
                <a16:creationId xmlns:a16="http://schemas.microsoft.com/office/drawing/2014/main" id="{3D14B53D-03BF-7423-5A64-D7B82A9E1DCB}"/>
              </a:ext>
            </a:extLst>
          </p:cNvPr>
          <p:cNvSpPr/>
          <p:nvPr/>
        </p:nvSpPr>
        <p:spPr>
          <a:xfrm rot="5400000">
            <a:off x="4502915" y="3202572"/>
            <a:ext cx="313761" cy="618035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88" name="テキスト ボックス 87">
            <a:extLst>
              <a:ext uri="{FF2B5EF4-FFF2-40B4-BE49-F238E27FC236}">
                <a16:creationId xmlns:a16="http://schemas.microsoft.com/office/drawing/2014/main" id="{5F12653A-E116-0725-5C69-334787B80B04}"/>
              </a:ext>
            </a:extLst>
          </p:cNvPr>
          <p:cNvSpPr txBox="1"/>
          <p:nvPr/>
        </p:nvSpPr>
        <p:spPr>
          <a:xfrm>
            <a:off x="3855544" y="6458968"/>
            <a:ext cx="2928557"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Yu Gothic" panose="020B0400000000000000" pitchFamily="34" charset="-128"/>
                <a:ea typeface="Yu Gothic" panose="020B0400000000000000" pitchFamily="34" charset="-128"/>
              </a:rPr>
              <a:t>離散制御器合成</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p:txBody>
      </p:sp>
      <p:sp>
        <p:nvSpPr>
          <p:cNvPr id="90" name="円形吹き出し 89">
            <a:extLst>
              <a:ext uri="{FF2B5EF4-FFF2-40B4-BE49-F238E27FC236}">
                <a16:creationId xmlns:a16="http://schemas.microsoft.com/office/drawing/2014/main" id="{89352C36-ED63-E3B7-565C-925C8CF81E48}"/>
              </a:ext>
            </a:extLst>
          </p:cNvPr>
          <p:cNvSpPr/>
          <p:nvPr/>
        </p:nvSpPr>
        <p:spPr>
          <a:xfrm>
            <a:off x="7639063" y="2849431"/>
            <a:ext cx="2292824" cy="1327994"/>
          </a:xfrm>
          <a:prstGeom prst="wedgeEllipseCallout">
            <a:avLst>
              <a:gd name="adj1" fmla="val -172024"/>
              <a:gd name="adj2" fmla="val -4849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Medium" panose="020B0400000000000000" pitchFamily="34" charset="-128"/>
                <a:ea typeface="Yu Gothic Medium" panose="020B0400000000000000" pitchFamily="34" charset="-128"/>
              </a:rPr>
              <a:t>中間生成物で状態数最大</a:t>
            </a:r>
          </a:p>
        </p:txBody>
      </p:sp>
    </p:spTree>
    <p:extLst>
      <p:ext uri="{BB962C8B-B14F-4D97-AF65-F5344CB8AC3E}">
        <p14:creationId xmlns:p14="http://schemas.microsoft.com/office/powerpoint/2010/main" val="3711243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045320-AC07-3E4E-C36F-D9FCD155EF42}"/>
              </a:ext>
            </a:extLst>
          </p:cNvPr>
          <p:cNvSpPr>
            <a:spLocks noGrp="1"/>
          </p:cNvSpPr>
          <p:nvPr>
            <p:ph type="title"/>
          </p:nvPr>
        </p:nvSpPr>
        <p:spPr/>
        <p:txBody>
          <a:bodyPr/>
          <a:lstStyle/>
          <a:p>
            <a:r>
              <a:rPr kumimoji="1" lang="ja-JP" altLang="en-US"/>
              <a:t>従来手法：段階的制御器合成</a:t>
            </a:r>
          </a:p>
        </p:txBody>
      </p:sp>
      <p:sp>
        <p:nvSpPr>
          <p:cNvPr id="3" name="コンテンツ プレースホルダー 2">
            <a:extLst>
              <a:ext uri="{FF2B5EF4-FFF2-40B4-BE49-F238E27FC236}">
                <a16:creationId xmlns:a16="http://schemas.microsoft.com/office/drawing/2014/main" id="{FA7B832B-1ADD-67E5-27B0-1F8F18B8F5AD}"/>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段階的制御器合成</a:t>
            </a:r>
            <a:r>
              <a:rPr kumimoji="1" lang="en-US" altLang="ja-JP" sz="1200" b="1" dirty="0">
                <a:latin typeface="Yu Gothic" panose="020B0400000000000000" pitchFamily="34" charset="-128"/>
                <a:ea typeface="Yu Gothic" panose="020B0400000000000000" pitchFamily="34" charset="-128"/>
              </a:rPr>
              <a:t>[1]</a:t>
            </a:r>
            <a:endParaRPr kumimoji="1" lang="en-US" altLang="ja-JP" sz="2400" b="1" dirty="0">
              <a:latin typeface="Yu Gothic" panose="020B0400000000000000" pitchFamily="34" charset="-128"/>
              <a:ea typeface="Yu Gothic" panose="020B0400000000000000" pitchFamily="34" charset="-128"/>
            </a:endParaRPr>
          </a:p>
          <a:p>
            <a:r>
              <a:rPr kumimoji="1" lang="ja-JP" altLang="en-US"/>
              <a:t>段階的に安全性を保証して制御器を合成する．</a:t>
            </a:r>
            <a:endParaRPr kumimoji="1" lang="en-US" altLang="ja-JP" dirty="0"/>
          </a:p>
          <a:p>
            <a:r>
              <a:rPr lang="ja-JP" altLang="en-US"/>
              <a:t>監視モデルごとに部分制御器を合成し，その部分制御器を以降入力とし，新たな部分制御器を合成する．</a:t>
            </a:r>
            <a:br>
              <a:rPr lang="en-US" altLang="ja-JP" dirty="0"/>
            </a:br>
            <a:r>
              <a:rPr lang="ja-JP" altLang="en-US"/>
              <a:t>これを，全ての監視モデルが環境モデルに反映されるまで行う．</a:t>
            </a:r>
            <a:endParaRPr kumimoji="1" lang="ja-JP" altLang="en-US"/>
          </a:p>
        </p:txBody>
      </p:sp>
      <p:sp>
        <p:nvSpPr>
          <p:cNvPr id="4" name="スライド番号プレースホルダー 3">
            <a:extLst>
              <a:ext uri="{FF2B5EF4-FFF2-40B4-BE49-F238E27FC236}">
                <a16:creationId xmlns:a16="http://schemas.microsoft.com/office/drawing/2014/main" id="{04B23A80-1499-E45C-17F7-65E3249F6E92}"/>
              </a:ext>
            </a:extLst>
          </p:cNvPr>
          <p:cNvSpPr>
            <a:spLocks noGrp="1"/>
          </p:cNvSpPr>
          <p:nvPr>
            <p:ph type="sldNum" sz="quarter" idx="11"/>
          </p:nvPr>
        </p:nvSpPr>
        <p:spPr/>
        <p:txBody>
          <a:bodyPr/>
          <a:lstStyle/>
          <a:p>
            <a:fld id="{E0D93E39-1AFA-2A42-BAF4-0CDD5F6E9A80}" type="slidenum">
              <a:rPr kumimoji="1" lang="ja-JP" altLang="en-US" smtClean="0"/>
              <a:pPr/>
              <a:t>5</a:t>
            </a:fld>
            <a:endParaRPr kumimoji="1" lang="ja-JP" altLang="en-US"/>
          </a:p>
        </p:txBody>
      </p:sp>
      <p:sp>
        <p:nvSpPr>
          <p:cNvPr id="7" name="角丸四角形 6">
            <a:extLst>
              <a:ext uri="{FF2B5EF4-FFF2-40B4-BE49-F238E27FC236}">
                <a16:creationId xmlns:a16="http://schemas.microsoft.com/office/drawing/2014/main" id="{FBF78721-07BE-284E-56FF-98EAF6D7A3F1}"/>
              </a:ext>
            </a:extLst>
          </p:cNvPr>
          <p:cNvSpPr/>
          <p:nvPr/>
        </p:nvSpPr>
        <p:spPr>
          <a:xfrm>
            <a:off x="188844"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754300FE-0124-6805-DD4A-6088617FBB44}"/>
              </a:ext>
            </a:extLst>
          </p:cNvPr>
          <p:cNvSpPr/>
          <p:nvPr/>
        </p:nvSpPr>
        <p:spPr>
          <a:xfrm>
            <a:off x="188844"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2EC7B43E-2C9A-97A8-AC7E-641D7F84263E}"/>
              </a:ext>
            </a:extLst>
          </p:cNvPr>
          <p:cNvSpPr/>
          <p:nvPr/>
        </p:nvSpPr>
        <p:spPr>
          <a:xfrm>
            <a:off x="351404"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0" name="角丸四角形 9">
            <a:extLst>
              <a:ext uri="{FF2B5EF4-FFF2-40B4-BE49-F238E27FC236}">
                <a16:creationId xmlns:a16="http://schemas.microsoft.com/office/drawing/2014/main" id="{F0152887-7F6E-B773-2320-203FB63D52C1}"/>
              </a:ext>
            </a:extLst>
          </p:cNvPr>
          <p:cNvSpPr/>
          <p:nvPr/>
        </p:nvSpPr>
        <p:spPr>
          <a:xfrm>
            <a:off x="351404" y="3605856"/>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1" name="角丸四角形 10">
            <a:extLst>
              <a:ext uri="{FF2B5EF4-FFF2-40B4-BE49-F238E27FC236}">
                <a16:creationId xmlns:a16="http://schemas.microsoft.com/office/drawing/2014/main" id="{A8E5861A-B1E7-ABD9-ED59-9C1F106C6B7C}"/>
              </a:ext>
            </a:extLst>
          </p:cNvPr>
          <p:cNvSpPr/>
          <p:nvPr/>
        </p:nvSpPr>
        <p:spPr>
          <a:xfrm>
            <a:off x="351404" y="3124208"/>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2" name="テキスト ボックス 11">
            <a:extLst>
              <a:ext uri="{FF2B5EF4-FFF2-40B4-BE49-F238E27FC236}">
                <a16:creationId xmlns:a16="http://schemas.microsoft.com/office/drawing/2014/main" id="{31443107-35EE-5D4A-8CE1-16F083874494}"/>
              </a:ext>
            </a:extLst>
          </p:cNvPr>
          <p:cNvSpPr txBox="1"/>
          <p:nvPr/>
        </p:nvSpPr>
        <p:spPr>
          <a:xfrm>
            <a:off x="351404"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3" name="角丸四角形 12">
            <a:extLst>
              <a:ext uri="{FF2B5EF4-FFF2-40B4-BE49-F238E27FC236}">
                <a16:creationId xmlns:a16="http://schemas.microsoft.com/office/drawing/2014/main" id="{687FA07B-F447-A8A4-5860-0DA778CF26AF}"/>
              </a:ext>
            </a:extLst>
          </p:cNvPr>
          <p:cNvSpPr/>
          <p:nvPr/>
        </p:nvSpPr>
        <p:spPr>
          <a:xfrm>
            <a:off x="372217"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4" name="角丸四角形 13">
            <a:extLst>
              <a:ext uri="{FF2B5EF4-FFF2-40B4-BE49-F238E27FC236}">
                <a16:creationId xmlns:a16="http://schemas.microsoft.com/office/drawing/2014/main" id="{26FCE1A2-A8F6-035B-8B6F-C06F3E0A6522}"/>
              </a:ext>
            </a:extLst>
          </p:cNvPr>
          <p:cNvSpPr/>
          <p:nvPr/>
        </p:nvSpPr>
        <p:spPr>
          <a:xfrm>
            <a:off x="372217"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5" name="角丸四角形 14">
            <a:extLst>
              <a:ext uri="{FF2B5EF4-FFF2-40B4-BE49-F238E27FC236}">
                <a16:creationId xmlns:a16="http://schemas.microsoft.com/office/drawing/2014/main" id="{572A2095-39A0-BB3A-5618-01E24C1EFC0D}"/>
              </a:ext>
            </a:extLst>
          </p:cNvPr>
          <p:cNvSpPr/>
          <p:nvPr/>
        </p:nvSpPr>
        <p:spPr>
          <a:xfrm>
            <a:off x="372217" y="5154411"/>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BA7115E2-F072-19BB-D721-C69B3758FE67}"/>
              </a:ext>
            </a:extLst>
          </p:cNvPr>
          <p:cNvSpPr txBox="1"/>
          <p:nvPr/>
        </p:nvSpPr>
        <p:spPr>
          <a:xfrm>
            <a:off x="372217"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7" name="角丸四角形 16">
            <a:extLst>
              <a:ext uri="{FF2B5EF4-FFF2-40B4-BE49-F238E27FC236}">
                <a16:creationId xmlns:a16="http://schemas.microsoft.com/office/drawing/2014/main" id="{3D09545D-F285-4925-E120-E146491AA5DD}"/>
              </a:ext>
            </a:extLst>
          </p:cNvPr>
          <p:cNvSpPr/>
          <p:nvPr/>
        </p:nvSpPr>
        <p:spPr>
          <a:xfrm>
            <a:off x="3245082" y="2707511"/>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E7E4DEF8-5CD8-9B44-D50A-8E23CC4DD60F}"/>
              </a:ext>
            </a:extLst>
          </p:cNvPr>
          <p:cNvSpPr/>
          <p:nvPr/>
        </p:nvSpPr>
        <p:spPr>
          <a:xfrm>
            <a:off x="3245082"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9BA17146-6F77-41B4-0A0E-4B604D2354BC}"/>
              </a:ext>
            </a:extLst>
          </p:cNvPr>
          <p:cNvSpPr/>
          <p:nvPr/>
        </p:nvSpPr>
        <p:spPr>
          <a:xfrm>
            <a:off x="3407642"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0" name="角丸四角形 19">
            <a:extLst>
              <a:ext uri="{FF2B5EF4-FFF2-40B4-BE49-F238E27FC236}">
                <a16:creationId xmlns:a16="http://schemas.microsoft.com/office/drawing/2014/main" id="{FF9AEF20-2683-50BE-1F41-4CA41AEB8C81}"/>
              </a:ext>
            </a:extLst>
          </p:cNvPr>
          <p:cNvSpPr/>
          <p:nvPr/>
        </p:nvSpPr>
        <p:spPr>
          <a:xfrm>
            <a:off x="3407642" y="3124208"/>
            <a:ext cx="914400" cy="9115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部分制御器</a:t>
            </a:r>
          </a:p>
        </p:txBody>
      </p:sp>
      <p:sp>
        <p:nvSpPr>
          <p:cNvPr id="21" name="テキスト ボックス 20">
            <a:extLst>
              <a:ext uri="{FF2B5EF4-FFF2-40B4-BE49-F238E27FC236}">
                <a16:creationId xmlns:a16="http://schemas.microsoft.com/office/drawing/2014/main" id="{866C4488-C378-EA5A-CDB6-F81AF17373C1}"/>
              </a:ext>
            </a:extLst>
          </p:cNvPr>
          <p:cNvSpPr txBox="1"/>
          <p:nvPr/>
        </p:nvSpPr>
        <p:spPr>
          <a:xfrm>
            <a:off x="3407642"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2" name="角丸四角形 21">
            <a:extLst>
              <a:ext uri="{FF2B5EF4-FFF2-40B4-BE49-F238E27FC236}">
                <a16:creationId xmlns:a16="http://schemas.microsoft.com/office/drawing/2014/main" id="{DAAC8C71-1388-55A1-94BA-B0EC26DEA582}"/>
              </a:ext>
            </a:extLst>
          </p:cNvPr>
          <p:cNvSpPr/>
          <p:nvPr/>
        </p:nvSpPr>
        <p:spPr>
          <a:xfrm>
            <a:off x="3428455"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3" name="角丸四角形 22">
            <a:extLst>
              <a:ext uri="{FF2B5EF4-FFF2-40B4-BE49-F238E27FC236}">
                <a16:creationId xmlns:a16="http://schemas.microsoft.com/office/drawing/2014/main" id="{5BAC6A0B-F2F1-F81E-47F0-248D31261C09}"/>
              </a:ext>
            </a:extLst>
          </p:cNvPr>
          <p:cNvSpPr/>
          <p:nvPr/>
        </p:nvSpPr>
        <p:spPr>
          <a:xfrm>
            <a:off x="3428455"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4" name="角丸四角形 23">
            <a:extLst>
              <a:ext uri="{FF2B5EF4-FFF2-40B4-BE49-F238E27FC236}">
                <a16:creationId xmlns:a16="http://schemas.microsoft.com/office/drawing/2014/main" id="{D1EB8FB6-9CE1-6433-F5C8-7B9C6ADBAE6E}"/>
              </a:ext>
            </a:extLst>
          </p:cNvPr>
          <p:cNvSpPr/>
          <p:nvPr/>
        </p:nvSpPr>
        <p:spPr>
          <a:xfrm>
            <a:off x="3428455" y="5154411"/>
            <a:ext cx="914400" cy="429904"/>
          </a:xfrm>
          <a:prstGeom prst="roundRect">
            <a:avLst/>
          </a:prstGeom>
          <a:no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C3F0DF1A-E58E-B889-EDC1-185614EDC23C}"/>
              </a:ext>
            </a:extLst>
          </p:cNvPr>
          <p:cNvSpPr txBox="1"/>
          <p:nvPr/>
        </p:nvSpPr>
        <p:spPr>
          <a:xfrm>
            <a:off x="3428455"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6" name="角丸四角形 25">
            <a:extLst>
              <a:ext uri="{FF2B5EF4-FFF2-40B4-BE49-F238E27FC236}">
                <a16:creationId xmlns:a16="http://schemas.microsoft.com/office/drawing/2014/main" id="{94FA6DA5-0918-88F8-87C5-35DAEE16FC62}"/>
              </a:ext>
            </a:extLst>
          </p:cNvPr>
          <p:cNvSpPr/>
          <p:nvPr/>
        </p:nvSpPr>
        <p:spPr>
          <a:xfrm>
            <a:off x="9617102"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FAFC4B8D-7619-4730-5622-A30845431149}"/>
              </a:ext>
            </a:extLst>
          </p:cNvPr>
          <p:cNvSpPr/>
          <p:nvPr/>
        </p:nvSpPr>
        <p:spPr>
          <a:xfrm>
            <a:off x="9617102"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7924D3FF-EFF6-96C1-FAC0-B8A2424318F6}"/>
              </a:ext>
            </a:extLst>
          </p:cNvPr>
          <p:cNvSpPr/>
          <p:nvPr/>
        </p:nvSpPr>
        <p:spPr>
          <a:xfrm>
            <a:off x="9779662" y="3124208"/>
            <a:ext cx="914400" cy="13932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制御器</a:t>
            </a:r>
          </a:p>
        </p:txBody>
      </p:sp>
      <p:sp>
        <p:nvSpPr>
          <p:cNvPr id="29" name="テキスト ボックス 28">
            <a:extLst>
              <a:ext uri="{FF2B5EF4-FFF2-40B4-BE49-F238E27FC236}">
                <a16:creationId xmlns:a16="http://schemas.microsoft.com/office/drawing/2014/main" id="{FA9A8C4E-CAC1-43F4-08D4-85D6BDF6349E}"/>
              </a:ext>
            </a:extLst>
          </p:cNvPr>
          <p:cNvSpPr txBox="1"/>
          <p:nvPr/>
        </p:nvSpPr>
        <p:spPr>
          <a:xfrm>
            <a:off x="9779662"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0" name="角丸四角形 29">
            <a:extLst>
              <a:ext uri="{FF2B5EF4-FFF2-40B4-BE49-F238E27FC236}">
                <a16:creationId xmlns:a16="http://schemas.microsoft.com/office/drawing/2014/main" id="{68D82C26-CDD9-C8DD-0D32-50E9C0B2256A}"/>
              </a:ext>
            </a:extLst>
          </p:cNvPr>
          <p:cNvSpPr/>
          <p:nvPr/>
        </p:nvSpPr>
        <p:spPr>
          <a:xfrm>
            <a:off x="9800475" y="6117707"/>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1" name="角丸四角形 30">
            <a:extLst>
              <a:ext uri="{FF2B5EF4-FFF2-40B4-BE49-F238E27FC236}">
                <a16:creationId xmlns:a16="http://schemas.microsoft.com/office/drawing/2014/main" id="{85640A92-CDE6-E7CE-0AFD-ED46199FE10A}"/>
              </a:ext>
            </a:extLst>
          </p:cNvPr>
          <p:cNvSpPr/>
          <p:nvPr/>
        </p:nvSpPr>
        <p:spPr>
          <a:xfrm>
            <a:off x="9800475" y="5636059"/>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2" name="角丸四角形 31">
            <a:extLst>
              <a:ext uri="{FF2B5EF4-FFF2-40B4-BE49-F238E27FC236}">
                <a16:creationId xmlns:a16="http://schemas.microsoft.com/office/drawing/2014/main" id="{A49DDB2A-9947-C11A-0949-5ECC06B548D2}"/>
              </a:ext>
            </a:extLst>
          </p:cNvPr>
          <p:cNvSpPr/>
          <p:nvPr/>
        </p:nvSpPr>
        <p:spPr>
          <a:xfrm>
            <a:off x="9800475" y="5154411"/>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3" name="テキスト ボックス 32">
            <a:extLst>
              <a:ext uri="{FF2B5EF4-FFF2-40B4-BE49-F238E27FC236}">
                <a16:creationId xmlns:a16="http://schemas.microsoft.com/office/drawing/2014/main" id="{5F0D1A5E-7F43-786D-3B9D-534A2C3E6A19}"/>
              </a:ext>
            </a:extLst>
          </p:cNvPr>
          <p:cNvSpPr txBox="1"/>
          <p:nvPr/>
        </p:nvSpPr>
        <p:spPr>
          <a:xfrm>
            <a:off x="9800475"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4" name="山形 33">
            <a:extLst>
              <a:ext uri="{FF2B5EF4-FFF2-40B4-BE49-F238E27FC236}">
                <a16:creationId xmlns:a16="http://schemas.microsoft.com/office/drawing/2014/main" id="{92D5C5F0-40CE-9B0A-B71B-A3EAF8EC5AA3}"/>
              </a:ext>
            </a:extLst>
          </p:cNvPr>
          <p:cNvSpPr/>
          <p:nvPr/>
        </p:nvSpPr>
        <p:spPr>
          <a:xfrm>
            <a:off x="1494877" y="4235276"/>
            <a:ext cx="1531846"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36" name="カギ線コネクタ 35">
            <a:extLst>
              <a:ext uri="{FF2B5EF4-FFF2-40B4-BE49-F238E27FC236}">
                <a16:creationId xmlns:a16="http://schemas.microsoft.com/office/drawing/2014/main" id="{004128C6-DB1F-E56A-2A37-2F2F8B9DC28B}"/>
              </a:ext>
            </a:extLst>
          </p:cNvPr>
          <p:cNvCxnSpPr>
            <a:cxnSpLocks/>
            <a:stCxn id="7" idx="3"/>
            <a:endCxn id="34" idx="1"/>
          </p:cNvCxnSpPr>
          <p:nvPr/>
        </p:nvCxnSpPr>
        <p:spPr>
          <a:xfrm>
            <a:off x="1428364" y="3644592"/>
            <a:ext cx="260727" cy="973221"/>
          </a:xfrm>
          <a:prstGeom prst="bentConnector3">
            <a:avLst>
              <a:gd name="adj1" fmla="val 2027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カギ線コネクタ 36">
            <a:extLst>
              <a:ext uri="{FF2B5EF4-FFF2-40B4-BE49-F238E27FC236}">
                <a16:creationId xmlns:a16="http://schemas.microsoft.com/office/drawing/2014/main" id="{E43F55CE-62CA-290E-28F8-E839BB77654F}"/>
              </a:ext>
            </a:extLst>
          </p:cNvPr>
          <p:cNvCxnSpPr>
            <a:cxnSpLocks/>
            <a:stCxn id="8" idx="3"/>
            <a:endCxn id="34" idx="1"/>
          </p:cNvCxnSpPr>
          <p:nvPr/>
        </p:nvCxnSpPr>
        <p:spPr>
          <a:xfrm flipV="1">
            <a:off x="1428364" y="4617813"/>
            <a:ext cx="260727" cy="1053600"/>
          </a:xfrm>
          <a:prstGeom prst="bentConnector3">
            <a:avLst>
              <a:gd name="adj1" fmla="val 2027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カギ線コネクタ 37">
            <a:extLst>
              <a:ext uri="{FF2B5EF4-FFF2-40B4-BE49-F238E27FC236}">
                <a16:creationId xmlns:a16="http://schemas.microsoft.com/office/drawing/2014/main" id="{1130102E-707C-C55B-767D-A9135FCB91A5}"/>
              </a:ext>
            </a:extLst>
          </p:cNvPr>
          <p:cNvCxnSpPr>
            <a:cxnSpLocks/>
            <a:endCxn id="17" idx="1"/>
          </p:cNvCxnSpPr>
          <p:nvPr/>
        </p:nvCxnSpPr>
        <p:spPr>
          <a:xfrm flipV="1">
            <a:off x="3027030"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カギ線コネクタ 38">
            <a:extLst>
              <a:ext uri="{FF2B5EF4-FFF2-40B4-BE49-F238E27FC236}">
                <a16:creationId xmlns:a16="http://schemas.microsoft.com/office/drawing/2014/main" id="{5B075E1B-C15B-F43D-30C6-FA379DF2D8C7}"/>
              </a:ext>
            </a:extLst>
          </p:cNvPr>
          <p:cNvCxnSpPr>
            <a:cxnSpLocks/>
            <a:endCxn id="18" idx="1"/>
          </p:cNvCxnSpPr>
          <p:nvPr/>
        </p:nvCxnSpPr>
        <p:spPr>
          <a:xfrm>
            <a:off x="3027030"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山形 39">
            <a:extLst>
              <a:ext uri="{FF2B5EF4-FFF2-40B4-BE49-F238E27FC236}">
                <a16:creationId xmlns:a16="http://schemas.microsoft.com/office/drawing/2014/main" id="{FD723D80-ACE9-D290-3295-E5AD9277270B}"/>
              </a:ext>
            </a:extLst>
          </p:cNvPr>
          <p:cNvSpPr/>
          <p:nvPr/>
        </p:nvSpPr>
        <p:spPr>
          <a:xfrm>
            <a:off x="4631229" y="4235277"/>
            <a:ext cx="1421036"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42" name="カギ線コネクタ 41">
            <a:extLst>
              <a:ext uri="{FF2B5EF4-FFF2-40B4-BE49-F238E27FC236}">
                <a16:creationId xmlns:a16="http://schemas.microsoft.com/office/drawing/2014/main" id="{F56A7A92-E8B1-ED3C-9B98-9228410B555F}"/>
              </a:ext>
            </a:extLst>
          </p:cNvPr>
          <p:cNvCxnSpPr>
            <a:cxnSpLocks/>
            <a:stCxn id="17" idx="3"/>
            <a:endCxn id="40" idx="1"/>
          </p:cNvCxnSpPr>
          <p:nvPr/>
        </p:nvCxnSpPr>
        <p:spPr>
          <a:xfrm>
            <a:off x="4484602" y="3632071"/>
            <a:ext cx="340841" cy="985743"/>
          </a:xfrm>
          <a:prstGeom prst="bentConnector3">
            <a:avLst>
              <a:gd name="adj1" fmla="val 3913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カギ線コネクタ 42">
            <a:extLst>
              <a:ext uri="{FF2B5EF4-FFF2-40B4-BE49-F238E27FC236}">
                <a16:creationId xmlns:a16="http://schemas.microsoft.com/office/drawing/2014/main" id="{12758BA1-7A5F-1C56-0E5C-ABE2A492728E}"/>
              </a:ext>
            </a:extLst>
          </p:cNvPr>
          <p:cNvCxnSpPr>
            <a:cxnSpLocks/>
            <a:stCxn id="18" idx="3"/>
            <a:endCxn id="40" idx="1"/>
          </p:cNvCxnSpPr>
          <p:nvPr/>
        </p:nvCxnSpPr>
        <p:spPr>
          <a:xfrm flipV="1">
            <a:off x="4484602" y="4617814"/>
            <a:ext cx="340841" cy="1053599"/>
          </a:xfrm>
          <a:prstGeom prst="bentConnector3">
            <a:avLst>
              <a:gd name="adj1" fmla="val 3934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山形 43">
            <a:extLst>
              <a:ext uri="{FF2B5EF4-FFF2-40B4-BE49-F238E27FC236}">
                <a16:creationId xmlns:a16="http://schemas.microsoft.com/office/drawing/2014/main" id="{F0F7B3FC-F534-C50B-3AA8-952AE43B0776}"/>
              </a:ext>
            </a:extLst>
          </p:cNvPr>
          <p:cNvSpPr/>
          <p:nvPr/>
        </p:nvSpPr>
        <p:spPr>
          <a:xfrm>
            <a:off x="7866590" y="4235276"/>
            <a:ext cx="1531846"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46" name="カギ線コネクタ 45">
            <a:extLst>
              <a:ext uri="{FF2B5EF4-FFF2-40B4-BE49-F238E27FC236}">
                <a16:creationId xmlns:a16="http://schemas.microsoft.com/office/drawing/2014/main" id="{D7A7BD7C-3B01-904E-0709-D44C6729E869}"/>
              </a:ext>
            </a:extLst>
          </p:cNvPr>
          <p:cNvCxnSpPr>
            <a:cxnSpLocks/>
          </p:cNvCxnSpPr>
          <p:nvPr/>
        </p:nvCxnSpPr>
        <p:spPr>
          <a:xfrm flipV="1">
            <a:off x="9398743"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カギ線コネクタ 46">
            <a:extLst>
              <a:ext uri="{FF2B5EF4-FFF2-40B4-BE49-F238E27FC236}">
                <a16:creationId xmlns:a16="http://schemas.microsoft.com/office/drawing/2014/main" id="{60E99548-73E7-5F7D-FBE6-34ACE20BAFD7}"/>
              </a:ext>
            </a:extLst>
          </p:cNvPr>
          <p:cNvCxnSpPr>
            <a:cxnSpLocks/>
          </p:cNvCxnSpPr>
          <p:nvPr/>
        </p:nvCxnSpPr>
        <p:spPr>
          <a:xfrm>
            <a:off x="9398743"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538FACC6-8AEA-A945-9557-A6C8D4785D0E}"/>
              </a:ext>
            </a:extLst>
          </p:cNvPr>
          <p:cNvCxnSpPr>
            <a:cxnSpLocks/>
          </p:cNvCxnSpPr>
          <p:nvPr/>
        </p:nvCxnSpPr>
        <p:spPr>
          <a:xfrm>
            <a:off x="6163056" y="4617812"/>
            <a:ext cx="1703534"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9" name="フローチャート: せん孔テープ 48">
            <a:extLst>
              <a:ext uri="{FF2B5EF4-FFF2-40B4-BE49-F238E27FC236}">
                <a16:creationId xmlns:a16="http://schemas.microsoft.com/office/drawing/2014/main" id="{15FE2E13-5872-6CEF-B07F-290B373F27D6}"/>
              </a:ext>
            </a:extLst>
          </p:cNvPr>
          <p:cNvSpPr/>
          <p:nvPr/>
        </p:nvSpPr>
        <p:spPr>
          <a:xfrm flipV="1">
            <a:off x="6405727" y="4381819"/>
            <a:ext cx="1037885" cy="471987"/>
          </a:xfrm>
          <a:prstGeom prst="flowChartPunchedTap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6B5D77E6-3A07-397C-1120-F393245B732F}"/>
              </a:ext>
            </a:extLst>
          </p:cNvPr>
          <p:cNvCxnSpPr>
            <a:cxnSpLocks/>
          </p:cNvCxnSpPr>
          <p:nvPr/>
        </p:nvCxnSpPr>
        <p:spPr>
          <a:xfrm>
            <a:off x="7797074" y="4617812"/>
            <a:ext cx="11229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6" name="角丸四角形吹き出し 75">
            <a:extLst>
              <a:ext uri="{FF2B5EF4-FFF2-40B4-BE49-F238E27FC236}">
                <a16:creationId xmlns:a16="http://schemas.microsoft.com/office/drawing/2014/main" id="{AFBE7B78-76F0-2983-8759-1B9A05220DA8}"/>
              </a:ext>
            </a:extLst>
          </p:cNvPr>
          <p:cNvSpPr/>
          <p:nvPr/>
        </p:nvSpPr>
        <p:spPr>
          <a:xfrm>
            <a:off x="1692271" y="3380851"/>
            <a:ext cx="1084083" cy="689245"/>
          </a:xfrm>
          <a:prstGeom prst="wedgeRoundRectCallout">
            <a:avLst>
              <a:gd name="adj1" fmla="val -37355"/>
              <a:gd name="adj2" fmla="val 72074"/>
              <a:gd name="adj3" fmla="val 16667"/>
            </a:avLst>
          </a:prstGeom>
          <a:solidFill>
            <a:srgbClr val="FF3E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ysClr val="windowText" lastClr="000000"/>
                </a:solidFill>
                <a:latin typeface="Yu Gothic" panose="020B0400000000000000" pitchFamily="34" charset="-128"/>
                <a:ea typeface="Yu Gothic" panose="020B0400000000000000" pitchFamily="34" charset="-128"/>
              </a:rPr>
              <a:t>監視モデル</a:t>
            </a:r>
            <a:r>
              <a:rPr kumimoji="1" lang="en-US" altLang="ja-JP" sz="1050" dirty="0">
                <a:solidFill>
                  <a:sysClr val="windowText" lastClr="000000"/>
                </a:solidFill>
                <a:latin typeface="Yu Gothic" panose="020B0400000000000000" pitchFamily="34" charset="-128"/>
                <a:ea typeface="Yu Gothic" panose="020B0400000000000000" pitchFamily="34" charset="-128"/>
              </a:rPr>
              <a:t>1</a:t>
            </a:r>
            <a:r>
              <a:rPr kumimoji="1" lang="ja-JP" altLang="en-US" sz="1050">
                <a:solidFill>
                  <a:sysClr val="windowText" lastClr="000000"/>
                </a:solidFill>
                <a:latin typeface="Yu Gothic" panose="020B0400000000000000" pitchFamily="34" charset="-128"/>
                <a:ea typeface="Yu Gothic" panose="020B0400000000000000" pitchFamily="34" charset="-128"/>
              </a:rPr>
              <a:t>の安全保証</a:t>
            </a:r>
            <a:endParaRPr kumimoji="1" lang="en-US" altLang="ja-JP" sz="1050" dirty="0">
              <a:solidFill>
                <a:sysClr val="windowText" lastClr="000000"/>
              </a:solidFill>
              <a:latin typeface="Yu Gothic" panose="020B0400000000000000" pitchFamily="34" charset="-128"/>
              <a:ea typeface="Yu Gothic" panose="020B0400000000000000" pitchFamily="34" charset="-128"/>
            </a:endParaRPr>
          </a:p>
        </p:txBody>
      </p:sp>
      <p:sp>
        <p:nvSpPr>
          <p:cNvPr id="77" name="角丸四角形吹き出し 76">
            <a:extLst>
              <a:ext uri="{FF2B5EF4-FFF2-40B4-BE49-F238E27FC236}">
                <a16:creationId xmlns:a16="http://schemas.microsoft.com/office/drawing/2014/main" id="{B90422E7-AF1D-4EE1-AE04-55158DDC1F08}"/>
              </a:ext>
            </a:extLst>
          </p:cNvPr>
          <p:cNvSpPr/>
          <p:nvPr/>
        </p:nvSpPr>
        <p:spPr>
          <a:xfrm>
            <a:off x="8096503" y="3370143"/>
            <a:ext cx="1084083" cy="689245"/>
          </a:xfrm>
          <a:prstGeom prst="wedgeRoundRectCallout">
            <a:avLst>
              <a:gd name="adj1" fmla="val -37355"/>
              <a:gd name="adj2" fmla="val 72074"/>
              <a:gd name="adj3" fmla="val 16667"/>
            </a:avLst>
          </a:prstGeom>
          <a:solidFill>
            <a:srgbClr val="FF3E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ysClr val="windowText" lastClr="000000"/>
                </a:solidFill>
                <a:latin typeface="Yu Gothic" panose="020B0400000000000000" pitchFamily="34" charset="-128"/>
                <a:ea typeface="Yu Gothic" panose="020B0400000000000000" pitchFamily="34" charset="-128"/>
              </a:rPr>
              <a:t>監視モデル</a:t>
            </a:r>
            <a:r>
              <a:rPr kumimoji="1" lang="en-US" altLang="ja-JP" sz="1050" dirty="0">
                <a:solidFill>
                  <a:sysClr val="windowText" lastClr="000000"/>
                </a:solidFill>
                <a:latin typeface="Yu Gothic" panose="020B0400000000000000" pitchFamily="34" charset="-128"/>
                <a:ea typeface="Yu Gothic" panose="020B0400000000000000" pitchFamily="34" charset="-128"/>
              </a:rPr>
              <a:t>3</a:t>
            </a:r>
            <a:r>
              <a:rPr kumimoji="1" lang="ja-JP" altLang="en-US" sz="1050">
                <a:solidFill>
                  <a:sysClr val="windowText" lastClr="000000"/>
                </a:solidFill>
                <a:latin typeface="Yu Gothic" panose="020B0400000000000000" pitchFamily="34" charset="-128"/>
                <a:ea typeface="Yu Gothic" panose="020B0400000000000000" pitchFamily="34" charset="-128"/>
              </a:rPr>
              <a:t>の安全保証</a:t>
            </a:r>
            <a:endParaRPr kumimoji="1" lang="en-US" altLang="ja-JP" sz="1050" dirty="0">
              <a:solidFill>
                <a:sysClr val="windowText" lastClr="000000"/>
              </a:solidFill>
              <a:latin typeface="Yu Gothic" panose="020B0400000000000000" pitchFamily="34" charset="-128"/>
              <a:ea typeface="Yu Gothic" panose="020B0400000000000000" pitchFamily="34" charset="-128"/>
            </a:endParaRPr>
          </a:p>
        </p:txBody>
      </p:sp>
      <p:sp>
        <p:nvSpPr>
          <p:cNvPr id="78" name="角丸四角形吹き出し 77">
            <a:extLst>
              <a:ext uri="{FF2B5EF4-FFF2-40B4-BE49-F238E27FC236}">
                <a16:creationId xmlns:a16="http://schemas.microsoft.com/office/drawing/2014/main" id="{F1F0F40C-60F4-5893-540E-1D894F863969}"/>
              </a:ext>
            </a:extLst>
          </p:cNvPr>
          <p:cNvSpPr/>
          <p:nvPr/>
        </p:nvSpPr>
        <p:spPr>
          <a:xfrm>
            <a:off x="4829290" y="3368331"/>
            <a:ext cx="1084083" cy="689245"/>
          </a:xfrm>
          <a:prstGeom prst="wedgeRoundRectCallout">
            <a:avLst>
              <a:gd name="adj1" fmla="val -37355"/>
              <a:gd name="adj2" fmla="val 72074"/>
              <a:gd name="adj3" fmla="val 16667"/>
            </a:avLst>
          </a:prstGeom>
          <a:solidFill>
            <a:srgbClr val="FF3E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ysClr val="windowText" lastClr="000000"/>
                </a:solidFill>
                <a:latin typeface="Yu Gothic" panose="020B0400000000000000" pitchFamily="34" charset="-128"/>
                <a:ea typeface="Yu Gothic" panose="020B0400000000000000" pitchFamily="34" charset="-128"/>
              </a:rPr>
              <a:t>監視モデル</a:t>
            </a:r>
            <a:r>
              <a:rPr kumimoji="1" lang="en-US" altLang="ja-JP" sz="1050" dirty="0">
                <a:solidFill>
                  <a:sysClr val="windowText" lastClr="000000"/>
                </a:solidFill>
                <a:latin typeface="Yu Gothic" panose="020B0400000000000000" pitchFamily="34" charset="-128"/>
                <a:ea typeface="Yu Gothic" panose="020B0400000000000000" pitchFamily="34" charset="-128"/>
              </a:rPr>
              <a:t>2</a:t>
            </a:r>
            <a:r>
              <a:rPr kumimoji="1" lang="ja-JP" altLang="en-US" sz="1050">
                <a:solidFill>
                  <a:sysClr val="windowText" lastClr="000000"/>
                </a:solidFill>
                <a:latin typeface="Yu Gothic" panose="020B0400000000000000" pitchFamily="34" charset="-128"/>
                <a:ea typeface="Yu Gothic" panose="020B0400000000000000" pitchFamily="34" charset="-128"/>
              </a:rPr>
              <a:t>の安全保証</a:t>
            </a:r>
            <a:endParaRPr kumimoji="1" lang="en-US" altLang="ja-JP" sz="1050" dirty="0">
              <a:solidFill>
                <a:sysClr val="windowText" lastClr="000000"/>
              </a:solidFill>
              <a:latin typeface="Yu Gothic" panose="020B0400000000000000" pitchFamily="34" charset="-128"/>
              <a:ea typeface="Yu Gothic" panose="020B0400000000000000" pitchFamily="34" charset="-128"/>
            </a:endParaRPr>
          </a:p>
        </p:txBody>
      </p:sp>
      <p:sp>
        <p:nvSpPr>
          <p:cNvPr id="79" name="テキスト ボックス 78">
            <a:extLst>
              <a:ext uri="{FF2B5EF4-FFF2-40B4-BE49-F238E27FC236}">
                <a16:creationId xmlns:a16="http://schemas.microsoft.com/office/drawing/2014/main" id="{184BBC84-942E-FE82-E7C6-9AF42A2B8B05}"/>
              </a:ext>
            </a:extLst>
          </p:cNvPr>
          <p:cNvSpPr txBox="1"/>
          <p:nvPr/>
        </p:nvSpPr>
        <p:spPr>
          <a:xfrm>
            <a:off x="188844" y="6585640"/>
            <a:ext cx="9796166" cy="307777"/>
          </a:xfrm>
          <a:prstGeom prst="rect">
            <a:avLst/>
          </a:prstGeom>
          <a:noFill/>
        </p:spPr>
        <p:txBody>
          <a:bodyPr wrap="square">
            <a:spAutoFit/>
          </a:bodyPr>
          <a:lstStyle/>
          <a:p>
            <a:r>
              <a:rPr lang="en-US" altLang="ja-JP" sz="1400" b="0" i="0" dirty="0">
                <a:effectLst/>
                <a:latin typeface="Arial" panose="020B0604020202020204" pitchFamily="34" charset="0"/>
              </a:rPr>
              <a:t>[1]</a:t>
            </a:r>
            <a:r>
              <a:rPr lang="ja-JP" altLang="en-US" sz="1400" b="0" i="0">
                <a:effectLst/>
                <a:latin typeface="Arial" panose="020B0604020202020204" pitchFamily="34" charset="0"/>
              </a:rPr>
              <a:t>山内 拓人</a:t>
            </a:r>
            <a:r>
              <a:rPr lang="en-US" altLang="ja-JP" sz="1400" b="0" i="0" dirty="0">
                <a:effectLst/>
                <a:latin typeface="Arial" panose="020B0604020202020204" pitchFamily="34" charset="0"/>
              </a:rPr>
              <a:t>, et. al.: </a:t>
            </a:r>
            <a:r>
              <a:rPr lang="ja-JP" altLang="en-US" sz="1400" b="0" i="0">
                <a:effectLst/>
                <a:latin typeface="Arial" panose="020B0604020202020204" pitchFamily="34" charset="0"/>
              </a:rPr>
              <a:t>段階的な部分合成による離散制御器合成の分析空間削減</a:t>
            </a:r>
            <a:r>
              <a:rPr lang="en-US" altLang="ja-JP" sz="1400" b="0" i="0" dirty="0">
                <a:effectLst/>
                <a:latin typeface="Arial" panose="020B0604020202020204" pitchFamily="34" charset="0"/>
              </a:rPr>
              <a:t>, </a:t>
            </a:r>
            <a:r>
              <a:rPr lang="ja-JP" altLang="en-US" sz="1400" b="0" i="0">
                <a:effectLst/>
                <a:latin typeface="Arial" panose="020B0604020202020204" pitchFamily="34" charset="0"/>
              </a:rPr>
              <a:t>電子情報通信学会論文誌 </a:t>
            </a:r>
            <a:r>
              <a:rPr lang="en-US" altLang="ja-JP" sz="1400" b="0" i="0" dirty="0">
                <a:effectLst/>
                <a:latin typeface="Arial" panose="020B0604020202020204" pitchFamily="34" charset="0"/>
              </a:rPr>
              <a:t>D (2023)</a:t>
            </a:r>
            <a:endParaRPr lang="ja-JP" altLang="en-US" sz="1400"/>
          </a:p>
        </p:txBody>
      </p:sp>
    </p:spTree>
    <p:extLst>
      <p:ext uri="{BB962C8B-B14F-4D97-AF65-F5344CB8AC3E}">
        <p14:creationId xmlns:p14="http://schemas.microsoft.com/office/powerpoint/2010/main" val="2267120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22AEA-7806-0157-644B-2612F26BEAE9}"/>
              </a:ext>
            </a:extLst>
          </p:cNvPr>
          <p:cNvSpPr>
            <a:spLocks noGrp="1"/>
          </p:cNvSpPr>
          <p:nvPr>
            <p:ph type="title"/>
          </p:nvPr>
        </p:nvSpPr>
        <p:spPr/>
        <p:txBody>
          <a:bodyPr/>
          <a:lstStyle/>
          <a:p>
            <a:r>
              <a:rPr lang="ja-JP" altLang="en-US"/>
              <a:t>従来手法：段階的制御器合成</a:t>
            </a:r>
            <a:endParaRPr kumimoji="1" lang="ja-JP" altLang="en-US"/>
          </a:p>
        </p:txBody>
      </p:sp>
      <p:sp>
        <p:nvSpPr>
          <p:cNvPr id="4" name="スライド番号プレースホルダー 3">
            <a:extLst>
              <a:ext uri="{FF2B5EF4-FFF2-40B4-BE49-F238E27FC236}">
                <a16:creationId xmlns:a16="http://schemas.microsoft.com/office/drawing/2014/main" id="{CFFCD173-C4FF-3411-FB01-AAC9975087E3}"/>
              </a:ext>
            </a:extLst>
          </p:cNvPr>
          <p:cNvSpPr>
            <a:spLocks noGrp="1"/>
          </p:cNvSpPr>
          <p:nvPr>
            <p:ph type="sldNum" sz="quarter" idx="11"/>
          </p:nvPr>
        </p:nvSpPr>
        <p:spPr/>
        <p:txBody>
          <a:bodyPr/>
          <a:lstStyle/>
          <a:p>
            <a:fld id="{E0D93E39-1AFA-2A42-BAF4-0CDD5F6E9A80}" type="slidenum">
              <a:rPr kumimoji="1" lang="ja-JP" altLang="en-US" smtClean="0"/>
              <a:pPr/>
              <a:t>6</a:t>
            </a:fld>
            <a:endParaRPr kumimoji="1" lang="ja-JP" altLang="en-US"/>
          </a:p>
        </p:txBody>
      </p:sp>
      <p:sp>
        <p:nvSpPr>
          <p:cNvPr id="5" name="テキスト ボックス 4">
            <a:extLst>
              <a:ext uri="{FF2B5EF4-FFF2-40B4-BE49-F238E27FC236}">
                <a16:creationId xmlns:a16="http://schemas.microsoft.com/office/drawing/2014/main" id="{7FA36307-BD49-567A-6C82-0C53C34EF91F}"/>
              </a:ext>
            </a:extLst>
          </p:cNvPr>
          <p:cNvSpPr txBox="1"/>
          <p:nvPr/>
        </p:nvSpPr>
        <p:spPr>
          <a:xfrm>
            <a:off x="1351872" y="2110146"/>
            <a:ext cx="512618" cy="48963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24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6" name="テキスト ボックス 5">
            <a:extLst>
              <a:ext uri="{FF2B5EF4-FFF2-40B4-BE49-F238E27FC236}">
                <a16:creationId xmlns:a16="http://schemas.microsoft.com/office/drawing/2014/main" id="{3998B3F0-E2E9-7C79-D883-D51B993B0D12}"/>
              </a:ext>
            </a:extLst>
          </p:cNvPr>
          <p:cNvSpPr txBox="1"/>
          <p:nvPr/>
        </p:nvSpPr>
        <p:spPr>
          <a:xfrm>
            <a:off x="740414" y="1708539"/>
            <a:ext cx="45719" cy="45719"/>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pic>
        <p:nvPicPr>
          <p:cNvPr id="7" name="図 6" descr="ダイアグラム&#10;&#10;AI 生成コンテンツは誤りを含む可能性があります。">
            <a:extLst>
              <a:ext uri="{FF2B5EF4-FFF2-40B4-BE49-F238E27FC236}">
                <a16:creationId xmlns:a16="http://schemas.microsoft.com/office/drawing/2014/main" id="{EBF1DE4C-B574-4E02-64D7-D4E3CA62A9B2}"/>
              </a:ext>
            </a:extLst>
          </p:cNvPr>
          <p:cNvPicPr>
            <a:picLocks noChangeAspect="1"/>
          </p:cNvPicPr>
          <p:nvPr/>
        </p:nvPicPr>
        <p:blipFill>
          <a:blip r:embed="rId3"/>
          <a:stretch>
            <a:fillRect/>
          </a:stretch>
        </p:blipFill>
        <p:spPr>
          <a:xfrm>
            <a:off x="209847" y="1335102"/>
            <a:ext cx="1142025" cy="380675"/>
          </a:xfrm>
          <a:prstGeom prst="rect">
            <a:avLst/>
          </a:prstGeom>
        </p:spPr>
      </p:pic>
      <p:pic>
        <p:nvPicPr>
          <p:cNvPr id="8" name="図 7" descr="ダイアグラム&#10;&#10;AI 生成コンテンツは誤りを含む可能性があります。">
            <a:extLst>
              <a:ext uri="{FF2B5EF4-FFF2-40B4-BE49-F238E27FC236}">
                <a16:creationId xmlns:a16="http://schemas.microsoft.com/office/drawing/2014/main" id="{6D457BB5-31DC-40A0-E2AB-782E9BCDB65E}"/>
              </a:ext>
            </a:extLst>
          </p:cNvPr>
          <p:cNvPicPr>
            <a:picLocks noChangeAspect="1"/>
          </p:cNvPicPr>
          <p:nvPr/>
        </p:nvPicPr>
        <p:blipFill>
          <a:blip r:embed="rId4"/>
          <a:stretch>
            <a:fillRect/>
          </a:stretch>
        </p:blipFill>
        <p:spPr>
          <a:xfrm>
            <a:off x="209847" y="1771407"/>
            <a:ext cx="1255688" cy="505955"/>
          </a:xfrm>
          <a:prstGeom prst="rect">
            <a:avLst/>
          </a:prstGeom>
        </p:spPr>
      </p:pic>
      <p:pic>
        <p:nvPicPr>
          <p:cNvPr id="9" name="図 8" descr="ダイアグラム&#10;&#10;AI 生成コンテンツは誤りを含む可能性があります。">
            <a:extLst>
              <a:ext uri="{FF2B5EF4-FFF2-40B4-BE49-F238E27FC236}">
                <a16:creationId xmlns:a16="http://schemas.microsoft.com/office/drawing/2014/main" id="{AC25A23E-6DDF-3D88-721E-E7B34EDE0D35}"/>
              </a:ext>
            </a:extLst>
          </p:cNvPr>
          <p:cNvPicPr>
            <a:picLocks noChangeAspect="1"/>
          </p:cNvPicPr>
          <p:nvPr/>
        </p:nvPicPr>
        <p:blipFill>
          <a:blip r:embed="rId5"/>
          <a:stretch>
            <a:fillRect/>
          </a:stretch>
        </p:blipFill>
        <p:spPr>
          <a:xfrm>
            <a:off x="1735380" y="1201489"/>
            <a:ext cx="1181186" cy="571694"/>
          </a:xfrm>
          <a:prstGeom prst="rect">
            <a:avLst/>
          </a:prstGeom>
        </p:spPr>
      </p:pic>
      <p:sp>
        <p:nvSpPr>
          <p:cNvPr id="10" name="テキスト ボックス 9">
            <a:extLst>
              <a:ext uri="{FF2B5EF4-FFF2-40B4-BE49-F238E27FC236}">
                <a16:creationId xmlns:a16="http://schemas.microsoft.com/office/drawing/2014/main" id="{08B79308-D5DA-F0AD-E7DD-E9F2821BB03B}"/>
              </a:ext>
            </a:extLst>
          </p:cNvPr>
          <p:cNvSpPr txBox="1"/>
          <p:nvPr/>
        </p:nvSpPr>
        <p:spPr>
          <a:xfrm>
            <a:off x="1734433" y="892445"/>
            <a:ext cx="1181186" cy="425480"/>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監視モデル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pic>
        <p:nvPicPr>
          <p:cNvPr id="11" name="図 10" descr="挿絵, 時計 が含まれている画像&#10;&#10;AI 生成コンテンツは誤りを含む可能性があります。">
            <a:extLst>
              <a:ext uri="{FF2B5EF4-FFF2-40B4-BE49-F238E27FC236}">
                <a16:creationId xmlns:a16="http://schemas.microsoft.com/office/drawing/2014/main" id="{3784687D-39E4-9F6A-C021-7E1927190DB5}"/>
              </a:ext>
            </a:extLst>
          </p:cNvPr>
          <p:cNvPicPr>
            <a:picLocks noChangeAspect="1"/>
          </p:cNvPicPr>
          <p:nvPr/>
        </p:nvPicPr>
        <p:blipFill>
          <a:blip r:embed="rId6"/>
          <a:stretch>
            <a:fillRect/>
          </a:stretch>
        </p:blipFill>
        <p:spPr>
          <a:xfrm>
            <a:off x="209847" y="2370334"/>
            <a:ext cx="1040600" cy="445971"/>
          </a:xfrm>
          <a:prstGeom prst="rect">
            <a:avLst/>
          </a:prstGeom>
        </p:spPr>
      </p:pic>
      <p:pic>
        <p:nvPicPr>
          <p:cNvPr id="12" name="図 11" descr="抽象, 挿絵, 時計 が含まれている画像&#10;&#10;AI 生成コンテンツは誤りを含む可能性があります。">
            <a:extLst>
              <a:ext uri="{FF2B5EF4-FFF2-40B4-BE49-F238E27FC236}">
                <a16:creationId xmlns:a16="http://schemas.microsoft.com/office/drawing/2014/main" id="{B2F07477-8B65-8ED9-502A-437B54FEE2E1}"/>
              </a:ext>
            </a:extLst>
          </p:cNvPr>
          <p:cNvPicPr>
            <a:picLocks noChangeAspect="1"/>
          </p:cNvPicPr>
          <p:nvPr/>
        </p:nvPicPr>
        <p:blipFill>
          <a:blip r:embed="rId7"/>
          <a:stretch>
            <a:fillRect/>
          </a:stretch>
        </p:blipFill>
        <p:spPr>
          <a:xfrm>
            <a:off x="1735380" y="1881974"/>
            <a:ext cx="1239259" cy="483101"/>
          </a:xfrm>
          <a:prstGeom prst="rect">
            <a:avLst/>
          </a:prstGeom>
        </p:spPr>
      </p:pic>
      <p:sp>
        <p:nvSpPr>
          <p:cNvPr id="13" name="角丸四角形 12">
            <a:extLst>
              <a:ext uri="{FF2B5EF4-FFF2-40B4-BE49-F238E27FC236}">
                <a16:creationId xmlns:a16="http://schemas.microsoft.com/office/drawing/2014/main" id="{A8A959A7-02EB-BA92-1BCD-C55971C2C6C3}"/>
              </a:ext>
            </a:extLst>
          </p:cNvPr>
          <p:cNvSpPr/>
          <p:nvPr/>
        </p:nvSpPr>
        <p:spPr>
          <a:xfrm>
            <a:off x="188844" y="1182798"/>
            <a:ext cx="1307099" cy="16335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5E50A18D-CF27-D321-CB47-9149F8A04319}"/>
              </a:ext>
            </a:extLst>
          </p:cNvPr>
          <p:cNvSpPr/>
          <p:nvPr/>
        </p:nvSpPr>
        <p:spPr>
          <a:xfrm>
            <a:off x="1675414" y="1186483"/>
            <a:ext cx="1299225" cy="13069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コンテンツ プレースホルダー 15">
            <a:extLst>
              <a:ext uri="{FF2B5EF4-FFF2-40B4-BE49-F238E27FC236}">
                <a16:creationId xmlns:a16="http://schemas.microsoft.com/office/drawing/2014/main" id="{13DCD919-21D3-136E-310F-087385DB408E}"/>
              </a:ext>
            </a:extLst>
          </p:cNvPr>
          <p:cNvSpPr txBox="1">
            <a:spLocks noGrp="1"/>
          </p:cNvSpPr>
          <p:nvPr>
            <p:ph sz="quarter" idx="10"/>
          </p:nvPr>
        </p:nvSpPr>
        <p:spPr>
          <a:xfrm>
            <a:off x="230934" y="892445"/>
            <a:ext cx="1346062" cy="366505"/>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7" name="角丸四角形 16">
            <a:extLst>
              <a:ext uri="{FF2B5EF4-FFF2-40B4-BE49-F238E27FC236}">
                <a16:creationId xmlns:a16="http://schemas.microsoft.com/office/drawing/2014/main" id="{25B9ED2C-B7F7-6658-B89E-E6398B1AF4A0}"/>
              </a:ext>
            </a:extLst>
          </p:cNvPr>
          <p:cNvSpPr/>
          <p:nvPr/>
        </p:nvSpPr>
        <p:spPr>
          <a:xfrm>
            <a:off x="3618996" y="1156260"/>
            <a:ext cx="1137424" cy="48310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solidFill>
                  <a:sysClr val="windowText" lastClr="000000"/>
                </a:solidFill>
              </a:rPr>
              <a:t>Model1</a:t>
            </a:r>
            <a:endParaRPr kumimoji="1" lang="ja-JP" altLang="en-US">
              <a:solidFill>
                <a:sysClr val="windowText" lastClr="000000"/>
              </a:solidFill>
            </a:endParaRPr>
          </a:p>
        </p:txBody>
      </p:sp>
      <p:cxnSp>
        <p:nvCxnSpPr>
          <p:cNvPr id="21" name="直線コネクタ 20">
            <a:extLst>
              <a:ext uri="{FF2B5EF4-FFF2-40B4-BE49-F238E27FC236}">
                <a16:creationId xmlns:a16="http://schemas.microsoft.com/office/drawing/2014/main" id="{E3BF1657-F705-749F-4A99-353DE13DA253}"/>
              </a:ext>
            </a:extLst>
          </p:cNvPr>
          <p:cNvCxnSpPr/>
          <p:nvPr/>
        </p:nvCxnSpPr>
        <p:spPr>
          <a:xfrm>
            <a:off x="3267307" y="1075697"/>
            <a:ext cx="0" cy="194628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C9A22B86-CCFC-69F5-5790-D21CDD296376}"/>
              </a:ext>
            </a:extLst>
          </p:cNvPr>
          <p:cNvCxnSpPr>
            <a:cxnSpLocks/>
          </p:cNvCxnSpPr>
          <p:nvPr/>
        </p:nvCxnSpPr>
        <p:spPr>
          <a:xfrm flipH="1">
            <a:off x="230934" y="2959382"/>
            <a:ext cx="3057460" cy="17149"/>
          </a:xfrm>
          <a:prstGeom prst="line">
            <a:avLst/>
          </a:prstGeom>
          <a:ln w="12700" cap="flat">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角丸四角形 26">
            <a:extLst>
              <a:ext uri="{FF2B5EF4-FFF2-40B4-BE49-F238E27FC236}">
                <a16:creationId xmlns:a16="http://schemas.microsoft.com/office/drawing/2014/main" id="{2C5ABB7B-68BC-F2A0-AD2F-27F69ECB0123}"/>
              </a:ext>
            </a:extLst>
          </p:cNvPr>
          <p:cNvSpPr/>
          <p:nvPr/>
        </p:nvSpPr>
        <p:spPr>
          <a:xfrm>
            <a:off x="3618996" y="2432262"/>
            <a:ext cx="1137424" cy="48310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solidFill>
                  <a:sysClr val="windowText" lastClr="000000"/>
                </a:solidFill>
              </a:rPr>
              <a:t>SAFETY1</a:t>
            </a:r>
            <a:endParaRPr kumimoji="1" lang="ja-JP" altLang="en-US">
              <a:solidFill>
                <a:sysClr val="windowText" lastClr="000000"/>
              </a:solidFill>
            </a:endParaRPr>
          </a:p>
        </p:txBody>
      </p:sp>
      <p:sp>
        <p:nvSpPr>
          <p:cNvPr id="28" name="角丸四角形 27">
            <a:extLst>
              <a:ext uri="{FF2B5EF4-FFF2-40B4-BE49-F238E27FC236}">
                <a16:creationId xmlns:a16="http://schemas.microsoft.com/office/drawing/2014/main" id="{CFF7549A-7019-5381-639A-AC354890BF82}"/>
              </a:ext>
            </a:extLst>
          </p:cNvPr>
          <p:cNvSpPr/>
          <p:nvPr/>
        </p:nvSpPr>
        <p:spPr>
          <a:xfrm>
            <a:off x="3618996" y="1807287"/>
            <a:ext cx="1137424" cy="48310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solidFill>
                  <a:sysClr val="windowText" lastClr="000000"/>
                </a:solidFill>
              </a:rPr>
              <a:t>Model2</a:t>
            </a:r>
            <a:endParaRPr kumimoji="1" lang="ja-JP" altLang="en-US">
              <a:solidFill>
                <a:sysClr val="windowText" lastClr="000000"/>
              </a:solidFill>
            </a:endParaRPr>
          </a:p>
        </p:txBody>
      </p:sp>
      <p:pic>
        <p:nvPicPr>
          <p:cNvPr id="30" name="図 29" descr="ダイアグラム&#10;&#10;AI 生成コンテンツは誤りを含む可能性があります。">
            <a:extLst>
              <a:ext uri="{FF2B5EF4-FFF2-40B4-BE49-F238E27FC236}">
                <a16:creationId xmlns:a16="http://schemas.microsoft.com/office/drawing/2014/main" id="{7EB34BF9-C491-3E44-462C-F13E7969BC7E}"/>
              </a:ext>
            </a:extLst>
          </p:cNvPr>
          <p:cNvPicPr>
            <a:picLocks noChangeAspect="1"/>
          </p:cNvPicPr>
          <p:nvPr/>
        </p:nvPicPr>
        <p:blipFill>
          <a:blip r:embed="rId8"/>
          <a:stretch>
            <a:fillRect/>
          </a:stretch>
        </p:blipFill>
        <p:spPr>
          <a:xfrm>
            <a:off x="6777988" y="1517503"/>
            <a:ext cx="3404546" cy="1048745"/>
          </a:xfrm>
          <a:prstGeom prst="rect">
            <a:avLst/>
          </a:prstGeom>
        </p:spPr>
      </p:pic>
      <p:sp>
        <p:nvSpPr>
          <p:cNvPr id="31" name="山形 30">
            <a:extLst>
              <a:ext uri="{FF2B5EF4-FFF2-40B4-BE49-F238E27FC236}">
                <a16:creationId xmlns:a16="http://schemas.microsoft.com/office/drawing/2014/main" id="{B871D36A-0103-76A8-327D-1D94EBD96D22}"/>
              </a:ext>
            </a:extLst>
          </p:cNvPr>
          <p:cNvSpPr/>
          <p:nvPr/>
        </p:nvSpPr>
        <p:spPr>
          <a:xfrm>
            <a:off x="5306567" y="1746522"/>
            <a:ext cx="1043610" cy="590709"/>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Medium" panose="020B0400000000000000" pitchFamily="34" charset="-128"/>
                <a:ea typeface="Yu Gothic Medium" panose="020B0400000000000000" pitchFamily="34" charset="-128"/>
              </a:rPr>
              <a:t>部分合成</a:t>
            </a:r>
            <a:endParaRPr kumimoji="1" lang="en-US" altLang="ja-JP" dirty="0">
              <a:solidFill>
                <a:schemeClr val="tx1"/>
              </a:solidFill>
              <a:latin typeface="Yu Gothic Medium" panose="020B0400000000000000" pitchFamily="34" charset="-128"/>
              <a:ea typeface="Yu Gothic Medium" panose="020B0400000000000000" pitchFamily="34" charset="-128"/>
            </a:endParaRPr>
          </a:p>
        </p:txBody>
      </p:sp>
      <p:cxnSp>
        <p:nvCxnSpPr>
          <p:cNvPr id="33" name="カギ線コネクタ 32">
            <a:extLst>
              <a:ext uri="{FF2B5EF4-FFF2-40B4-BE49-F238E27FC236}">
                <a16:creationId xmlns:a16="http://schemas.microsoft.com/office/drawing/2014/main" id="{6CCD4C21-1B7C-4979-28FB-27D8A7AAD55D}"/>
              </a:ext>
            </a:extLst>
          </p:cNvPr>
          <p:cNvCxnSpPr>
            <a:cxnSpLocks/>
            <a:stCxn id="17" idx="3"/>
            <a:endCxn id="31" idx="1"/>
          </p:cNvCxnSpPr>
          <p:nvPr/>
        </p:nvCxnSpPr>
        <p:spPr>
          <a:xfrm>
            <a:off x="4756420" y="1397811"/>
            <a:ext cx="700098" cy="64406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カギ線コネクタ 36">
            <a:extLst>
              <a:ext uri="{FF2B5EF4-FFF2-40B4-BE49-F238E27FC236}">
                <a16:creationId xmlns:a16="http://schemas.microsoft.com/office/drawing/2014/main" id="{930D4932-7C02-2689-D80C-9EF44AD6C307}"/>
              </a:ext>
            </a:extLst>
          </p:cNvPr>
          <p:cNvCxnSpPr>
            <a:cxnSpLocks/>
            <a:stCxn id="27" idx="3"/>
            <a:endCxn id="31" idx="1"/>
          </p:cNvCxnSpPr>
          <p:nvPr/>
        </p:nvCxnSpPr>
        <p:spPr>
          <a:xfrm flipV="1">
            <a:off x="4756420" y="2041877"/>
            <a:ext cx="700098" cy="63193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B5773B0-9A64-4A92-27C0-834C2157A5DF}"/>
              </a:ext>
            </a:extLst>
          </p:cNvPr>
          <p:cNvCxnSpPr>
            <a:cxnSpLocks/>
            <a:stCxn id="28" idx="3"/>
            <a:endCxn id="31" idx="1"/>
          </p:cNvCxnSpPr>
          <p:nvPr/>
        </p:nvCxnSpPr>
        <p:spPr>
          <a:xfrm flipV="1">
            <a:off x="4756420" y="2041877"/>
            <a:ext cx="700098" cy="69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1D34A2E8-63BC-5A12-029A-AF21E0988597}"/>
              </a:ext>
            </a:extLst>
          </p:cNvPr>
          <p:cNvCxnSpPr>
            <a:cxnSpLocks/>
            <a:stCxn id="31" idx="3"/>
            <a:endCxn id="30" idx="1"/>
          </p:cNvCxnSpPr>
          <p:nvPr/>
        </p:nvCxnSpPr>
        <p:spPr>
          <a:xfrm flipV="1">
            <a:off x="6350177" y="2041876"/>
            <a:ext cx="427811"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角丸四角形 57">
            <a:extLst>
              <a:ext uri="{FF2B5EF4-FFF2-40B4-BE49-F238E27FC236}">
                <a16:creationId xmlns:a16="http://schemas.microsoft.com/office/drawing/2014/main" id="{31A1F7F2-1FA3-5526-DB14-918E8B82A2C4}"/>
              </a:ext>
            </a:extLst>
          </p:cNvPr>
          <p:cNvSpPr/>
          <p:nvPr/>
        </p:nvSpPr>
        <p:spPr>
          <a:xfrm>
            <a:off x="740414" y="3707138"/>
            <a:ext cx="1137424" cy="48310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solidFill>
                  <a:sysClr val="windowText" lastClr="000000"/>
                </a:solidFill>
              </a:rPr>
              <a:t>Model3</a:t>
            </a:r>
            <a:endParaRPr kumimoji="1" lang="ja-JP" altLang="en-US">
              <a:solidFill>
                <a:sysClr val="windowText" lastClr="000000"/>
              </a:solidFill>
            </a:endParaRPr>
          </a:p>
        </p:txBody>
      </p:sp>
      <p:sp>
        <p:nvSpPr>
          <p:cNvPr id="59" name="山形 58">
            <a:extLst>
              <a:ext uri="{FF2B5EF4-FFF2-40B4-BE49-F238E27FC236}">
                <a16:creationId xmlns:a16="http://schemas.microsoft.com/office/drawing/2014/main" id="{306C68B9-F2C1-50C8-3142-1B92A308D648}"/>
              </a:ext>
            </a:extLst>
          </p:cNvPr>
          <p:cNvSpPr/>
          <p:nvPr/>
        </p:nvSpPr>
        <p:spPr>
          <a:xfrm>
            <a:off x="3327095" y="3658018"/>
            <a:ext cx="1043610" cy="590709"/>
          </a:xfrm>
          <a:prstGeom prst="chevron">
            <a:avLst>
              <a:gd name="adj" fmla="val 25385"/>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Medium" panose="020B0400000000000000" pitchFamily="34" charset="-128"/>
                <a:ea typeface="Yu Gothic Medium" panose="020B0400000000000000" pitchFamily="34" charset="-128"/>
              </a:rPr>
              <a:t>並列合成</a:t>
            </a:r>
            <a:endParaRPr kumimoji="1" lang="en-US" altLang="ja-JP" dirty="0">
              <a:solidFill>
                <a:schemeClr val="tx1"/>
              </a:solidFill>
              <a:latin typeface="Yu Gothic Medium" panose="020B0400000000000000" pitchFamily="34" charset="-128"/>
              <a:ea typeface="Yu Gothic Medium" panose="020B0400000000000000" pitchFamily="34" charset="-128"/>
            </a:endParaRPr>
          </a:p>
        </p:txBody>
      </p:sp>
      <p:cxnSp>
        <p:nvCxnSpPr>
          <p:cNvPr id="61" name="直線矢印コネクタ 60">
            <a:extLst>
              <a:ext uri="{FF2B5EF4-FFF2-40B4-BE49-F238E27FC236}">
                <a16:creationId xmlns:a16="http://schemas.microsoft.com/office/drawing/2014/main" id="{B2DBB153-2D04-AC5B-CEDC-A04468647CFE}"/>
              </a:ext>
            </a:extLst>
          </p:cNvPr>
          <p:cNvCxnSpPr>
            <a:cxnSpLocks/>
            <a:stCxn id="59" idx="3"/>
            <a:endCxn id="88" idx="1"/>
          </p:cNvCxnSpPr>
          <p:nvPr/>
        </p:nvCxnSpPr>
        <p:spPr>
          <a:xfrm>
            <a:off x="4370705" y="3953373"/>
            <a:ext cx="385715" cy="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直線矢印コネクタ 64">
            <a:extLst>
              <a:ext uri="{FF2B5EF4-FFF2-40B4-BE49-F238E27FC236}">
                <a16:creationId xmlns:a16="http://schemas.microsoft.com/office/drawing/2014/main" id="{4416241F-75D6-FAF5-EC51-053CF018A2D0}"/>
              </a:ext>
            </a:extLst>
          </p:cNvPr>
          <p:cNvCxnSpPr>
            <a:cxnSpLocks/>
            <a:stCxn id="58" idx="3"/>
            <a:endCxn id="59" idx="1"/>
          </p:cNvCxnSpPr>
          <p:nvPr/>
        </p:nvCxnSpPr>
        <p:spPr>
          <a:xfrm>
            <a:off x="1877838" y="3948689"/>
            <a:ext cx="1599208" cy="46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カギ線コネクタ 70">
            <a:extLst>
              <a:ext uri="{FF2B5EF4-FFF2-40B4-BE49-F238E27FC236}">
                <a16:creationId xmlns:a16="http://schemas.microsoft.com/office/drawing/2014/main" id="{13DA2019-BD1D-3D5F-98E8-CFBE6D2A619C}"/>
              </a:ext>
            </a:extLst>
          </p:cNvPr>
          <p:cNvCxnSpPr>
            <a:cxnSpLocks/>
          </p:cNvCxnSpPr>
          <p:nvPr/>
        </p:nvCxnSpPr>
        <p:spPr>
          <a:xfrm rot="10800000" flipV="1">
            <a:off x="3006092" y="2566245"/>
            <a:ext cx="5458450" cy="502905"/>
          </a:xfrm>
          <a:prstGeom prst="bentConnector3">
            <a:avLst>
              <a:gd name="adj1" fmla="val -33"/>
            </a:avLst>
          </a:prstGeom>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D16217AE-4C76-7755-A562-123E0DED0819}"/>
              </a:ext>
            </a:extLst>
          </p:cNvPr>
          <p:cNvCxnSpPr>
            <a:cxnSpLocks/>
          </p:cNvCxnSpPr>
          <p:nvPr/>
        </p:nvCxnSpPr>
        <p:spPr>
          <a:xfrm>
            <a:off x="3006092" y="3069150"/>
            <a:ext cx="0" cy="884223"/>
          </a:xfrm>
          <a:prstGeom prst="line">
            <a:avLst/>
          </a:prstGeom>
        </p:spPr>
        <p:style>
          <a:lnRef idx="1">
            <a:schemeClr val="dk1"/>
          </a:lnRef>
          <a:fillRef idx="0">
            <a:schemeClr val="dk1"/>
          </a:fillRef>
          <a:effectRef idx="0">
            <a:schemeClr val="dk1"/>
          </a:effectRef>
          <a:fontRef idx="minor">
            <a:schemeClr val="tx1"/>
          </a:fontRef>
        </p:style>
      </p:cxnSp>
      <p:pic>
        <p:nvPicPr>
          <p:cNvPr id="88" name="図 87" descr="ダイアグラム, 概略図&#10;&#10;AI 生成コンテンツは誤りを含む可能性があります。">
            <a:extLst>
              <a:ext uri="{FF2B5EF4-FFF2-40B4-BE49-F238E27FC236}">
                <a16:creationId xmlns:a16="http://schemas.microsoft.com/office/drawing/2014/main" id="{D885E2A8-F416-FFDB-70D6-8659090996D1}"/>
              </a:ext>
            </a:extLst>
          </p:cNvPr>
          <p:cNvPicPr>
            <a:picLocks noChangeAspect="1"/>
          </p:cNvPicPr>
          <p:nvPr/>
        </p:nvPicPr>
        <p:blipFill>
          <a:blip r:embed="rId9"/>
          <a:stretch>
            <a:fillRect/>
          </a:stretch>
        </p:blipFill>
        <p:spPr>
          <a:xfrm>
            <a:off x="4756420" y="3210314"/>
            <a:ext cx="3788303" cy="1486638"/>
          </a:xfrm>
          <a:prstGeom prst="rect">
            <a:avLst/>
          </a:prstGeom>
        </p:spPr>
      </p:pic>
      <p:cxnSp>
        <p:nvCxnSpPr>
          <p:cNvPr id="97" name="カギ線コネクタ 96">
            <a:extLst>
              <a:ext uri="{FF2B5EF4-FFF2-40B4-BE49-F238E27FC236}">
                <a16:creationId xmlns:a16="http://schemas.microsoft.com/office/drawing/2014/main" id="{A7F31F5D-3D42-3A9C-5113-A0063E58EE00}"/>
              </a:ext>
            </a:extLst>
          </p:cNvPr>
          <p:cNvCxnSpPr>
            <a:cxnSpLocks/>
            <a:stCxn id="88" idx="2"/>
          </p:cNvCxnSpPr>
          <p:nvPr/>
        </p:nvCxnSpPr>
        <p:spPr>
          <a:xfrm rot="5400000">
            <a:off x="4641919" y="3061125"/>
            <a:ext cx="372826" cy="3644480"/>
          </a:xfrm>
          <a:prstGeom prst="bentConnector2">
            <a:avLst/>
          </a:prstGeom>
        </p:spPr>
        <p:style>
          <a:lnRef idx="1">
            <a:schemeClr val="dk1"/>
          </a:lnRef>
          <a:fillRef idx="0">
            <a:schemeClr val="dk1"/>
          </a:fillRef>
          <a:effectRef idx="0">
            <a:schemeClr val="dk1"/>
          </a:effectRef>
          <a:fontRef idx="minor">
            <a:schemeClr val="tx1"/>
          </a:fontRef>
        </p:style>
      </p:cxnSp>
      <p:sp>
        <p:nvSpPr>
          <p:cNvPr id="100" name="角丸四角形 99">
            <a:extLst>
              <a:ext uri="{FF2B5EF4-FFF2-40B4-BE49-F238E27FC236}">
                <a16:creationId xmlns:a16="http://schemas.microsoft.com/office/drawing/2014/main" id="{5F6A67D0-43FE-DD5D-68A2-6BDDF489A4B3}"/>
              </a:ext>
            </a:extLst>
          </p:cNvPr>
          <p:cNvSpPr/>
          <p:nvPr/>
        </p:nvSpPr>
        <p:spPr>
          <a:xfrm>
            <a:off x="727066" y="5968441"/>
            <a:ext cx="1137424" cy="48310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solidFill>
                  <a:sysClr val="windowText" lastClr="000000"/>
                </a:solidFill>
              </a:rPr>
              <a:t>SAFETY2</a:t>
            </a:r>
            <a:endParaRPr kumimoji="1" lang="ja-JP" altLang="en-US">
              <a:solidFill>
                <a:sysClr val="windowText" lastClr="000000"/>
              </a:solidFill>
            </a:endParaRPr>
          </a:p>
        </p:txBody>
      </p:sp>
      <p:sp>
        <p:nvSpPr>
          <p:cNvPr id="101" name="山形 100">
            <a:extLst>
              <a:ext uri="{FF2B5EF4-FFF2-40B4-BE49-F238E27FC236}">
                <a16:creationId xmlns:a16="http://schemas.microsoft.com/office/drawing/2014/main" id="{78DCF583-5F56-A5CE-F39C-2417DC9CC9BA}"/>
              </a:ext>
            </a:extLst>
          </p:cNvPr>
          <p:cNvSpPr/>
          <p:nvPr/>
        </p:nvSpPr>
        <p:spPr>
          <a:xfrm>
            <a:off x="3618996" y="5903962"/>
            <a:ext cx="1043610" cy="590709"/>
          </a:xfrm>
          <a:prstGeom prst="chevron">
            <a:avLst>
              <a:gd name="adj" fmla="val 25385"/>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Yu Gothic Medium" panose="020B0400000000000000" pitchFamily="34" charset="-128"/>
                <a:ea typeface="Yu Gothic Medium" panose="020B0400000000000000" pitchFamily="34" charset="-128"/>
              </a:rPr>
              <a:t>安全性分析</a:t>
            </a:r>
            <a:endParaRPr kumimoji="1" lang="en-US" altLang="ja-JP" sz="1200" dirty="0">
              <a:solidFill>
                <a:schemeClr val="tx1"/>
              </a:solidFill>
              <a:latin typeface="Yu Gothic Medium" panose="020B0400000000000000" pitchFamily="34" charset="-128"/>
              <a:ea typeface="Yu Gothic Medium" panose="020B0400000000000000" pitchFamily="34" charset="-128"/>
            </a:endParaRPr>
          </a:p>
        </p:txBody>
      </p:sp>
      <p:cxnSp>
        <p:nvCxnSpPr>
          <p:cNvPr id="102" name="直線矢印コネクタ 101">
            <a:extLst>
              <a:ext uri="{FF2B5EF4-FFF2-40B4-BE49-F238E27FC236}">
                <a16:creationId xmlns:a16="http://schemas.microsoft.com/office/drawing/2014/main" id="{DA1060AF-7B21-C446-5386-F071C3B6E4C6}"/>
              </a:ext>
            </a:extLst>
          </p:cNvPr>
          <p:cNvCxnSpPr>
            <a:cxnSpLocks/>
            <a:stCxn id="101" idx="3"/>
            <a:endCxn id="110" idx="1"/>
          </p:cNvCxnSpPr>
          <p:nvPr/>
        </p:nvCxnSpPr>
        <p:spPr>
          <a:xfrm>
            <a:off x="4662606" y="6199317"/>
            <a:ext cx="529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直線矢印コネクタ 102">
            <a:extLst>
              <a:ext uri="{FF2B5EF4-FFF2-40B4-BE49-F238E27FC236}">
                <a16:creationId xmlns:a16="http://schemas.microsoft.com/office/drawing/2014/main" id="{E469D720-059D-E134-E919-ECFC7FFFF8F9}"/>
              </a:ext>
            </a:extLst>
          </p:cNvPr>
          <p:cNvCxnSpPr>
            <a:cxnSpLocks/>
            <a:endCxn id="101" idx="1"/>
          </p:cNvCxnSpPr>
          <p:nvPr/>
        </p:nvCxnSpPr>
        <p:spPr>
          <a:xfrm>
            <a:off x="1864490" y="6199317"/>
            <a:ext cx="19044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直線コネクタ 105">
            <a:extLst>
              <a:ext uri="{FF2B5EF4-FFF2-40B4-BE49-F238E27FC236}">
                <a16:creationId xmlns:a16="http://schemas.microsoft.com/office/drawing/2014/main" id="{669C0AE6-2E06-93CE-7B7E-F5B2889C5BA8}"/>
              </a:ext>
            </a:extLst>
          </p:cNvPr>
          <p:cNvCxnSpPr>
            <a:cxnSpLocks/>
          </p:cNvCxnSpPr>
          <p:nvPr/>
        </p:nvCxnSpPr>
        <p:spPr>
          <a:xfrm>
            <a:off x="3006092" y="5069778"/>
            <a:ext cx="0" cy="1129539"/>
          </a:xfrm>
          <a:prstGeom prst="line">
            <a:avLst/>
          </a:prstGeom>
        </p:spPr>
        <p:style>
          <a:lnRef idx="1">
            <a:schemeClr val="dk1"/>
          </a:lnRef>
          <a:fillRef idx="0">
            <a:schemeClr val="dk1"/>
          </a:fillRef>
          <a:effectRef idx="0">
            <a:schemeClr val="dk1"/>
          </a:effectRef>
          <a:fontRef idx="minor">
            <a:schemeClr val="tx1"/>
          </a:fontRef>
        </p:style>
      </p:cxnSp>
      <p:pic>
        <p:nvPicPr>
          <p:cNvPr id="110" name="図 109" descr="ダイアグラム&#10;&#10;AI 生成コンテンツは誤りを含む可能性があります。">
            <a:extLst>
              <a:ext uri="{FF2B5EF4-FFF2-40B4-BE49-F238E27FC236}">
                <a16:creationId xmlns:a16="http://schemas.microsoft.com/office/drawing/2014/main" id="{6FD74BA9-0F70-8326-10D0-2854B200BE67}"/>
              </a:ext>
            </a:extLst>
          </p:cNvPr>
          <p:cNvPicPr>
            <a:picLocks noChangeAspect="1"/>
          </p:cNvPicPr>
          <p:nvPr/>
        </p:nvPicPr>
        <p:blipFill>
          <a:blip r:embed="rId10"/>
          <a:stretch>
            <a:fillRect/>
          </a:stretch>
        </p:blipFill>
        <p:spPr>
          <a:xfrm>
            <a:off x="5191784" y="5476059"/>
            <a:ext cx="4561816" cy="1446516"/>
          </a:xfrm>
          <a:prstGeom prst="rect">
            <a:avLst/>
          </a:prstGeom>
        </p:spPr>
      </p:pic>
      <p:sp>
        <p:nvSpPr>
          <p:cNvPr id="114" name="左中かっこ 113">
            <a:extLst>
              <a:ext uri="{FF2B5EF4-FFF2-40B4-BE49-F238E27FC236}">
                <a16:creationId xmlns:a16="http://schemas.microsoft.com/office/drawing/2014/main" id="{F93BCF19-7C12-1CB2-B2B8-B9981A917B45}"/>
              </a:ext>
            </a:extLst>
          </p:cNvPr>
          <p:cNvSpPr/>
          <p:nvPr/>
        </p:nvSpPr>
        <p:spPr>
          <a:xfrm>
            <a:off x="341352" y="3210314"/>
            <a:ext cx="479044" cy="3389269"/>
          </a:xfrm>
          <a:prstGeom prst="leftBrace">
            <a:avLst>
              <a:gd name="adj1" fmla="val 8333"/>
              <a:gd name="adj2" fmla="val 50666"/>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15" name="テキスト ボックス 114">
            <a:extLst>
              <a:ext uri="{FF2B5EF4-FFF2-40B4-BE49-F238E27FC236}">
                <a16:creationId xmlns:a16="http://schemas.microsoft.com/office/drawing/2014/main" id="{F31A952D-0847-1901-DE99-CE404ACD0B44}"/>
              </a:ext>
            </a:extLst>
          </p:cNvPr>
          <p:cNvSpPr txBox="1"/>
          <p:nvPr/>
        </p:nvSpPr>
        <p:spPr>
          <a:xfrm flipH="1">
            <a:off x="68513" y="4186798"/>
            <a:ext cx="479043" cy="1393134"/>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部</a:t>
            </a: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分</a:t>
            </a: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合</a:t>
            </a: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成</a:t>
            </a:r>
            <a:endParaRPr kumimoji="1" lang="ja-JP" altLang="en-US"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16" name="コンテンツ プレースホルダー 15">
            <a:extLst>
              <a:ext uri="{FF2B5EF4-FFF2-40B4-BE49-F238E27FC236}">
                <a16:creationId xmlns:a16="http://schemas.microsoft.com/office/drawing/2014/main" id="{66F771D1-573B-F364-86F3-1B564E50FA9D}"/>
              </a:ext>
            </a:extLst>
          </p:cNvPr>
          <p:cNvSpPr txBox="1">
            <a:spLocks/>
          </p:cNvSpPr>
          <p:nvPr/>
        </p:nvSpPr>
        <p:spPr>
          <a:xfrm>
            <a:off x="7999134" y="1156260"/>
            <a:ext cx="2517452" cy="366505"/>
          </a:xfrm>
          <a:prstGeom prst="rect">
            <a:avLst/>
          </a:prstGeom>
        </p:spPr>
        <p:txBody>
          <a:bodyPr vert="horz" wrap="square" lIns="91440" tIns="45720" rIns="91440" bIns="45720" rtlCol="0">
            <a:normAutofit/>
          </a:bodyPr>
          <a:lstStyle>
            <a:lvl1pPr marL="285750" indent="-285750" algn="l" defTabSz="914400" rtl="0" eaLnBrk="1" latinLnBrk="0" hangingPunct="1">
              <a:lnSpc>
                <a:spcPct val="120000"/>
              </a:lnSpc>
              <a:spcBef>
                <a:spcPts val="0"/>
              </a:spcBef>
              <a:spcAft>
                <a:spcPts val="0"/>
              </a:spcAft>
              <a:buFont typeface="Arial" panose="020B0604020202020204" pitchFamily="34" charset="0"/>
              <a:buChar char="•"/>
              <a:defRPr kumimoji="1" sz="1800" b="0" i="0" kern="1200">
                <a:solidFill>
                  <a:schemeClr val="tx1"/>
                </a:solidFill>
                <a:latin typeface="Yu Gothic Medium" panose="020B0400000000000000" pitchFamily="34" charset="-128"/>
                <a:ea typeface="Yu Gothic Medium" panose="020B0400000000000000" pitchFamily="34" charset="-128"/>
                <a:cs typeface="+mn-cs"/>
              </a:defRPr>
            </a:lvl1pPr>
            <a:lvl2pPr marL="742950" indent="-285750" algn="l" defTabSz="914400" rtl="0" eaLnBrk="1" latinLnBrk="0" hangingPunct="1">
              <a:lnSpc>
                <a:spcPct val="120000"/>
              </a:lnSpc>
              <a:spcBef>
                <a:spcPts val="600"/>
              </a:spcBef>
              <a:spcAft>
                <a:spcPts val="600"/>
              </a:spcAft>
              <a:buFont typeface="Arial" panose="020B0604020202020204" pitchFamily="34" charset="0"/>
              <a:buChar char="•"/>
              <a:defRPr kumimoji="1" sz="1800" b="0" kern="1200">
                <a:solidFill>
                  <a:schemeClr val="tx1"/>
                </a:solidFill>
                <a:latin typeface="游ゴシック Medium" panose="020B0500000000000000" pitchFamily="50" charset="-128"/>
                <a:ea typeface="游ゴシック Medium" panose="020B0500000000000000" pitchFamily="50" charset="-128"/>
                <a:cs typeface="+mn-cs"/>
              </a:defRPr>
            </a:lvl2pPr>
            <a:lvl3pPr marL="1200150" indent="-28575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3pPr>
            <a:lvl4pPr marL="17145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4pPr>
            <a:lvl5pPr marL="21717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9pPr>
          </a:lstStyle>
          <a:p>
            <a:pPr marL="0" indent="0">
              <a:lnSpc>
                <a:spcPct val="110000"/>
              </a:lnSpc>
              <a:spcBef>
                <a:spcPts val="1000"/>
              </a:spcBef>
              <a:buFontTx/>
              <a:buNone/>
            </a:pPr>
            <a:r>
              <a:rPr lang="ja-JP" altLang="en-US" sz="1600">
                <a:solidFill>
                  <a:sysClr val="windowText" lastClr="000000"/>
                </a:solidFill>
              </a:rPr>
              <a:t>部分制御器：</a:t>
            </a:r>
            <a:r>
              <a:rPr lang="en-US" altLang="ja-JP" sz="1600" b="1" dirty="0">
                <a:solidFill>
                  <a:sysClr val="windowText" lastClr="000000"/>
                </a:solidFill>
                <a:latin typeface="Yu Gothic" panose="020B0400000000000000" pitchFamily="34" charset="-128"/>
                <a:ea typeface="Yu Gothic" panose="020B0400000000000000" pitchFamily="34" charset="-128"/>
              </a:rPr>
              <a:t>7</a:t>
            </a:r>
            <a:r>
              <a:rPr lang="ja-JP" altLang="en-US" sz="1600" b="1">
                <a:solidFill>
                  <a:sysClr val="windowText" lastClr="000000"/>
                </a:solidFill>
                <a:latin typeface="Yu Gothic" panose="020B0400000000000000" pitchFamily="34" charset="-128"/>
                <a:ea typeface="Yu Gothic" panose="020B0400000000000000" pitchFamily="34" charset="-128"/>
              </a:rPr>
              <a:t>状態</a:t>
            </a:r>
            <a:endParaRPr lang="ja-JP" altLang="en-US" sz="1600" b="1" dirty="0">
              <a:solidFill>
                <a:sysClr val="windowText" lastClr="000000"/>
              </a:solidFill>
              <a:latin typeface="Yu Gothic" panose="020B0400000000000000" pitchFamily="34" charset="-128"/>
              <a:ea typeface="Yu Gothic" panose="020B0400000000000000" pitchFamily="34" charset="-128"/>
            </a:endParaRPr>
          </a:p>
        </p:txBody>
      </p:sp>
      <p:sp>
        <p:nvSpPr>
          <p:cNvPr id="117" name="コンテンツ プレースホルダー 15">
            <a:extLst>
              <a:ext uri="{FF2B5EF4-FFF2-40B4-BE49-F238E27FC236}">
                <a16:creationId xmlns:a16="http://schemas.microsoft.com/office/drawing/2014/main" id="{AAEA7440-D2F2-7318-CD15-2E9A24329A47}"/>
              </a:ext>
            </a:extLst>
          </p:cNvPr>
          <p:cNvSpPr txBox="1">
            <a:spLocks/>
          </p:cNvSpPr>
          <p:nvPr/>
        </p:nvSpPr>
        <p:spPr>
          <a:xfrm>
            <a:off x="8306729" y="3403303"/>
            <a:ext cx="2517452" cy="366505"/>
          </a:xfrm>
          <a:prstGeom prst="rect">
            <a:avLst/>
          </a:prstGeom>
        </p:spPr>
        <p:txBody>
          <a:bodyPr vert="horz" wrap="square" lIns="91440" tIns="45720" rIns="91440" bIns="45720" rtlCol="0">
            <a:normAutofit/>
          </a:bodyPr>
          <a:lstStyle>
            <a:lvl1pPr marL="285750" indent="-285750" algn="l" defTabSz="914400" rtl="0" eaLnBrk="1" latinLnBrk="0" hangingPunct="1">
              <a:lnSpc>
                <a:spcPct val="120000"/>
              </a:lnSpc>
              <a:spcBef>
                <a:spcPts val="0"/>
              </a:spcBef>
              <a:spcAft>
                <a:spcPts val="0"/>
              </a:spcAft>
              <a:buFont typeface="Arial" panose="020B0604020202020204" pitchFamily="34" charset="0"/>
              <a:buChar char="•"/>
              <a:defRPr kumimoji="1" sz="1800" b="0" i="0" kern="1200">
                <a:solidFill>
                  <a:schemeClr val="tx1"/>
                </a:solidFill>
                <a:latin typeface="Yu Gothic Medium" panose="020B0400000000000000" pitchFamily="34" charset="-128"/>
                <a:ea typeface="Yu Gothic Medium" panose="020B0400000000000000" pitchFamily="34" charset="-128"/>
                <a:cs typeface="+mn-cs"/>
              </a:defRPr>
            </a:lvl1pPr>
            <a:lvl2pPr marL="742950" indent="-285750" algn="l" defTabSz="914400" rtl="0" eaLnBrk="1" latinLnBrk="0" hangingPunct="1">
              <a:lnSpc>
                <a:spcPct val="120000"/>
              </a:lnSpc>
              <a:spcBef>
                <a:spcPts val="600"/>
              </a:spcBef>
              <a:spcAft>
                <a:spcPts val="600"/>
              </a:spcAft>
              <a:buFont typeface="Arial" panose="020B0604020202020204" pitchFamily="34" charset="0"/>
              <a:buChar char="•"/>
              <a:defRPr kumimoji="1" sz="1800" b="0" kern="1200">
                <a:solidFill>
                  <a:schemeClr val="tx1"/>
                </a:solidFill>
                <a:latin typeface="游ゴシック Medium" panose="020B0500000000000000" pitchFamily="50" charset="-128"/>
                <a:ea typeface="游ゴシック Medium" panose="020B0500000000000000" pitchFamily="50" charset="-128"/>
                <a:cs typeface="+mn-cs"/>
              </a:defRPr>
            </a:lvl2pPr>
            <a:lvl3pPr marL="1200150" indent="-28575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3pPr>
            <a:lvl4pPr marL="17145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4pPr>
            <a:lvl5pPr marL="21717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9pPr>
          </a:lstStyle>
          <a:p>
            <a:pPr marL="0" indent="0">
              <a:lnSpc>
                <a:spcPct val="110000"/>
              </a:lnSpc>
              <a:spcBef>
                <a:spcPts val="1000"/>
              </a:spcBef>
              <a:buFontTx/>
              <a:buNone/>
            </a:pPr>
            <a:r>
              <a:rPr lang="ja-JP" altLang="en-US" sz="1600">
                <a:solidFill>
                  <a:sysClr val="windowText" lastClr="000000"/>
                </a:solidFill>
              </a:rPr>
              <a:t>中間生成物：</a:t>
            </a:r>
            <a:r>
              <a:rPr lang="en-US" altLang="ja-JP" sz="1600" b="1" dirty="0">
                <a:solidFill>
                  <a:sysClr val="windowText" lastClr="000000"/>
                </a:solidFill>
                <a:latin typeface="Yu Gothic" panose="020B0400000000000000" pitchFamily="34" charset="-128"/>
                <a:ea typeface="Yu Gothic" panose="020B0400000000000000" pitchFamily="34" charset="-128"/>
              </a:rPr>
              <a:t>14</a:t>
            </a:r>
            <a:r>
              <a:rPr lang="ja-JP" altLang="en-US" sz="1600" b="1">
                <a:solidFill>
                  <a:sysClr val="windowText" lastClr="000000"/>
                </a:solidFill>
                <a:latin typeface="Yu Gothic" panose="020B0400000000000000" pitchFamily="34" charset="-128"/>
                <a:ea typeface="Yu Gothic" panose="020B0400000000000000" pitchFamily="34" charset="-128"/>
              </a:rPr>
              <a:t>状態</a:t>
            </a:r>
            <a:endParaRPr lang="ja-JP" altLang="en-US" sz="1600" b="1" dirty="0">
              <a:solidFill>
                <a:sysClr val="windowText" lastClr="000000"/>
              </a:solidFill>
              <a:latin typeface="Yu Gothic" panose="020B0400000000000000" pitchFamily="34" charset="-128"/>
              <a:ea typeface="Yu Gothic" panose="020B0400000000000000" pitchFamily="34" charset="-128"/>
            </a:endParaRPr>
          </a:p>
        </p:txBody>
      </p:sp>
      <p:sp>
        <p:nvSpPr>
          <p:cNvPr id="118" name="コンテンツ プレースホルダー 15">
            <a:extLst>
              <a:ext uri="{FF2B5EF4-FFF2-40B4-BE49-F238E27FC236}">
                <a16:creationId xmlns:a16="http://schemas.microsoft.com/office/drawing/2014/main" id="{2E06EDDB-FA61-4DDC-CB96-98D58DB6C4F7}"/>
              </a:ext>
            </a:extLst>
          </p:cNvPr>
          <p:cNvSpPr txBox="1">
            <a:spLocks/>
          </p:cNvSpPr>
          <p:nvPr/>
        </p:nvSpPr>
        <p:spPr>
          <a:xfrm>
            <a:off x="8464542" y="5144062"/>
            <a:ext cx="2517452" cy="366505"/>
          </a:xfrm>
          <a:prstGeom prst="rect">
            <a:avLst/>
          </a:prstGeom>
        </p:spPr>
        <p:txBody>
          <a:bodyPr vert="horz" wrap="square" lIns="91440" tIns="45720" rIns="91440" bIns="45720" rtlCol="0">
            <a:normAutofit/>
          </a:bodyPr>
          <a:lstStyle>
            <a:lvl1pPr marL="285750" indent="-285750" algn="l" defTabSz="914400" rtl="0" eaLnBrk="1" latinLnBrk="0" hangingPunct="1">
              <a:lnSpc>
                <a:spcPct val="120000"/>
              </a:lnSpc>
              <a:spcBef>
                <a:spcPts val="0"/>
              </a:spcBef>
              <a:spcAft>
                <a:spcPts val="0"/>
              </a:spcAft>
              <a:buFont typeface="Arial" panose="020B0604020202020204" pitchFamily="34" charset="0"/>
              <a:buChar char="•"/>
              <a:defRPr kumimoji="1" sz="1800" b="0" i="0" kern="1200">
                <a:solidFill>
                  <a:schemeClr val="tx1"/>
                </a:solidFill>
                <a:latin typeface="Yu Gothic Medium" panose="020B0400000000000000" pitchFamily="34" charset="-128"/>
                <a:ea typeface="Yu Gothic Medium" panose="020B0400000000000000" pitchFamily="34" charset="-128"/>
                <a:cs typeface="+mn-cs"/>
              </a:defRPr>
            </a:lvl1pPr>
            <a:lvl2pPr marL="742950" indent="-285750" algn="l" defTabSz="914400" rtl="0" eaLnBrk="1" latinLnBrk="0" hangingPunct="1">
              <a:lnSpc>
                <a:spcPct val="120000"/>
              </a:lnSpc>
              <a:spcBef>
                <a:spcPts val="600"/>
              </a:spcBef>
              <a:spcAft>
                <a:spcPts val="600"/>
              </a:spcAft>
              <a:buFont typeface="Arial" panose="020B0604020202020204" pitchFamily="34" charset="0"/>
              <a:buChar char="•"/>
              <a:defRPr kumimoji="1" sz="1800" b="0" kern="1200">
                <a:solidFill>
                  <a:schemeClr val="tx1"/>
                </a:solidFill>
                <a:latin typeface="游ゴシック Medium" panose="020B0500000000000000" pitchFamily="50" charset="-128"/>
                <a:ea typeface="游ゴシック Medium" panose="020B0500000000000000" pitchFamily="50" charset="-128"/>
                <a:cs typeface="+mn-cs"/>
              </a:defRPr>
            </a:lvl2pPr>
            <a:lvl3pPr marL="1200150" indent="-28575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3pPr>
            <a:lvl4pPr marL="17145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4pPr>
            <a:lvl5pPr marL="2171700" indent="-3429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9pPr>
          </a:lstStyle>
          <a:p>
            <a:pPr marL="0" indent="0">
              <a:lnSpc>
                <a:spcPct val="110000"/>
              </a:lnSpc>
              <a:spcBef>
                <a:spcPts val="1000"/>
              </a:spcBef>
              <a:buFontTx/>
              <a:buNone/>
            </a:pPr>
            <a:r>
              <a:rPr lang="ja-JP" altLang="en-US" sz="1600">
                <a:solidFill>
                  <a:sysClr val="windowText" lastClr="000000"/>
                </a:solidFill>
              </a:rPr>
              <a:t>制御器：</a:t>
            </a:r>
            <a:r>
              <a:rPr lang="en-US" altLang="ja-JP" sz="1600" b="1" dirty="0">
                <a:solidFill>
                  <a:sysClr val="windowText" lastClr="000000"/>
                </a:solidFill>
                <a:latin typeface="Yu Gothic" panose="020B0400000000000000" pitchFamily="34" charset="-128"/>
                <a:ea typeface="Yu Gothic" panose="020B0400000000000000" pitchFamily="34" charset="-128"/>
              </a:rPr>
              <a:t>14</a:t>
            </a:r>
            <a:r>
              <a:rPr lang="ja-JP" altLang="en-US" sz="1600" b="1">
                <a:solidFill>
                  <a:sysClr val="windowText" lastClr="000000"/>
                </a:solidFill>
                <a:latin typeface="Yu Gothic" panose="020B0400000000000000" pitchFamily="34" charset="-128"/>
                <a:ea typeface="Yu Gothic" panose="020B0400000000000000" pitchFamily="34" charset="-128"/>
              </a:rPr>
              <a:t>状態</a:t>
            </a:r>
            <a:endParaRPr lang="ja-JP" altLang="en-US" sz="1600" b="1" dirty="0">
              <a:solidFill>
                <a:sysClr val="windowText" lastClr="000000"/>
              </a:solidFill>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729838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085141-3ECF-57AC-297F-FE20B18C4A89}"/>
              </a:ext>
            </a:extLst>
          </p:cNvPr>
          <p:cNvSpPr>
            <a:spLocks noGrp="1"/>
          </p:cNvSpPr>
          <p:nvPr>
            <p:ph type="title"/>
          </p:nvPr>
        </p:nvSpPr>
        <p:spPr>
          <a:xfrm>
            <a:off x="188844" y="272360"/>
            <a:ext cx="9005956" cy="509518"/>
          </a:xfrm>
        </p:spPr>
        <p:txBody>
          <a:bodyPr/>
          <a:lstStyle/>
          <a:p>
            <a:r>
              <a:rPr lang="ja-JP" altLang="en-US"/>
              <a:t>従来手法：段階的制御器合成（</a:t>
            </a:r>
            <a:r>
              <a:rPr lang="en-US" altLang="ja-JP" dirty="0"/>
              <a:t>14</a:t>
            </a:r>
            <a:r>
              <a:rPr lang="ja-JP" altLang="en-US"/>
              <a:t>状態だと不十分という吹き出し）</a:t>
            </a:r>
            <a:endParaRPr kumimoji="1" lang="ja-JP" altLang="en-US"/>
          </a:p>
        </p:txBody>
      </p:sp>
      <p:sp>
        <p:nvSpPr>
          <p:cNvPr id="3" name="コンテンツ プレースホルダー 2">
            <a:extLst>
              <a:ext uri="{FF2B5EF4-FFF2-40B4-BE49-F238E27FC236}">
                <a16:creationId xmlns:a16="http://schemas.microsoft.com/office/drawing/2014/main" id="{1E9B3E72-D686-71B5-7E30-8DDCD570019A}"/>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段階的制御器合成で生成される中間生成物</a:t>
            </a:r>
            <a:endParaRPr kumimoji="1" lang="en-US" altLang="ja-JP" sz="2400" b="1" dirty="0">
              <a:latin typeface="Yu Gothic" panose="020B0400000000000000" pitchFamily="34" charset="-128"/>
              <a:ea typeface="Yu Gothic" panose="020B0400000000000000" pitchFamily="34" charset="-128"/>
            </a:endParaRPr>
          </a:p>
          <a:p>
            <a:r>
              <a:rPr kumimoji="1" lang="ja-JP" altLang="en-US"/>
              <a:t>分析する環境モデルに対し，最低限の環境モデルを合成に用いることで，</a:t>
            </a:r>
            <a:r>
              <a:rPr kumimoji="1" lang="ja-JP" altLang="en-US" b="1">
                <a:latin typeface="Yu Gothic" panose="020B0400000000000000" pitchFamily="34" charset="-128"/>
                <a:ea typeface="Yu Gothic" panose="020B0400000000000000" pitchFamily="34" charset="-128"/>
              </a:rPr>
              <a:t>離散制御器合成のときより小さい中間生成物が生成される</a:t>
            </a:r>
            <a:endParaRPr kumimoji="1" lang="en-US" altLang="ja-JP" b="1" dirty="0">
              <a:latin typeface="Yu Gothic" panose="020B0400000000000000" pitchFamily="34" charset="-128"/>
              <a:ea typeface="Yu Gothic" panose="020B0400000000000000" pitchFamily="34" charset="-128"/>
            </a:endParaRPr>
          </a:p>
          <a:p>
            <a:pPr marL="0" indent="0">
              <a:buNone/>
            </a:pP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br>
              <a:rPr lang="en-US" altLang="ja-JP" b="1" dirty="0">
                <a:latin typeface="Yu Gothic" panose="020B0400000000000000" pitchFamily="34" charset="-128"/>
                <a:ea typeface="Yu Gothic" panose="020B0400000000000000" pitchFamily="34" charset="-128"/>
              </a:rPr>
            </a:br>
            <a:r>
              <a:rPr lang="en-US" altLang="ja-JP" b="1" dirty="0">
                <a:latin typeface="Yu Gothic" panose="020B0400000000000000" pitchFamily="34" charset="-128"/>
                <a:ea typeface="Yu Gothic" panose="020B0400000000000000" pitchFamily="34" charset="-128"/>
              </a:rPr>
              <a:t>            </a:t>
            </a:r>
            <a:r>
              <a:rPr lang="ja-JP" altLang="en-US"/>
              <a:t>通常の離散制御器合成の中間生成物：</a:t>
            </a:r>
            <a:r>
              <a:rPr lang="en-US" altLang="ja-JP" b="1" dirty="0">
                <a:latin typeface="Yu Gothic" panose="020B0400000000000000" pitchFamily="34" charset="-128"/>
                <a:ea typeface="Yu Gothic" panose="020B0400000000000000" pitchFamily="34" charset="-128"/>
              </a:rPr>
              <a:t>18</a:t>
            </a:r>
            <a:r>
              <a:rPr lang="ja-JP" altLang="en-US" b="1">
                <a:latin typeface="Yu Gothic" panose="020B0400000000000000" pitchFamily="34" charset="-128"/>
                <a:ea typeface="Yu Gothic" panose="020B0400000000000000" pitchFamily="34" charset="-128"/>
              </a:rPr>
              <a:t>状態　　　　　　　</a:t>
            </a:r>
            <a:r>
              <a:rPr lang="ja-JP" altLang="en-US"/>
              <a:t>段階的制御器合成の中間生成物：</a:t>
            </a:r>
            <a:r>
              <a:rPr lang="en-US" altLang="ja-JP" b="1" dirty="0">
                <a:latin typeface="Yu Gothic" panose="020B0400000000000000" pitchFamily="34" charset="-128"/>
                <a:ea typeface="Yu Gothic" panose="020B0400000000000000" pitchFamily="34" charset="-128"/>
              </a:rPr>
              <a:t>14</a:t>
            </a:r>
            <a:r>
              <a:rPr lang="ja-JP" altLang="en-US" b="1">
                <a:latin typeface="Yu Gothic" panose="020B0400000000000000" pitchFamily="34" charset="-128"/>
                <a:ea typeface="Yu Gothic" panose="020B0400000000000000" pitchFamily="34" charset="-128"/>
              </a:rPr>
              <a:t>状態</a:t>
            </a:r>
            <a:endParaRPr lang="en-US" altLang="ja-JP" b="1" dirty="0">
              <a:latin typeface="Yu Gothic" panose="020B0400000000000000" pitchFamily="34" charset="-128"/>
              <a:ea typeface="Yu Gothic" panose="020B0400000000000000" pitchFamily="34" charset="-128"/>
            </a:endParaRPr>
          </a:p>
        </p:txBody>
      </p:sp>
      <p:sp>
        <p:nvSpPr>
          <p:cNvPr id="4" name="スライド番号プレースホルダー 3">
            <a:extLst>
              <a:ext uri="{FF2B5EF4-FFF2-40B4-BE49-F238E27FC236}">
                <a16:creationId xmlns:a16="http://schemas.microsoft.com/office/drawing/2014/main" id="{7621A5B7-A19E-E384-9D2F-022916C9C94A}"/>
              </a:ext>
            </a:extLst>
          </p:cNvPr>
          <p:cNvSpPr>
            <a:spLocks noGrp="1"/>
          </p:cNvSpPr>
          <p:nvPr>
            <p:ph type="sldNum" sz="quarter" idx="11"/>
          </p:nvPr>
        </p:nvSpPr>
        <p:spPr/>
        <p:txBody>
          <a:bodyPr/>
          <a:lstStyle/>
          <a:p>
            <a:fld id="{E0D93E39-1AFA-2A42-BAF4-0CDD5F6E9A80}" type="slidenum">
              <a:rPr kumimoji="1" lang="ja-JP" altLang="en-US" smtClean="0"/>
              <a:pPr/>
              <a:t>7</a:t>
            </a:fld>
            <a:endParaRPr kumimoji="1" lang="ja-JP" altLang="en-US"/>
          </a:p>
        </p:txBody>
      </p:sp>
      <p:sp>
        <p:nvSpPr>
          <p:cNvPr id="7" name="テキスト ボックス 6">
            <a:extLst>
              <a:ext uri="{FF2B5EF4-FFF2-40B4-BE49-F238E27FC236}">
                <a16:creationId xmlns:a16="http://schemas.microsoft.com/office/drawing/2014/main" id="{EFD0B296-2C01-F50B-8EB1-7CD620B3AC41}"/>
              </a:ext>
            </a:extLst>
          </p:cNvPr>
          <p:cNvSpPr txBox="1"/>
          <p:nvPr/>
        </p:nvSpPr>
        <p:spPr>
          <a:xfrm>
            <a:off x="2430696" y="4768676"/>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pic>
        <p:nvPicPr>
          <p:cNvPr id="24" name="図 23" descr="ダイアグラム&#10;&#10;AI 生成コンテンツは誤りを含む可能性があります。">
            <a:extLst>
              <a:ext uri="{FF2B5EF4-FFF2-40B4-BE49-F238E27FC236}">
                <a16:creationId xmlns:a16="http://schemas.microsoft.com/office/drawing/2014/main" id="{B7464AFF-BC2A-F825-3155-E52F80516821}"/>
              </a:ext>
            </a:extLst>
          </p:cNvPr>
          <p:cNvPicPr>
            <a:picLocks noChangeAspect="1"/>
          </p:cNvPicPr>
          <p:nvPr/>
        </p:nvPicPr>
        <p:blipFill>
          <a:blip r:embed="rId3"/>
          <a:stretch>
            <a:fillRect/>
          </a:stretch>
        </p:blipFill>
        <p:spPr>
          <a:xfrm>
            <a:off x="365964" y="2561042"/>
            <a:ext cx="5758808" cy="2772957"/>
          </a:xfrm>
          <a:prstGeom prst="rect">
            <a:avLst/>
          </a:prstGeom>
        </p:spPr>
      </p:pic>
      <p:pic>
        <p:nvPicPr>
          <p:cNvPr id="25" name="図 24">
            <a:extLst>
              <a:ext uri="{FF2B5EF4-FFF2-40B4-BE49-F238E27FC236}">
                <a16:creationId xmlns:a16="http://schemas.microsoft.com/office/drawing/2014/main" id="{B9461FEC-5A6D-4172-4766-57B57D930CA9}"/>
              </a:ext>
            </a:extLst>
          </p:cNvPr>
          <p:cNvPicPr>
            <a:picLocks noChangeAspect="1"/>
          </p:cNvPicPr>
          <p:nvPr/>
        </p:nvPicPr>
        <p:blipFill>
          <a:blip r:embed="rId4"/>
          <a:srcRect/>
          <a:stretch/>
        </p:blipFill>
        <p:spPr>
          <a:xfrm>
            <a:off x="6777359" y="2974352"/>
            <a:ext cx="4924418" cy="1932482"/>
          </a:xfrm>
          <a:prstGeom prst="rect">
            <a:avLst/>
          </a:prstGeom>
        </p:spPr>
      </p:pic>
    </p:spTree>
    <p:extLst>
      <p:ext uri="{BB962C8B-B14F-4D97-AF65-F5344CB8AC3E}">
        <p14:creationId xmlns:p14="http://schemas.microsoft.com/office/powerpoint/2010/main" val="2436037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カギ線コネクタ 87">
            <a:extLst>
              <a:ext uri="{FF2B5EF4-FFF2-40B4-BE49-F238E27FC236}">
                <a16:creationId xmlns:a16="http://schemas.microsoft.com/office/drawing/2014/main" id="{08ED40CF-3C0E-E69C-1E8A-CB9409B3C7D6}"/>
              </a:ext>
            </a:extLst>
          </p:cNvPr>
          <p:cNvCxnSpPr>
            <a:stCxn id="84" idx="1"/>
            <a:endCxn id="41" idx="2"/>
          </p:cNvCxnSpPr>
          <p:nvPr/>
        </p:nvCxnSpPr>
        <p:spPr>
          <a:xfrm rot="10800000">
            <a:off x="2506945" y="5000351"/>
            <a:ext cx="4053612" cy="82414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91E008BA-5B23-87CB-B5D1-D63033F80647}"/>
              </a:ext>
            </a:extLst>
          </p:cNvPr>
          <p:cNvSpPr>
            <a:spLocks noGrp="1"/>
          </p:cNvSpPr>
          <p:nvPr>
            <p:ph type="title"/>
          </p:nvPr>
        </p:nvSpPr>
        <p:spPr>
          <a:xfrm>
            <a:off x="188843" y="272360"/>
            <a:ext cx="9427951" cy="509518"/>
          </a:xfrm>
        </p:spPr>
        <p:txBody>
          <a:bodyPr/>
          <a:lstStyle/>
          <a:p>
            <a:r>
              <a:rPr lang="ja-JP" altLang="en-US"/>
              <a:t>提案手法：段階的制御器合成＋</a:t>
            </a:r>
            <a:r>
              <a:rPr lang="en-US" altLang="ja-JP" dirty="0"/>
              <a:t>LTS</a:t>
            </a:r>
            <a:r>
              <a:rPr lang="ja-JP" altLang="en-US"/>
              <a:t>の最小化</a:t>
            </a:r>
            <a:endParaRPr kumimoji="1" lang="ja-JP" altLang="en-US"/>
          </a:p>
        </p:txBody>
      </p:sp>
      <p:sp>
        <p:nvSpPr>
          <p:cNvPr id="3" name="コンテンツ プレースホルダー 2">
            <a:extLst>
              <a:ext uri="{FF2B5EF4-FFF2-40B4-BE49-F238E27FC236}">
                <a16:creationId xmlns:a16="http://schemas.microsoft.com/office/drawing/2014/main" id="{623E25F2-D9E2-088A-AB82-83191497D65D}"/>
              </a:ext>
            </a:extLst>
          </p:cNvPr>
          <p:cNvSpPr>
            <a:spLocks noGrp="1"/>
          </p:cNvSpPr>
          <p:nvPr>
            <p:ph sz="quarter" idx="10"/>
          </p:nvPr>
        </p:nvSpPr>
        <p:spPr>
          <a:xfrm>
            <a:off x="188844" y="947058"/>
            <a:ext cx="12003156" cy="1595273"/>
          </a:xfrm>
        </p:spPr>
        <p:txBody>
          <a:bodyPr/>
          <a:lstStyle/>
          <a:p>
            <a:pPr marL="0" indent="0">
              <a:buNone/>
            </a:pPr>
            <a:r>
              <a:rPr kumimoji="1" lang="ja-JP" altLang="en-US" sz="2400" b="1">
                <a:latin typeface="Yu Gothic" panose="020B0400000000000000" pitchFamily="34" charset="-128"/>
                <a:ea typeface="Yu Gothic" panose="020B0400000000000000" pitchFamily="34" charset="-128"/>
              </a:rPr>
              <a:t>段階的制御器合成の各段階の最後に毎回最小化する手法を提案</a:t>
            </a:r>
            <a:endParaRPr kumimoji="1" lang="en-US" altLang="ja-JP" sz="2400" b="1" dirty="0">
              <a:latin typeface="Yu Gothic" panose="020B0400000000000000" pitchFamily="34" charset="-128"/>
              <a:ea typeface="Yu Gothic" panose="020B0400000000000000" pitchFamily="34" charset="-128"/>
            </a:endParaRPr>
          </a:p>
          <a:p>
            <a:r>
              <a:rPr kumimoji="1" lang="ja-JP" altLang="en-US"/>
              <a:t>部分制御器ごとに</a:t>
            </a:r>
            <a:r>
              <a:rPr lang="ja-JP" altLang="en-US"/>
              <a:t>最小化</a:t>
            </a:r>
            <a:r>
              <a:rPr kumimoji="1" lang="ja-JP" altLang="en-US"/>
              <a:t>を適用することで，各合成段階での状態爆発を抑制</a:t>
            </a:r>
            <a:endParaRPr kumimoji="1" lang="en-US" altLang="ja-JP" dirty="0"/>
          </a:p>
          <a:p>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の等価性：</a:t>
            </a:r>
            <a:r>
              <a:rPr lang="ja-JP" altLang="en-US">
                <a:latin typeface="Yu Gothic" panose="020B0400000000000000" pitchFamily="34" charset="-128"/>
                <a:ea typeface="Yu Gothic" panose="020B0400000000000000" pitchFamily="34" charset="-128"/>
              </a:rPr>
              <a:t>ある </a:t>
            </a:r>
            <a:r>
              <a:rPr lang="en-US" altLang="ja-JP" dirty="0">
                <a:latin typeface="Yu Gothic" panose="020B0400000000000000" pitchFamily="34" charset="-128"/>
                <a:ea typeface="Yu Gothic" panose="020B0400000000000000" pitchFamily="34" charset="-128"/>
              </a:rPr>
              <a:t>2 </a:t>
            </a:r>
            <a:r>
              <a:rPr lang="ja-JP" altLang="en-US">
                <a:latin typeface="Yu Gothic" panose="020B0400000000000000" pitchFamily="34" charset="-128"/>
                <a:ea typeface="Yu Gothic" panose="020B0400000000000000" pitchFamily="34" charset="-128"/>
              </a:rPr>
              <a:t>つの </a:t>
            </a:r>
            <a:r>
              <a:rPr lang="en-US" altLang="ja-JP" dirty="0">
                <a:latin typeface="Yu Gothic" panose="020B0400000000000000" pitchFamily="34" charset="-128"/>
                <a:ea typeface="Yu Gothic" panose="020B0400000000000000" pitchFamily="34" charset="-128"/>
              </a:rPr>
              <a:t>LTS</a:t>
            </a:r>
            <a:r>
              <a:rPr lang="ja-JP" altLang="en-US">
                <a:latin typeface="Yu Gothic" panose="020B0400000000000000" pitchFamily="34" charset="-128"/>
                <a:ea typeface="Yu Gothic" panose="020B0400000000000000" pitchFamily="34" charset="-128"/>
              </a:rPr>
              <a:t>から生成されるすべての事象列が同じときに，その</a:t>
            </a:r>
            <a:r>
              <a:rPr lang="en-US" altLang="ja-JP" dirty="0">
                <a:latin typeface="Yu Gothic" panose="020B0400000000000000" pitchFamily="34" charset="-128"/>
                <a:ea typeface="Yu Gothic" panose="020B0400000000000000" pitchFamily="34" charset="-128"/>
              </a:rPr>
              <a:t>LTS </a:t>
            </a:r>
            <a:r>
              <a:rPr lang="ja-JP" altLang="en-US">
                <a:latin typeface="Yu Gothic" panose="020B0400000000000000" pitchFamily="34" charset="-128"/>
                <a:ea typeface="Yu Gothic" panose="020B0400000000000000" pitchFamily="34" charset="-128"/>
              </a:rPr>
              <a:t>が等価とみなせる性質</a:t>
            </a:r>
            <a:endParaRPr lang="en-US" altLang="ja-JP" dirty="0">
              <a:latin typeface="Yu Gothic" panose="020B0400000000000000" pitchFamily="34" charset="-128"/>
              <a:ea typeface="Yu Gothic" panose="020B0400000000000000" pitchFamily="34" charset="-128"/>
            </a:endParaRPr>
          </a:p>
          <a:p>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の最小化</a:t>
            </a:r>
            <a:r>
              <a:rPr lang="en-US" altLang="ja-JP" sz="1200" b="1" dirty="0">
                <a:latin typeface="Yu Gothic" panose="020B0400000000000000" pitchFamily="34" charset="-128"/>
                <a:ea typeface="Yu Gothic" panose="020B0400000000000000" pitchFamily="34" charset="-128"/>
              </a:rPr>
              <a:t>[1]</a:t>
            </a:r>
            <a:r>
              <a:rPr lang="ja-JP" altLang="en-US" b="1">
                <a:latin typeface="Yu Gothic" panose="020B0400000000000000" pitchFamily="34" charset="-128"/>
                <a:ea typeface="Yu Gothic" panose="020B0400000000000000" pitchFamily="34" charset="-128"/>
              </a:rPr>
              <a:t>：</a:t>
            </a:r>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の等価性</a:t>
            </a:r>
            <a:r>
              <a:rPr lang="ja-JP" altLang="en-US">
                <a:latin typeface="Yu Gothic" panose="020B0400000000000000" pitchFamily="34" charset="-128"/>
                <a:ea typeface="Yu Gothic" panose="020B0400000000000000" pitchFamily="34" charset="-128"/>
              </a:rPr>
              <a:t>に基づいて，</a:t>
            </a:r>
            <a:r>
              <a:rPr lang="en-US" altLang="ja-JP" dirty="0">
                <a:latin typeface="Yu Gothic" panose="020B0400000000000000" pitchFamily="34" charset="-128"/>
                <a:ea typeface="Yu Gothic" panose="020B0400000000000000" pitchFamily="34" charset="-128"/>
              </a:rPr>
              <a:t>LTS</a:t>
            </a:r>
            <a:r>
              <a:rPr lang="ja-JP" altLang="en-US">
                <a:latin typeface="Yu Gothic" panose="020B0400000000000000" pitchFamily="34" charset="-128"/>
                <a:ea typeface="Yu Gothic" panose="020B0400000000000000" pitchFamily="34" charset="-128"/>
              </a:rPr>
              <a:t>を状態数が最小のものに変換する操作</a:t>
            </a:r>
            <a:endParaRPr lang="en-US" altLang="ja-JP" dirty="0"/>
          </a:p>
        </p:txBody>
      </p:sp>
      <p:sp>
        <p:nvSpPr>
          <p:cNvPr id="4" name="スライド番号プレースホルダー 3">
            <a:extLst>
              <a:ext uri="{FF2B5EF4-FFF2-40B4-BE49-F238E27FC236}">
                <a16:creationId xmlns:a16="http://schemas.microsoft.com/office/drawing/2014/main" id="{5EDC001A-7DBC-FF87-B4A6-4FD19316C723}"/>
              </a:ext>
            </a:extLst>
          </p:cNvPr>
          <p:cNvSpPr>
            <a:spLocks noGrp="1"/>
          </p:cNvSpPr>
          <p:nvPr>
            <p:ph type="sldNum" sz="quarter" idx="11"/>
          </p:nvPr>
        </p:nvSpPr>
        <p:spPr/>
        <p:txBody>
          <a:bodyPr/>
          <a:lstStyle/>
          <a:p>
            <a:fld id="{E0D93E39-1AFA-2A42-BAF4-0CDD5F6E9A80}" type="slidenum">
              <a:rPr kumimoji="1" lang="ja-JP" altLang="en-US" smtClean="0"/>
              <a:pPr/>
              <a:t>8</a:t>
            </a:fld>
            <a:endParaRPr kumimoji="1" lang="ja-JP" altLang="en-US"/>
          </a:p>
        </p:txBody>
      </p:sp>
      <p:sp>
        <p:nvSpPr>
          <p:cNvPr id="5" name="角丸四角形 4">
            <a:extLst>
              <a:ext uri="{FF2B5EF4-FFF2-40B4-BE49-F238E27FC236}">
                <a16:creationId xmlns:a16="http://schemas.microsoft.com/office/drawing/2014/main" id="{8C9C42E4-1E3C-32D2-45E2-43F3C81623C2}"/>
              </a:ext>
            </a:extLst>
          </p:cNvPr>
          <p:cNvSpPr/>
          <p:nvPr/>
        </p:nvSpPr>
        <p:spPr>
          <a:xfrm>
            <a:off x="188844"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6B718D6C-16A4-A7CA-3484-F1D7A0D04683}"/>
              </a:ext>
            </a:extLst>
          </p:cNvPr>
          <p:cNvSpPr/>
          <p:nvPr/>
        </p:nvSpPr>
        <p:spPr>
          <a:xfrm>
            <a:off x="188844"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161FB506-B65A-28CF-4F71-470FAEF3AB33}"/>
              </a:ext>
            </a:extLst>
          </p:cNvPr>
          <p:cNvSpPr/>
          <p:nvPr/>
        </p:nvSpPr>
        <p:spPr>
          <a:xfrm>
            <a:off x="351404"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8" name="角丸四角形 7">
            <a:extLst>
              <a:ext uri="{FF2B5EF4-FFF2-40B4-BE49-F238E27FC236}">
                <a16:creationId xmlns:a16="http://schemas.microsoft.com/office/drawing/2014/main" id="{9569E17B-5EC5-05A2-934E-633AD941F458}"/>
              </a:ext>
            </a:extLst>
          </p:cNvPr>
          <p:cNvSpPr/>
          <p:nvPr/>
        </p:nvSpPr>
        <p:spPr>
          <a:xfrm>
            <a:off x="351404" y="3605856"/>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9" name="角丸四角形 8">
            <a:extLst>
              <a:ext uri="{FF2B5EF4-FFF2-40B4-BE49-F238E27FC236}">
                <a16:creationId xmlns:a16="http://schemas.microsoft.com/office/drawing/2014/main" id="{B5453E49-5750-7853-2A01-B6BDCBEEA65D}"/>
              </a:ext>
            </a:extLst>
          </p:cNvPr>
          <p:cNvSpPr/>
          <p:nvPr/>
        </p:nvSpPr>
        <p:spPr>
          <a:xfrm>
            <a:off x="351404" y="3124208"/>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0" name="テキスト ボックス 9">
            <a:extLst>
              <a:ext uri="{FF2B5EF4-FFF2-40B4-BE49-F238E27FC236}">
                <a16:creationId xmlns:a16="http://schemas.microsoft.com/office/drawing/2014/main" id="{4C4B29B1-5D19-1E3A-99CD-9D0A6310BF22}"/>
              </a:ext>
            </a:extLst>
          </p:cNvPr>
          <p:cNvSpPr txBox="1"/>
          <p:nvPr/>
        </p:nvSpPr>
        <p:spPr>
          <a:xfrm>
            <a:off x="351404"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5" name="角丸四角形 14">
            <a:extLst>
              <a:ext uri="{FF2B5EF4-FFF2-40B4-BE49-F238E27FC236}">
                <a16:creationId xmlns:a16="http://schemas.microsoft.com/office/drawing/2014/main" id="{4DED8606-8357-0E8D-9ADF-FB5EF4EA9662}"/>
              </a:ext>
            </a:extLst>
          </p:cNvPr>
          <p:cNvSpPr/>
          <p:nvPr/>
        </p:nvSpPr>
        <p:spPr>
          <a:xfrm>
            <a:off x="372217"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6" name="角丸四角形 15">
            <a:extLst>
              <a:ext uri="{FF2B5EF4-FFF2-40B4-BE49-F238E27FC236}">
                <a16:creationId xmlns:a16="http://schemas.microsoft.com/office/drawing/2014/main" id="{8497F3A4-2031-CC4F-63BE-F7906BFF7DFF}"/>
              </a:ext>
            </a:extLst>
          </p:cNvPr>
          <p:cNvSpPr/>
          <p:nvPr/>
        </p:nvSpPr>
        <p:spPr>
          <a:xfrm>
            <a:off x="372217"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7" name="角丸四角形 16">
            <a:extLst>
              <a:ext uri="{FF2B5EF4-FFF2-40B4-BE49-F238E27FC236}">
                <a16:creationId xmlns:a16="http://schemas.microsoft.com/office/drawing/2014/main" id="{AE469183-539E-3FFF-D0B8-C96A5C303839}"/>
              </a:ext>
            </a:extLst>
          </p:cNvPr>
          <p:cNvSpPr/>
          <p:nvPr/>
        </p:nvSpPr>
        <p:spPr>
          <a:xfrm>
            <a:off x="372217" y="5154411"/>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8" name="テキスト ボックス 17">
            <a:extLst>
              <a:ext uri="{FF2B5EF4-FFF2-40B4-BE49-F238E27FC236}">
                <a16:creationId xmlns:a16="http://schemas.microsoft.com/office/drawing/2014/main" id="{BC1A9115-4EC2-60B4-D551-A6F3835B399F}"/>
              </a:ext>
            </a:extLst>
          </p:cNvPr>
          <p:cNvSpPr txBox="1"/>
          <p:nvPr/>
        </p:nvSpPr>
        <p:spPr>
          <a:xfrm>
            <a:off x="372217"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9" name="テキスト ボックス 18">
            <a:extLst>
              <a:ext uri="{FF2B5EF4-FFF2-40B4-BE49-F238E27FC236}">
                <a16:creationId xmlns:a16="http://schemas.microsoft.com/office/drawing/2014/main" id="{59541A4C-2F8E-3D5D-9B76-629BC775331F}"/>
              </a:ext>
            </a:extLst>
          </p:cNvPr>
          <p:cNvSpPr txBox="1"/>
          <p:nvPr/>
        </p:nvSpPr>
        <p:spPr>
          <a:xfrm>
            <a:off x="1688123"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20" name="角丸四角形 19">
            <a:extLst>
              <a:ext uri="{FF2B5EF4-FFF2-40B4-BE49-F238E27FC236}">
                <a16:creationId xmlns:a16="http://schemas.microsoft.com/office/drawing/2014/main" id="{0A28DE58-261D-DF43-9788-1A0599738582}"/>
              </a:ext>
            </a:extLst>
          </p:cNvPr>
          <p:cNvSpPr/>
          <p:nvPr/>
        </p:nvSpPr>
        <p:spPr>
          <a:xfrm>
            <a:off x="3245082" y="2707511"/>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42450C51-5568-F765-4A84-05EA05B330B4}"/>
              </a:ext>
            </a:extLst>
          </p:cNvPr>
          <p:cNvSpPr/>
          <p:nvPr/>
        </p:nvSpPr>
        <p:spPr>
          <a:xfrm>
            <a:off x="3245082"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03C1EC3D-8F1F-7003-D467-E92E616BB2BF}"/>
              </a:ext>
            </a:extLst>
          </p:cNvPr>
          <p:cNvSpPr/>
          <p:nvPr/>
        </p:nvSpPr>
        <p:spPr>
          <a:xfrm>
            <a:off x="3407642"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4" name="角丸四角形 23">
            <a:extLst>
              <a:ext uri="{FF2B5EF4-FFF2-40B4-BE49-F238E27FC236}">
                <a16:creationId xmlns:a16="http://schemas.microsoft.com/office/drawing/2014/main" id="{9902225A-B188-6AED-17D7-D8DDA33A3382}"/>
              </a:ext>
            </a:extLst>
          </p:cNvPr>
          <p:cNvSpPr/>
          <p:nvPr/>
        </p:nvSpPr>
        <p:spPr>
          <a:xfrm>
            <a:off x="3407642" y="3124208"/>
            <a:ext cx="914400" cy="9115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部分制御器</a:t>
            </a:r>
          </a:p>
        </p:txBody>
      </p:sp>
      <p:sp>
        <p:nvSpPr>
          <p:cNvPr id="25" name="テキスト ボックス 24">
            <a:extLst>
              <a:ext uri="{FF2B5EF4-FFF2-40B4-BE49-F238E27FC236}">
                <a16:creationId xmlns:a16="http://schemas.microsoft.com/office/drawing/2014/main" id="{1A85169A-1014-76BA-CFC6-EBA29CACAD36}"/>
              </a:ext>
            </a:extLst>
          </p:cNvPr>
          <p:cNvSpPr txBox="1"/>
          <p:nvPr/>
        </p:nvSpPr>
        <p:spPr>
          <a:xfrm>
            <a:off x="3407642"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6" name="角丸四角形 25">
            <a:extLst>
              <a:ext uri="{FF2B5EF4-FFF2-40B4-BE49-F238E27FC236}">
                <a16:creationId xmlns:a16="http://schemas.microsoft.com/office/drawing/2014/main" id="{C57B9CC3-3054-B396-DBDE-B9B35C3A0759}"/>
              </a:ext>
            </a:extLst>
          </p:cNvPr>
          <p:cNvSpPr/>
          <p:nvPr/>
        </p:nvSpPr>
        <p:spPr>
          <a:xfrm>
            <a:off x="3428455"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7" name="角丸四角形 26">
            <a:extLst>
              <a:ext uri="{FF2B5EF4-FFF2-40B4-BE49-F238E27FC236}">
                <a16:creationId xmlns:a16="http://schemas.microsoft.com/office/drawing/2014/main" id="{0C0C9CAC-8A65-41BB-0B4F-93B36AAE883B}"/>
              </a:ext>
            </a:extLst>
          </p:cNvPr>
          <p:cNvSpPr/>
          <p:nvPr/>
        </p:nvSpPr>
        <p:spPr>
          <a:xfrm>
            <a:off x="3428455"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8" name="角丸四角形 27">
            <a:extLst>
              <a:ext uri="{FF2B5EF4-FFF2-40B4-BE49-F238E27FC236}">
                <a16:creationId xmlns:a16="http://schemas.microsoft.com/office/drawing/2014/main" id="{912D5147-E40E-59D0-0FE9-DDBA8076AA4A}"/>
              </a:ext>
            </a:extLst>
          </p:cNvPr>
          <p:cNvSpPr/>
          <p:nvPr/>
        </p:nvSpPr>
        <p:spPr>
          <a:xfrm>
            <a:off x="3428455" y="5154411"/>
            <a:ext cx="914400" cy="429904"/>
          </a:xfrm>
          <a:prstGeom prst="roundRect">
            <a:avLst/>
          </a:prstGeom>
          <a:no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9" name="テキスト ボックス 28">
            <a:extLst>
              <a:ext uri="{FF2B5EF4-FFF2-40B4-BE49-F238E27FC236}">
                <a16:creationId xmlns:a16="http://schemas.microsoft.com/office/drawing/2014/main" id="{14295B8E-EF98-5906-3232-D2562FD801C3}"/>
              </a:ext>
            </a:extLst>
          </p:cNvPr>
          <p:cNvSpPr txBox="1"/>
          <p:nvPr/>
        </p:nvSpPr>
        <p:spPr>
          <a:xfrm>
            <a:off x="3428455"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0" name="角丸四角形 29">
            <a:extLst>
              <a:ext uri="{FF2B5EF4-FFF2-40B4-BE49-F238E27FC236}">
                <a16:creationId xmlns:a16="http://schemas.microsoft.com/office/drawing/2014/main" id="{920513C6-AF6D-4379-892F-84B99E00F6B2}"/>
              </a:ext>
            </a:extLst>
          </p:cNvPr>
          <p:cNvSpPr/>
          <p:nvPr/>
        </p:nvSpPr>
        <p:spPr>
          <a:xfrm>
            <a:off x="8905454"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98680166-8DD2-E3DD-D6C8-BE86F88A816C}"/>
              </a:ext>
            </a:extLst>
          </p:cNvPr>
          <p:cNvSpPr/>
          <p:nvPr/>
        </p:nvSpPr>
        <p:spPr>
          <a:xfrm>
            <a:off x="8905454"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3">
            <a:extLst>
              <a:ext uri="{FF2B5EF4-FFF2-40B4-BE49-F238E27FC236}">
                <a16:creationId xmlns:a16="http://schemas.microsoft.com/office/drawing/2014/main" id="{3D1CAA4F-71CE-470F-5752-4DFF9B07F9D6}"/>
              </a:ext>
            </a:extLst>
          </p:cNvPr>
          <p:cNvSpPr/>
          <p:nvPr/>
        </p:nvSpPr>
        <p:spPr>
          <a:xfrm>
            <a:off x="9068014" y="3124208"/>
            <a:ext cx="914400" cy="13932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制御器</a:t>
            </a:r>
          </a:p>
        </p:txBody>
      </p:sp>
      <p:sp>
        <p:nvSpPr>
          <p:cNvPr id="35" name="テキスト ボックス 34">
            <a:extLst>
              <a:ext uri="{FF2B5EF4-FFF2-40B4-BE49-F238E27FC236}">
                <a16:creationId xmlns:a16="http://schemas.microsoft.com/office/drawing/2014/main" id="{0A3114C2-5038-47FE-C283-743F89F5CAFA}"/>
              </a:ext>
            </a:extLst>
          </p:cNvPr>
          <p:cNvSpPr txBox="1"/>
          <p:nvPr/>
        </p:nvSpPr>
        <p:spPr>
          <a:xfrm>
            <a:off x="9068014"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6" name="角丸四角形 35">
            <a:extLst>
              <a:ext uri="{FF2B5EF4-FFF2-40B4-BE49-F238E27FC236}">
                <a16:creationId xmlns:a16="http://schemas.microsoft.com/office/drawing/2014/main" id="{2F0B8438-1AAC-DD97-4BA1-A1F529F70D05}"/>
              </a:ext>
            </a:extLst>
          </p:cNvPr>
          <p:cNvSpPr/>
          <p:nvPr/>
        </p:nvSpPr>
        <p:spPr>
          <a:xfrm>
            <a:off x="9088827" y="6117707"/>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7" name="角丸四角形 36">
            <a:extLst>
              <a:ext uri="{FF2B5EF4-FFF2-40B4-BE49-F238E27FC236}">
                <a16:creationId xmlns:a16="http://schemas.microsoft.com/office/drawing/2014/main" id="{72F0EF40-4787-A23A-8373-19C80E340501}"/>
              </a:ext>
            </a:extLst>
          </p:cNvPr>
          <p:cNvSpPr/>
          <p:nvPr/>
        </p:nvSpPr>
        <p:spPr>
          <a:xfrm>
            <a:off x="9088827" y="5636059"/>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8" name="角丸四角形 37">
            <a:extLst>
              <a:ext uri="{FF2B5EF4-FFF2-40B4-BE49-F238E27FC236}">
                <a16:creationId xmlns:a16="http://schemas.microsoft.com/office/drawing/2014/main" id="{40C68145-6ED0-91C7-7382-ACE16363A731}"/>
              </a:ext>
            </a:extLst>
          </p:cNvPr>
          <p:cNvSpPr/>
          <p:nvPr/>
        </p:nvSpPr>
        <p:spPr>
          <a:xfrm>
            <a:off x="9088827" y="5154411"/>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9" name="テキスト ボックス 38">
            <a:extLst>
              <a:ext uri="{FF2B5EF4-FFF2-40B4-BE49-F238E27FC236}">
                <a16:creationId xmlns:a16="http://schemas.microsoft.com/office/drawing/2014/main" id="{4F8CF239-F6BE-F3B4-6145-6E7B0850C882}"/>
              </a:ext>
            </a:extLst>
          </p:cNvPr>
          <p:cNvSpPr txBox="1"/>
          <p:nvPr/>
        </p:nvSpPr>
        <p:spPr>
          <a:xfrm>
            <a:off x="9088827"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40" name="山形 39">
            <a:extLst>
              <a:ext uri="{FF2B5EF4-FFF2-40B4-BE49-F238E27FC236}">
                <a16:creationId xmlns:a16="http://schemas.microsoft.com/office/drawing/2014/main" id="{1F034F39-5E9D-EC30-5ABC-56AE7B6441A5}"/>
              </a:ext>
            </a:extLst>
          </p:cNvPr>
          <p:cNvSpPr/>
          <p:nvPr/>
        </p:nvSpPr>
        <p:spPr>
          <a:xfrm>
            <a:off x="1494877"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41" name="山形 40">
            <a:extLst>
              <a:ext uri="{FF2B5EF4-FFF2-40B4-BE49-F238E27FC236}">
                <a16:creationId xmlns:a16="http://schemas.microsoft.com/office/drawing/2014/main" id="{99D63037-9D3D-B75B-8ECF-FC53C160ACD8}"/>
              </a:ext>
            </a:extLst>
          </p:cNvPr>
          <p:cNvSpPr/>
          <p:nvPr/>
        </p:nvSpPr>
        <p:spPr>
          <a:xfrm>
            <a:off x="2181074" y="4235276"/>
            <a:ext cx="845956"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43" name="カギ線コネクタ 42">
            <a:extLst>
              <a:ext uri="{FF2B5EF4-FFF2-40B4-BE49-F238E27FC236}">
                <a16:creationId xmlns:a16="http://schemas.microsoft.com/office/drawing/2014/main" id="{6439F890-D7F2-0555-B99F-3027E4A750E1}"/>
              </a:ext>
            </a:extLst>
          </p:cNvPr>
          <p:cNvCxnSpPr>
            <a:stCxn id="5" idx="3"/>
            <a:endCxn id="40" idx="1"/>
          </p:cNvCxnSpPr>
          <p:nvPr/>
        </p:nvCxnSpPr>
        <p:spPr>
          <a:xfrm>
            <a:off x="1428364" y="3644592"/>
            <a:ext cx="260727" cy="973221"/>
          </a:xfrm>
          <a:prstGeom prst="bentConnector3">
            <a:avLst>
              <a:gd name="adj1" fmla="val 211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カギ線コネクタ 45">
            <a:extLst>
              <a:ext uri="{FF2B5EF4-FFF2-40B4-BE49-F238E27FC236}">
                <a16:creationId xmlns:a16="http://schemas.microsoft.com/office/drawing/2014/main" id="{03381B56-86ED-71C3-20F8-1656A34BA800}"/>
              </a:ext>
            </a:extLst>
          </p:cNvPr>
          <p:cNvCxnSpPr>
            <a:stCxn id="6" idx="3"/>
            <a:endCxn id="40" idx="1"/>
          </p:cNvCxnSpPr>
          <p:nvPr/>
        </p:nvCxnSpPr>
        <p:spPr>
          <a:xfrm flipV="1">
            <a:off x="1428364" y="4617813"/>
            <a:ext cx="260727" cy="1053600"/>
          </a:xfrm>
          <a:prstGeom prst="bentConnector3">
            <a:avLst>
              <a:gd name="adj1" fmla="val 211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カギ線コネクタ 52">
            <a:extLst>
              <a:ext uri="{FF2B5EF4-FFF2-40B4-BE49-F238E27FC236}">
                <a16:creationId xmlns:a16="http://schemas.microsoft.com/office/drawing/2014/main" id="{0939F8A4-E122-6BB3-2D4B-44D920C97B68}"/>
              </a:ext>
            </a:extLst>
          </p:cNvPr>
          <p:cNvCxnSpPr>
            <a:stCxn id="41" idx="3"/>
            <a:endCxn id="20" idx="1"/>
          </p:cNvCxnSpPr>
          <p:nvPr/>
        </p:nvCxnSpPr>
        <p:spPr>
          <a:xfrm flipV="1">
            <a:off x="3027030"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カギ線コネクタ 54">
            <a:extLst>
              <a:ext uri="{FF2B5EF4-FFF2-40B4-BE49-F238E27FC236}">
                <a16:creationId xmlns:a16="http://schemas.microsoft.com/office/drawing/2014/main" id="{AB0E2343-0EC5-3628-F987-992E32E90C64}"/>
              </a:ext>
            </a:extLst>
          </p:cNvPr>
          <p:cNvCxnSpPr>
            <a:stCxn id="41" idx="3"/>
            <a:endCxn id="21" idx="1"/>
          </p:cNvCxnSpPr>
          <p:nvPr/>
        </p:nvCxnSpPr>
        <p:spPr>
          <a:xfrm>
            <a:off x="3027030"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935F9CCF-D46D-1810-58B0-88DED6D26C59}"/>
              </a:ext>
            </a:extLst>
          </p:cNvPr>
          <p:cNvSpPr txBox="1"/>
          <p:nvPr/>
        </p:nvSpPr>
        <p:spPr>
          <a:xfrm>
            <a:off x="4744361"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57" name="山形 56">
            <a:extLst>
              <a:ext uri="{FF2B5EF4-FFF2-40B4-BE49-F238E27FC236}">
                <a16:creationId xmlns:a16="http://schemas.microsoft.com/office/drawing/2014/main" id="{C7081BE7-1B59-DF6F-5754-11C7F1A16D75}"/>
              </a:ext>
            </a:extLst>
          </p:cNvPr>
          <p:cNvSpPr/>
          <p:nvPr/>
        </p:nvSpPr>
        <p:spPr>
          <a:xfrm>
            <a:off x="4551115"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58" name="山形 57">
            <a:extLst>
              <a:ext uri="{FF2B5EF4-FFF2-40B4-BE49-F238E27FC236}">
                <a16:creationId xmlns:a16="http://schemas.microsoft.com/office/drawing/2014/main" id="{36445D38-FF6B-F2EE-049F-35E6DCEFB563}"/>
              </a:ext>
            </a:extLst>
          </p:cNvPr>
          <p:cNvSpPr/>
          <p:nvPr/>
        </p:nvSpPr>
        <p:spPr>
          <a:xfrm>
            <a:off x="5237312" y="4235276"/>
            <a:ext cx="845956"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59" name="カギ線コネクタ 58">
            <a:extLst>
              <a:ext uri="{FF2B5EF4-FFF2-40B4-BE49-F238E27FC236}">
                <a16:creationId xmlns:a16="http://schemas.microsoft.com/office/drawing/2014/main" id="{CF51A432-7B74-EF49-A0C0-3A0B1202F493}"/>
              </a:ext>
            </a:extLst>
          </p:cNvPr>
          <p:cNvCxnSpPr>
            <a:endCxn id="57" idx="1"/>
          </p:cNvCxnSpPr>
          <p:nvPr/>
        </p:nvCxnSpPr>
        <p:spPr>
          <a:xfrm>
            <a:off x="4484602" y="3644592"/>
            <a:ext cx="260727" cy="973221"/>
          </a:xfrm>
          <a:prstGeom prst="bentConnector3">
            <a:avLst>
              <a:gd name="adj1" fmla="val 213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カギ線コネクタ 59">
            <a:extLst>
              <a:ext uri="{FF2B5EF4-FFF2-40B4-BE49-F238E27FC236}">
                <a16:creationId xmlns:a16="http://schemas.microsoft.com/office/drawing/2014/main" id="{A970453E-9777-F634-18DA-7B5E3AD0281C}"/>
              </a:ext>
            </a:extLst>
          </p:cNvPr>
          <p:cNvCxnSpPr>
            <a:endCxn id="57" idx="1"/>
          </p:cNvCxnSpPr>
          <p:nvPr/>
        </p:nvCxnSpPr>
        <p:spPr>
          <a:xfrm flipV="1">
            <a:off x="4484602" y="4617813"/>
            <a:ext cx="260727" cy="1053600"/>
          </a:xfrm>
          <a:prstGeom prst="bentConnector3">
            <a:avLst>
              <a:gd name="adj1" fmla="val 213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D188D8B5-2A60-2D25-1C5A-CB9AB711D488}"/>
              </a:ext>
            </a:extLst>
          </p:cNvPr>
          <p:cNvSpPr txBox="1"/>
          <p:nvPr/>
        </p:nvSpPr>
        <p:spPr>
          <a:xfrm>
            <a:off x="6953722"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64" name="山形 63">
            <a:extLst>
              <a:ext uri="{FF2B5EF4-FFF2-40B4-BE49-F238E27FC236}">
                <a16:creationId xmlns:a16="http://schemas.microsoft.com/office/drawing/2014/main" id="{FA42FAD9-794C-D3E3-F43C-9970615CF2C8}"/>
              </a:ext>
            </a:extLst>
          </p:cNvPr>
          <p:cNvSpPr/>
          <p:nvPr/>
        </p:nvSpPr>
        <p:spPr>
          <a:xfrm>
            <a:off x="7866590"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68" name="カギ線コネクタ 67">
            <a:extLst>
              <a:ext uri="{FF2B5EF4-FFF2-40B4-BE49-F238E27FC236}">
                <a16:creationId xmlns:a16="http://schemas.microsoft.com/office/drawing/2014/main" id="{5EC88395-3990-3409-AA90-BD090DFE2965}"/>
              </a:ext>
            </a:extLst>
          </p:cNvPr>
          <p:cNvCxnSpPr>
            <a:cxnSpLocks/>
          </p:cNvCxnSpPr>
          <p:nvPr/>
        </p:nvCxnSpPr>
        <p:spPr>
          <a:xfrm flipV="1">
            <a:off x="8687095"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カギ線コネクタ 68">
            <a:extLst>
              <a:ext uri="{FF2B5EF4-FFF2-40B4-BE49-F238E27FC236}">
                <a16:creationId xmlns:a16="http://schemas.microsoft.com/office/drawing/2014/main" id="{2150C4D3-E78E-510A-D547-EB15FE076892}"/>
              </a:ext>
            </a:extLst>
          </p:cNvPr>
          <p:cNvCxnSpPr>
            <a:cxnSpLocks/>
          </p:cNvCxnSpPr>
          <p:nvPr/>
        </p:nvCxnSpPr>
        <p:spPr>
          <a:xfrm>
            <a:off x="8687095"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A0AC156-9289-5B13-29E9-A402A19C8D56}"/>
              </a:ext>
            </a:extLst>
          </p:cNvPr>
          <p:cNvCxnSpPr>
            <a:cxnSpLocks/>
          </p:cNvCxnSpPr>
          <p:nvPr/>
        </p:nvCxnSpPr>
        <p:spPr>
          <a:xfrm>
            <a:off x="6163056" y="4617812"/>
            <a:ext cx="1703534"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 name="フローチャート: せん孔テープ 74">
            <a:extLst>
              <a:ext uri="{FF2B5EF4-FFF2-40B4-BE49-F238E27FC236}">
                <a16:creationId xmlns:a16="http://schemas.microsoft.com/office/drawing/2014/main" id="{3B1CA2DC-3574-D8B2-71FC-A1118E5C7E6A}"/>
              </a:ext>
            </a:extLst>
          </p:cNvPr>
          <p:cNvSpPr/>
          <p:nvPr/>
        </p:nvSpPr>
        <p:spPr>
          <a:xfrm flipV="1">
            <a:off x="6405727" y="4381819"/>
            <a:ext cx="1037885" cy="471987"/>
          </a:xfrm>
          <a:prstGeom prst="flowChartPunchedTap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0" name="直線矢印コネクタ 79">
            <a:extLst>
              <a:ext uri="{FF2B5EF4-FFF2-40B4-BE49-F238E27FC236}">
                <a16:creationId xmlns:a16="http://schemas.microsoft.com/office/drawing/2014/main" id="{743CC021-99A1-D135-6829-E8E1DF7A5CE6}"/>
              </a:ext>
            </a:extLst>
          </p:cNvPr>
          <p:cNvCxnSpPr>
            <a:cxnSpLocks/>
          </p:cNvCxnSpPr>
          <p:nvPr/>
        </p:nvCxnSpPr>
        <p:spPr>
          <a:xfrm>
            <a:off x="7797074" y="4617812"/>
            <a:ext cx="11229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3" name="カギ線コネクタ 82">
            <a:extLst>
              <a:ext uri="{FF2B5EF4-FFF2-40B4-BE49-F238E27FC236}">
                <a16:creationId xmlns:a16="http://schemas.microsoft.com/office/drawing/2014/main" id="{37D07094-F5D1-A4FC-AA72-A7B0C268776A}"/>
              </a:ext>
            </a:extLst>
          </p:cNvPr>
          <p:cNvCxnSpPr>
            <a:endCxn id="58" idx="2"/>
          </p:cNvCxnSpPr>
          <p:nvPr/>
        </p:nvCxnSpPr>
        <p:spPr>
          <a:xfrm rot="10800000">
            <a:off x="5563183" y="5000351"/>
            <a:ext cx="1014350" cy="824147"/>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4" name="テキスト ボックス 83">
            <a:extLst>
              <a:ext uri="{FF2B5EF4-FFF2-40B4-BE49-F238E27FC236}">
                <a16:creationId xmlns:a16="http://schemas.microsoft.com/office/drawing/2014/main" id="{6124E0A1-1DF2-7EB2-7DD8-6DBD09903051}"/>
              </a:ext>
            </a:extLst>
          </p:cNvPr>
          <p:cNvSpPr txBox="1"/>
          <p:nvPr/>
        </p:nvSpPr>
        <p:spPr>
          <a:xfrm>
            <a:off x="6560557" y="5432413"/>
            <a:ext cx="1955882" cy="784171"/>
          </a:xfrm>
          <a:prstGeom prst="rect">
            <a:avLst/>
          </a:prstGeom>
          <a:solidFill>
            <a:srgbClr val="EDCCA8"/>
          </a:solidFill>
        </p:spPr>
        <p:txBody>
          <a:bodyPr vert="horz" wrap="non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部分合成後に</a:t>
            </a:r>
            <a:endParaRPr kumimoji="1" lang="en-US" altLang="ja-JP"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最小化を加える</a:t>
            </a:r>
            <a:endParaRPr kumimoji="1" lang="ja-JP" altLang="en-US"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89" name="テキスト ボックス 88">
            <a:extLst>
              <a:ext uri="{FF2B5EF4-FFF2-40B4-BE49-F238E27FC236}">
                <a16:creationId xmlns:a16="http://schemas.microsoft.com/office/drawing/2014/main" id="{D3925CEC-DA9A-05AB-2FA8-F272A1921FF4}"/>
              </a:ext>
            </a:extLst>
          </p:cNvPr>
          <p:cNvSpPr txBox="1"/>
          <p:nvPr/>
        </p:nvSpPr>
        <p:spPr>
          <a:xfrm>
            <a:off x="188844" y="6558959"/>
            <a:ext cx="6337300" cy="503933"/>
          </a:xfrm>
          <a:prstGeom prst="rect">
            <a:avLst/>
          </a:prstGeom>
        </p:spPr>
        <p:txBody>
          <a:bodyPr vert="horz" wrap="square" lIns="91440" tIns="45720" rIns="91440" bIns="45720" rtlCol="0">
            <a:normAutofit fontScale="85000" lnSpcReduction="10000"/>
          </a:bodyPr>
          <a:lstStyle/>
          <a:p>
            <a:pPr defTabSz="914400">
              <a:lnSpc>
                <a:spcPct val="110000"/>
              </a:lnSpc>
              <a:spcBef>
                <a:spcPts val="1000"/>
              </a:spcBef>
            </a:pPr>
            <a:r>
              <a:rPr lang="en-US" altLang="ja-JP" dirty="0"/>
              <a:t>[1] Jeﬀ Magee and Jeﬀ Kramer. Concurrency: State Models and Java Programs.</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Tree>
    <p:extLst>
      <p:ext uri="{BB962C8B-B14F-4D97-AF65-F5344CB8AC3E}">
        <p14:creationId xmlns:p14="http://schemas.microsoft.com/office/powerpoint/2010/main" val="1566590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EFA886-CD37-8539-39F5-6A3B8183A4BF}"/>
              </a:ext>
            </a:extLst>
          </p:cNvPr>
          <p:cNvSpPr>
            <a:spLocks noGrp="1"/>
          </p:cNvSpPr>
          <p:nvPr>
            <p:ph type="title"/>
          </p:nvPr>
        </p:nvSpPr>
        <p:spPr/>
        <p:txBody>
          <a:bodyPr/>
          <a:lstStyle/>
          <a:p>
            <a:r>
              <a:rPr lang="ja-JP" altLang="en-US"/>
              <a:t>提案手法の説明（</a:t>
            </a:r>
            <a:r>
              <a:rPr lang="en-US" altLang="ja-JP" dirty="0"/>
              <a:t>LTS</a:t>
            </a:r>
            <a:r>
              <a:rPr lang="ja-JP" altLang="en-US"/>
              <a:t>の最小化</a:t>
            </a:r>
            <a:r>
              <a:rPr kumimoji="1" lang="ja-JP" altLang="en-US"/>
              <a:t>）：例</a:t>
            </a:r>
            <a:r>
              <a:rPr kumimoji="1" lang="en-US" altLang="ja-JP" dirty="0"/>
              <a:t>1</a:t>
            </a:r>
            <a:endParaRPr kumimoji="1" lang="ja-JP" altLang="en-US"/>
          </a:p>
        </p:txBody>
      </p:sp>
      <p:sp>
        <p:nvSpPr>
          <p:cNvPr id="3" name="コンテンツ プレースホルダー 2">
            <a:extLst>
              <a:ext uri="{FF2B5EF4-FFF2-40B4-BE49-F238E27FC236}">
                <a16:creationId xmlns:a16="http://schemas.microsoft.com/office/drawing/2014/main" id="{13974F17-FAFC-5075-D767-3F50925F3630}"/>
              </a:ext>
            </a:extLst>
          </p:cNvPr>
          <p:cNvSpPr>
            <a:spLocks noGrp="1"/>
          </p:cNvSpPr>
          <p:nvPr>
            <p:ph sz="quarter" idx="10"/>
          </p:nvPr>
        </p:nvSpPr>
        <p:spPr/>
        <p:txBody>
          <a:bodyPr/>
          <a:lstStyle/>
          <a:p>
            <a:pPr marL="0" indent="0">
              <a:buNone/>
            </a:pPr>
            <a:r>
              <a:rPr kumimoji="1" lang="en-US" altLang="ja-JP" sz="2400" b="1" dirty="0">
                <a:latin typeface="Yu Gothic" panose="020B0400000000000000" pitchFamily="34" charset="-128"/>
                <a:ea typeface="Yu Gothic" panose="020B0400000000000000" pitchFamily="34" charset="-128"/>
              </a:rPr>
              <a:t>LTS</a:t>
            </a:r>
            <a:r>
              <a:rPr kumimoji="1" lang="ja-JP" altLang="en-US" sz="2400" b="1">
                <a:latin typeface="Yu Gothic" panose="020B0400000000000000" pitchFamily="34" charset="-128"/>
                <a:ea typeface="Yu Gothic" panose="020B0400000000000000" pitchFamily="34" charset="-128"/>
              </a:rPr>
              <a:t>の等価性を保ったまま状態数を最小化する</a:t>
            </a:r>
            <a:endParaRPr kumimoji="1"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endParaRPr kumimoji="1"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endParaRPr kumimoji="1"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endParaRPr kumimoji="1" lang="en-US" altLang="ja-JP" sz="2400" b="1" dirty="0">
              <a:latin typeface="Yu Gothic" panose="020B0400000000000000" pitchFamily="34" charset="-128"/>
              <a:ea typeface="Yu Gothic" panose="020B0400000000000000" pitchFamily="34" charset="-128"/>
            </a:endParaRPr>
          </a:p>
          <a:p>
            <a:r>
              <a:rPr lang="ja-JP" altLang="en-US"/>
              <a:t>アクション</a:t>
            </a:r>
            <a:r>
              <a:rPr lang="en-US" altLang="ja-JP" dirty="0"/>
              <a:t>a, b</a:t>
            </a:r>
            <a:r>
              <a:rPr lang="ja-JP" altLang="en-US"/>
              <a:t>が発火した後は，</a:t>
            </a:r>
            <a:r>
              <a:rPr lang="en-US" altLang="ja-JP" dirty="0"/>
              <a:t>c, d, return</a:t>
            </a:r>
            <a:r>
              <a:rPr lang="ja-JP" altLang="en-US"/>
              <a:t>を順に発火し状態</a:t>
            </a:r>
            <a:r>
              <a:rPr lang="en-US" altLang="ja-JP" dirty="0"/>
              <a:t>0</a:t>
            </a:r>
            <a:r>
              <a:rPr lang="ja-JP" altLang="en-US"/>
              <a:t>に戻るものでどちらを選択しても同じ．</a:t>
            </a:r>
            <a:endParaRPr lang="en-US" altLang="ja-JP" dirty="0"/>
          </a:p>
          <a:p>
            <a:r>
              <a:rPr lang="ja-JP" altLang="en-US"/>
              <a:t>最小化によって，アクション</a:t>
            </a:r>
            <a:r>
              <a:rPr lang="en-US" altLang="ja-JP" dirty="0"/>
              <a:t>a, b</a:t>
            </a:r>
            <a:r>
              <a:rPr lang="ja-JP" altLang="en-US"/>
              <a:t>を発火したときに生成される状態が</a:t>
            </a:r>
            <a:r>
              <a:rPr lang="en-US" altLang="ja-JP" dirty="0"/>
              <a:t>1</a:t>
            </a:r>
            <a:r>
              <a:rPr lang="ja-JP" altLang="en-US"/>
              <a:t>つにまとめられ，</a:t>
            </a:r>
            <a:br>
              <a:rPr lang="en-US" altLang="ja-JP" dirty="0"/>
            </a:br>
            <a:r>
              <a:rPr lang="ja-JP" altLang="en-US"/>
              <a:t>状態数が削減された．</a:t>
            </a:r>
            <a:endParaRPr kumimoji="1" lang="ja-JP" altLang="en-US"/>
          </a:p>
        </p:txBody>
      </p:sp>
      <p:sp>
        <p:nvSpPr>
          <p:cNvPr id="4" name="スライド番号プレースホルダー 3">
            <a:extLst>
              <a:ext uri="{FF2B5EF4-FFF2-40B4-BE49-F238E27FC236}">
                <a16:creationId xmlns:a16="http://schemas.microsoft.com/office/drawing/2014/main" id="{BC491C73-22DF-0C5C-FA6C-76EA38E8EED0}"/>
              </a:ext>
            </a:extLst>
          </p:cNvPr>
          <p:cNvSpPr>
            <a:spLocks noGrp="1"/>
          </p:cNvSpPr>
          <p:nvPr>
            <p:ph type="sldNum" sz="quarter" idx="11"/>
          </p:nvPr>
        </p:nvSpPr>
        <p:spPr/>
        <p:txBody>
          <a:bodyPr/>
          <a:lstStyle/>
          <a:p>
            <a:fld id="{E0D93E39-1AFA-2A42-BAF4-0CDD5F6E9A80}" type="slidenum">
              <a:rPr kumimoji="1" lang="ja-JP" altLang="en-US" smtClean="0"/>
              <a:pPr/>
              <a:t>9</a:t>
            </a:fld>
            <a:endParaRPr kumimoji="1" lang="ja-JP" altLang="en-US"/>
          </a:p>
        </p:txBody>
      </p:sp>
      <p:pic>
        <p:nvPicPr>
          <p:cNvPr id="5" name="図 4" descr="ダイアグラム&#10;&#10;AI 生成コンテンツは誤りを含む可能性があります。">
            <a:extLst>
              <a:ext uri="{FF2B5EF4-FFF2-40B4-BE49-F238E27FC236}">
                <a16:creationId xmlns:a16="http://schemas.microsoft.com/office/drawing/2014/main" id="{358003B4-E69C-8FC3-621D-0C06E2E9F4F3}"/>
              </a:ext>
            </a:extLst>
          </p:cNvPr>
          <p:cNvPicPr>
            <a:picLocks noChangeAspect="1"/>
          </p:cNvPicPr>
          <p:nvPr/>
        </p:nvPicPr>
        <p:blipFill>
          <a:blip r:embed="rId3"/>
          <a:stretch>
            <a:fillRect/>
          </a:stretch>
        </p:blipFill>
        <p:spPr>
          <a:xfrm>
            <a:off x="20736" y="1838727"/>
            <a:ext cx="4634391" cy="1540934"/>
          </a:xfrm>
          <a:prstGeom prst="rect">
            <a:avLst/>
          </a:prstGeom>
        </p:spPr>
      </p:pic>
      <p:pic>
        <p:nvPicPr>
          <p:cNvPr id="6" name="コンテンツ プレースホルダー 4" descr="時計, 挿絵 が含まれている画像&#10;&#10;AI 生成コンテンツは誤りを含む可能性があります。">
            <a:extLst>
              <a:ext uri="{FF2B5EF4-FFF2-40B4-BE49-F238E27FC236}">
                <a16:creationId xmlns:a16="http://schemas.microsoft.com/office/drawing/2014/main" id="{C8D97B05-FAC7-B652-AA74-0A0C4F187A11}"/>
              </a:ext>
            </a:extLst>
          </p:cNvPr>
          <p:cNvPicPr>
            <a:picLocks noChangeAspect="1"/>
          </p:cNvPicPr>
          <p:nvPr/>
        </p:nvPicPr>
        <p:blipFill>
          <a:blip r:embed="rId4"/>
          <a:stretch>
            <a:fillRect/>
          </a:stretch>
        </p:blipFill>
        <p:spPr>
          <a:xfrm>
            <a:off x="7286791" y="1838727"/>
            <a:ext cx="4340664" cy="1540934"/>
          </a:xfrm>
          <a:prstGeom prst="rect">
            <a:avLst/>
          </a:prstGeom>
        </p:spPr>
      </p:pic>
      <p:sp>
        <p:nvSpPr>
          <p:cNvPr id="9" name="山形 8">
            <a:extLst>
              <a:ext uri="{FF2B5EF4-FFF2-40B4-BE49-F238E27FC236}">
                <a16:creationId xmlns:a16="http://schemas.microsoft.com/office/drawing/2014/main" id="{EDC155BB-8E6E-ADA3-1C44-71ABC1A7DC4C}"/>
              </a:ext>
            </a:extLst>
          </p:cNvPr>
          <p:cNvSpPr/>
          <p:nvPr/>
        </p:nvSpPr>
        <p:spPr>
          <a:xfrm>
            <a:off x="5075297" y="2226657"/>
            <a:ext cx="1244837"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Yu Gothic Medium" panose="020B0400000000000000" pitchFamily="34" charset="-128"/>
                <a:ea typeface="Yu Gothic Medium" panose="020B0400000000000000" pitchFamily="34" charset="-128"/>
              </a:rPr>
              <a:t>最小化</a:t>
            </a:r>
            <a:endParaRPr kumimoji="1" lang="en-US" altLang="ja-JP" sz="1200" dirty="0">
              <a:solidFill>
                <a:schemeClr val="tx1"/>
              </a:solidFill>
              <a:latin typeface="Yu Gothic Medium" panose="020B0400000000000000" pitchFamily="34" charset="-128"/>
              <a:ea typeface="Yu Gothic Medium" panose="020B0400000000000000" pitchFamily="34" charset="-128"/>
            </a:endParaRPr>
          </a:p>
        </p:txBody>
      </p:sp>
      <p:cxnSp>
        <p:nvCxnSpPr>
          <p:cNvPr id="8" name="直線矢印コネクタ 7">
            <a:extLst>
              <a:ext uri="{FF2B5EF4-FFF2-40B4-BE49-F238E27FC236}">
                <a16:creationId xmlns:a16="http://schemas.microsoft.com/office/drawing/2014/main" id="{78177497-BF76-1A55-C303-A6662E8275DB}"/>
              </a:ext>
            </a:extLst>
          </p:cNvPr>
          <p:cNvCxnSpPr>
            <a:cxnSpLocks/>
            <a:stCxn id="5" idx="3"/>
            <a:endCxn id="9" idx="1"/>
          </p:cNvCxnSpPr>
          <p:nvPr/>
        </p:nvCxnSpPr>
        <p:spPr>
          <a:xfrm>
            <a:off x="4655127" y="2609194"/>
            <a:ext cx="6143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9F316712-6F6A-CAF6-269A-94A9A6929B5C}"/>
              </a:ext>
            </a:extLst>
          </p:cNvPr>
          <p:cNvCxnSpPr>
            <a:cxnSpLocks/>
            <a:stCxn id="9" idx="3"/>
            <a:endCxn id="6" idx="1"/>
          </p:cNvCxnSpPr>
          <p:nvPr/>
        </p:nvCxnSpPr>
        <p:spPr>
          <a:xfrm>
            <a:off x="6320134" y="2609194"/>
            <a:ext cx="9666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942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03832F-D9F3-93E7-1F36-3A3A10AA43C9}"/>
              </a:ext>
            </a:extLst>
          </p:cNvPr>
          <p:cNvSpPr>
            <a:spLocks noGrp="1"/>
          </p:cNvSpPr>
          <p:nvPr>
            <p:ph type="title"/>
          </p:nvPr>
        </p:nvSpPr>
        <p:spPr/>
        <p:txBody>
          <a:bodyPr/>
          <a:lstStyle/>
          <a:p>
            <a:r>
              <a:rPr lang="ja-JP" altLang="en-US"/>
              <a:t>提案手法の説明（</a:t>
            </a:r>
            <a:r>
              <a:rPr lang="en-US" altLang="ja-JP" dirty="0"/>
              <a:t>LTS</a:t>
            </a:r>
            <a:r>
              <a:rPr lang="ja-JP" altLang="en-US"/>
              <a:t>の最小化）：例</a:t>
            </a:r>
            <a:r>
              <a:rPr lang="en-US" altLang="ja-JP" dirty="0"/>
              <a:t>2</a:t>
            </a:r>
            <a:endParaRPr kumimoji="1" lang="ja-JP" altLang="en-US"/>
          </a:p>
        </p:txBody>
      </p:sp>
      <p:sp>
        <p:nvSpPr>
          <p:cNvPr id="3" name="コンテンツ プレースホルダー 2">
            <a:extLst>
              <a:ext uri="{FF2B5EF4-FFF2-40B4-BE49-F238E27FC236}">
                <a16:creationId xmlns:a16="http://schemas.microsoft.com/office/drawing/2014/main" id="{E930A0DD-A6C5-721A-29BD-67BDB741726F}"/>
              </a:ext>
            </a:extLst>
          </p:cNvPr>
          <p:cNvSpPr>
            <a:spLocks noGrp="1"/>
          </p:cNvSpPr>
          <p:nvPr>
            <p:ph sz="quarter" idx="10"/>
          </p:nvPr>
        </p:nvSpPr>
        <p:spPr/>
        <p:txBody>
          <a:bodyPr/>
          <a:lstStyle/>
          <a:p>
            <a:pPr marL="0" indent="0">
              <a:buNone/>
            </a:pPr>
            <a:r>
              <a:rPr lang="en-US" altLang="ja-JP" sz="2400" b="1" dirty="0">
                <a:latin typeface="Yu Gothic" panose="020B0400000000000000" pitchFamily="34" charset="-128"/>
                <a:ea typeface="Yu Gothic" panose="020B0400000000000000" pitchFamily="34" charset="-128"/>
              </a:rPr>
              <a:t>LTS</a:t>
            </a:r>
            <a:r>
              <a:rPr lang="ja-JP" altLang="en-US" sz="2400" b="1">
                <a:latin typeface="Yu Gothic" panose="020B0400000000000000" pitchFamily="34" charset="-128"/>
                <a:ea typeface="Yu Gothic" panose="020B0400000000000000" pitchFamily="34" charset="-128"/>
              </a:rPr>
              <a:t>の等価性を保ったまま状態数を最小化する</a:t>
            </a:r>
            <a:endParaRPr lang="en-US" altLang="ja-JP" sz="2400" b="1" dirty="0">
              <a:latin typeface="Yu Gothic" panose="020B0400000000000000" pitchFamily="34" charset="-128"/>
              <a:ea typeface="Yu Gothic" panose="020B0400000000000000" pitchFamily="34" charset="-128"/>
            </a:endParaRPr>
          </a:p>
          <a:p>
            <a:pPr marL="0" indent="0">
              <a:buNone/>
            </a:pPr>
            <a:endParaRPr kumimoji="1"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endParaRPr kumimoji="1"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latin typeface="Yu Gothic" panose="020B0400000000000000" pitchFamily="34" charset="-128"/>
              <a:ea typeface="Yu Gothic" panose="020B0400000000000000" pitchFamily="34" charset="-128"/>
            </a:endParaRPr>
          </a:p>
          <a:p>
            <a:pPr marL="0" indent="0">
              <a:buNone/>
            </a:pPr>
            <a:r>
              <a:rPr kumimoji="1" lang="en-US" altLang="ja-JP" sz="1600" dirty="0"/>
              <a:t>		           					</a:t>
            </a:r>
          </a:p>
          <a:p>
            <a:pPr marL="0" indent="0">
              <a:buNone/>
            </a:pPr>
            <a:endParaRPr lang="en-US" altLang="ja-JP" sz="1600" dirty="0"/>
          </a:p>
          <a:p>
            <a:r>
              <a:rPr kumimoji="1" lang="ja-JP" altLang="en-US"/>
              <a:t>最終的にアクション</a:t>
            </a:r>
            <a:r>
              <a:rPr kumimoji="1" lang="en-US" altLang="ja-JP" dirty="0"/>
              <a:t>c</a:t>
            </a:r>
            <a:r>
              <a:rPr kumimoji="1" lang="ja-JP" altLang="en-US"/>
              <a:t>を発火するループに入る制御器</a:t>
            </a:r>
            <a:endParaRPr kumimoji="1" lang="en-US" altLang="ja-JP" dirty="0"/>
          </a:p>
          <a:p>
            <a:r>
              <a:rPr lang="ja-JP" altLang="en-US"/>
              <a:t>ループの直前にアクション</a:t>
            </a:r>
            <a:r>
              <a:rPr lang="en-US" altLang="ja-JP" dirty="0"/>
              <a:t>c</a:t>
            </a:r>
            <a:r>
              <a:rPr lang="ja-JP" altLang="en-US"/>
              <a:t>の発火による冗長な状態と遷移を追加すると，</a:t>
            </a:r>
            <a:br>
              <a:rPr lang="en-US" altLang="ja-JP" dirty="0"/>
            </a:br>
            <a:r>
              <a:rPr lang="ja-JP" altLang="en-US"/>
              <a:t>最小化により，それらが削減される</a:t>
            </a:r>
            <a:endParaRPr kumimoji="1" lang="ja-JP" altLang="en-US"/>
          </a:p>
        </p:txBody>
      </p:sp>
      <p:sp>
        <p:nvSpPr>
          <p:cNvPr id="4" name="スライド番号プレースホルダー 3">
            <a:extLst>
              <a:ext uri="{FF2B5EF4-FFF2-40B4-BE49-F238E27FC236}">
                <a16:creationId xmlns:a16="http://schemas.microsoft.com/office/drawing/2014/main" id="{A61845DD-8982-7463-0017-B5A1A03C9B84}"/>
              </a:ext>
            </a:extLst>
          </p:cNvPr>
          <p:cNvSpPr>
            <a:spLocks noGrp="1"/>
          </p:cNvSpPr>
          <p:nvPr>
            <p:ph type="sldNum" sz="quarter" idx="11"/>
          </p:nvPr>
        </p:nvSpPr>
        <p:spPr/>
        <p:txBody>
          <a:bodyPr/>
          <a:lstStyle/>
          <a:p>
            <a:fld id="{E0D93E39-1AFA-2A42-BAF4-0CDD5F6E9A80}" type="slidenum">
              <a:rPr kumimoji="1" lang="ja-JP" altLang="en-US" smtClean="0"/>
              <a:pPr/>
              <a:t>10</a:t>
            </a:fld>
            <a:endParaRPr kumimoji="1" lang="ja-JP" altLang="en-US"/>
          </a:p>
        </p:txBody>
      </p:sp>
      <p:pic>
        <p:nvPicPr>
          <p:cNvPr id="5" name="コンテンツ プレースホルダー 4" descr="時計, 挿絵 が含まれている画像&#10;&#10;AI 生成コンテンツは誤りを含む可能性があります。">
            <a:extLst>
              <a:ext uri="{FF2B5EF4-FFF2-40B4-BE49-F238E27FC236}">
                <a16:creationId xmlns:a16="http://schemas.microsoft.com/office/drawing/2014/main" id="{7EFFC089-1BAA-F696-EEE8-552C9EC9D538}"/>
              </a:ext>
            </a:extLst>
          </p:cNvPr>
          <p:cNvPicPr>
            <a:picLocks noChangeAspect="1"/>
          </p:cNvPicPr>
          <p:nvPr/>
        </p:nvPicPr>
        <p:blipFill>
          <a:blip r:embed="rId3"/>
          <a:stretch>
            <a:fillRect/>
          </a:stretch>
        </p:blipFill>
        <p:spPr>
          <a:xfrm>
            <a:off x="89577" y="2145637"/>
            <a:ext cx="4808244" cy="1358328"/>
          </a:xfrm>
          <a:prstGeom prst="rect">
            <a:avLst/>
          </a:prstGeom>
        </p:spPr>
      </p:pic>
      <p:pic>
        <p:nvPicPr>
          <p:cNvPr id="6" name="図 5" descr="時計, 挿絵 が含まれている画像&#10;&#10;AI 生成コンテンツは誤りを含む可能性があります。">
            <a:extLst>
              <a:ext uri="{FF2B5EF4-FFF2-40B4-BE49-F238E27FC236}">
                <a16:creationId xmlns:a16="http://schemas.microsoft.com/office/drawing/2014/main" id="{FAD8D21D-3336-5E39-2A79-64C6869AB787}"/>
              </a:ext>
            </a:extLst>
          </p:cNvPr>
          <p:cNvPicPr>
            <a:picLocks noChangeAspect="1"/>
          </p:cNvPicPr>
          <p:nvPr/>
        </p:nvPicPr>
        <p:blipFill>
          <a:blip r:embed="rId4"/>
          <a:stretch>
            <a:fillRect/>
          </a:stretch>
        </p:blipFill>
        <p:spPr>
          <a:xfrm>
            <a:off x="7125667" y="2119252"/>
            <a:ext cx="4783383" cy="1411098"/>
          </a:xfrm>
          <a:prstGeom prst="rect">
            <a:avLst/>
          </a:prstGeom>
        </p:spPr>
      </p:pic>
      <p:sp>
        <p:nvSpPr>
          <p:cNvPr id="7" name="山形 6">
            <a:extLst>
              <a:ext uri="{FF2B5EF4-FFF2-40B4-BE49-F238E27FC236}">
                <a16:creationId xmlns:a16="http://schemas.microsoft.com/office/drawing/2014/main" id="{2BF9B69D-3994-E032-CAE7-F844DDE79F29}"/>
              </a:ext>
            </a:extLst>
          </p:cNvPr>
          <p:cNvSpPr/>
          <p:nvPr/>
        </p:nvSpPr>
        <p:spPr>
          <a:xfrm>
            <a:off x="5197957" y="2442264"/>
            <a:ext cx="1276415"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Yu Gothic Medium" panose="020B0400000000000000" pitchFamily="34" charset="-128"/>
                <a:ea typeface="Yu Gothic Medium" panose="020B0400000000000000" pitchFamily="34" charset="-128"/>
              </a:rPr>
              <a:t>最小化</a:t>
            </a:r>
            <a:endParaRPr kumimoji="1" lang="en-US" altLang="ja-JP" sz="1200" dirty="0">
              <a:solidFill>
                <a:schemeClr val="tx1"/>
              </a:solidFill>
              <a:latin typeface="Yu Gothic Medium" panose="020B0400000000000000" pitchFamily="34" charset="-128"/>
              <a:ea typeface="Yu Gothic Medium" panose="020B0400000000000000" pitchFamily="34" charset="-128"/>
            </a:endParaRPr>
          </a:p>
        </p:txBody>
      </p:sp>
      <p:cxnSp>
        <p:nvCxnSpPr>
          <p:cNvPr id="9" name="直線矢印コネクタ 8">
            <a:extLst>
              <a:ext uri="{FF2B5EF4-FFF2-40B4-BE49-F238E27FC236}">
                <a16:creationId xmlns:a16="http://schemas.microsoft.com/office/drawing/2014/main" id="{D5D4AD9C-69EB-3793-F458-C2B2C546BC3C}"/>
              </a:ext>
            </a:extLst>
          </p:cNvPr>
          <p:cNvCxnSpPr>
            <a:cxnSpLocks/>
            <a:stCxn id="5" idx="3"/>
            <a:endCxn id="7" idx="1"/>
          </p:cNvCxnSpPr>
          <p:nvPr/>
        </p:nvCxnSpPr>
        <p:spPr>
          <a:xfrm>
            <a:off x="4897821" y="2824801"/>
            <a:ext cx="4943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A250075F-0A04-8205-B1B4-6E745E56F71E}"/>
              </a:ext>
            </a:extLst>
          </p:cNvPr>
          <p:cNvCxnSpPr>
            <a:cxnSpLocks/>
            <a:stCxn id="7" idx="3"/>
            <a:endCxn id="6" idx="1"/>
          </p:cNvCxnSpPr>
          <p:nvPr/>
        </p:nvCxnSpPr>
        <p:spPr>
          <a:xfrm>
            <a:off x="6474372" y="2824801"/>
            <a:ext cx="651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3393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B665F-E28C-15AD-9B9B-1FEDF72E3B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DC3D58-6BB0-C032-707C-A5FDC75ED46A}"/>
              </a:ext>
            </a:extLst>
          </p:cNvPr>
          <p:cNvSpPr>
            <a:spLocks noGrp="1"/>
          </p:cNvSpPr>
          <p:nvPr>
            <p:ph type="title"/>
          </p:nvPr>
        </p:nvSpPr>
        <p:spPr>
          <a:xfrm>
            <a:off x="188843" y="272360"/>
            <a:ext cx="9590819" cy="509518"/>
          </a:xfrm>
        </p:spPr>
        <p:txBody>
          <a:bodyPr/>
          <a:lstStyle/>
          <a:p>
            <a:r>
              <a:rPr lang="ja-JP" altLang="en-US"/>
              <a:t>提案手法：段階的制御器合成＋</a:t>
            </a:r>
            <a:r>
              <a:rPr lang="en-US" altLang="ja-JP" dirty="0"/>
              <a:t>LTS</a:t>
            </a:r>
            <a:r>
              <a:rPr lang="ja-JP" altLang="en-US"/>
              <a:t>の最小化</a:t>
            </a:r>
            <a:endParaRPr kumimoji="1" lang="ja-JP" altLang="en-US"/>
          </a:p>
        </p:txBody>
      </p:sp>
      <p:sp>
        <p:nvSpPr>
          <p:cNvPr id="3" name="コンテンツ プレースホルダー 2">
            <a:extLst>
              <a:ext uri="{FF2B5EF4-FFF2-40B4-BE49-F238E27FC236}">
                <a16:creationId xmlns:a16="http://schemas.microsoft.com/office/drawing/2014/main" id="{94945858-7083-B6EB-40C1-FFC2939F37F1}"/>
              </a:ext>
            </a:extLst>
          </p:cNvPr>
          <p:cNvSpPr>
            <a:spLocks noGrp="1"/>
          </p:cNvSpPr>
          <p:nvPr>
            <p:ph sz="quarter" idx="10"/>
          </p:nvPr>
        </p:nvSpPr>
        <p:spPr>
          <a:xfrm>
            <a:off x="188844" y="947058"/>
            <a:ext cx="11933582" cy="1595273"/>
          </a:xfrm>
        </p:spPr>
        <p:txBody>
          <a:bodyPr/>
          <a:lstStyle/>
          <a:p>
            <a:pPr marL="0" indent="0">
              <a:buNone/>
            </a:pPr>
            <a:r>
              <a:rPr kumimoji="1" lang="ja-JP" altLang="en-US" sz="2400" b="1">
                <a:latin typeface="Yu Gothic" panose="020B0400000000000000" pitchFamily="34" charset="-128"/>
                <a:ea typeface="Yu Gothic" panose="020B0400000000000000" pitchFamily="34" charset="-128"/>
              </a:rPr>
              <a:t>段階的制御器合成の各段階の最後に毎回最小化する手法を提案</a:t>
            </a:r>
            <a:endParaRPr kumimoji="1" lang="en-US" altLang="ja-JP" sz="2400" b="1" dirty="0">
              <a:latin typeface="Yu Gothic" panose="020B0400000000000000" pitchFamily="34" charset="-128"/>
              <a:ea typeface="Yu Gothic" panose="020B0400000000000000" pitchFamily="34" charset="-128"/>
            </a:endParaRPr>
          </a:p>
          <a:p>
            <a:r>
              <a:rPr kumimoji="1" lang="ja-JP" altLang="en-US"/>
              <a:t>部分制御器ごとに最小化を適用することで，各合成段階での状態爆発を抑制</a:t>
            </a:r>
            <a:endParaRPr kumimoji="1" lang="en-US" altLang="ja-JP" dirty="0"/>
          </a:p>
          <a:p>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の等価生：</a:t>
            </a:r>
            <a:r>
              <a:rPr lang="ja-JP" altLang="en-US"/>
              <a:t>ある </a:t>
            </a:r>
            <a:r>
              <a:rPr lang="en-US" altLang="ja-JP" dirty="0"/>
              <a:t>2 </a:t>
            </a:r>
            <a:r>
              <a:rPr lang="ja-JP" altLang="en-US"/>
              <a:t>つの </a:t>
            </a:r>
            <a:r>
              <a:rPr lang="en-US" altLang="ja-JP" dirty="0"/>
              <a:t>LTS</a:t>
            </a:r>
            <a:r>
              <a:rPr lang="ja-JP" altLang="en-US"/>
              <a:t>から生成されるすべての事象列が同じときに，その</a:t>
            </a:r>
            <a:r>
              <a:rPr lang="en-US" altLang="ja-JP" dirty="0"/>
              <a:t>LTS </a:t>
            </a:r>
            <a:r>
              <a:rPr lang="ja-JP" altLang="en-US"/>
              <a:t>が等価とみなせる性質</a:t>
            </a:r>
            <a:endParaRPr lang="en-US" altLang="ja-JP" dirty="0"/>
          </a:p>
          <a:p>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の最小化：</a:t>
            </a:r>
            <a:r>
              <a:rPr lang="en-US" altLang="ja-JP" b="1" dirty="0">
                <a:latin typeface="Yu Gothic" panose="020B0400000000000000" pitchFamily="34" charset="-128"/>
                <a:ea typeface="Yu Gothic" panose="020B0400000000000000" pitchFamily="34" charset="-128"/>
              </a:rPr>
              <a:t>LTS</a:t>
            </a:r>
            <a:r>
              <a:rPr lang="ja-JP" altLang="en-US" b="1">
                <a:latin typeface="Yu Gothic" panose="020B0400000000000000" pitchFamily="34" charset="-128"/>
                <a:ea typeface="Yu Gothic" panose="020B0400000000000000" pitchFamily="34" charset="-128"/>
              </a:rPr>
              <a:t>の等価性</a:t>
            </a:r>
            <a:r>
              <a:rPr lang="ja-JP" altLang="en-US"/>
              <a:t>に基づいて，</a:t>
            </a:r>
            <a:r>
              <a:rPr lang="en-US" altLang="ja-JP" dirty="0"/>
              <a:t>LTS</a:t>
            </a:r>
            <a:r>
              <a:rPr lang="ja-JP" altLang="en-US"/>
              <a:t>を状態数が最小のものに変換する操作</a:t>
            </a:r>
            <a:endParaRPr lang="en-US" altLang="ja-JP" dirty="0"/>
          </a:p>
        </p:txBody>
      </p:sp>
      <p:sp>
        <p:nvSpPr>
          <p:cNvPr id="4" name="スライド番号プレースホルダー 3">
            <a:extLst>
              <a:ext uri="{FF2B5EF4-FFF2-40B4-BE49-F238E27FC236}">
                <a16:creationId xmlns:a16="http://schemas.microsoft.com/office/drawing/2014/main" id="{F425944C-99A2-32D1-67BC-9F3296DDFFBC}"/>
              </a:ext>
            </a:extLst>
          </p:cNvPr>
          <p:cNvSpPr>
            <a:spLocks noGrp="1"/>
          </p:cNvSpPr>
          <p:nvPr>
            <p:ph type="sldNum" sz="quarter" idx="11"/>
          </p:nvPr>
        </p:nvSpPr>
        <p:spPr/>
        <p:txBody>
          <a:bodyPr/>
          <a:lstStyle/>
          <a:p>
            <a:fld id="{E0D93E39-1AFA-2A42-BAF4-0CDD5F6E9A80}" type="slidenum">
              <a:rPr kumimoji="1" lang="ja-JP" altLang="en-US" smtClean="0"/>
              <a:pPr/>
              <a:t>11</a:t>
            </a:fld>
            <a:endParaRPr kumimoji="1" lang="ja-JP" altLang="en-US"/>
          </a:p>
        </p:txBody>
      </p:sp>
      <p:sp>
        <p:nvSpPr>
          <p:cNvPr id="5" name="角丸四角形 4">
            <a:extLst>
              <a:ext uri="{FF2B5EF4-FFF2-40B4-BE49-F238E27FC236}">
                <a16:creationId xmlns:a16="http://schemas.microsoft.com/office/drawing/2014/main" id="{68A724F5-CA8D-FD39-B7F5-BA358AB2EBD6}"/>
              </a:ext>
            </a:extLst>
          </p:cNvPr>
          <p:cNvSpPr/>
          <p:nvPr/>
        </p:nvSpPr>
        <p:spPr>
          <a:xfrm>
            <a:off x="188844"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3CEFDB81-FF10-C8E2-A3ED-11AB945CEC4E}"/>
              </a:ext>
            </a:extLst>
          </p:cNvPr>
          <p:cNvSpPr/>
          <p:nvPr/>
        </p:nvSpPr>
        <p:spPr>
          <a:xfrm>
            <a:off x="188844"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7868D383-13D3-71B8-72E1-7C5D30D44D5E}"/>
              </a:ext>
            </a:extLst>
          </p:cNvPr>
          <p:cNvSpPr/>
          <p:nvPr/>
        </p:nvSpPr>
        <p:spPr>
          <a:xfrm>
            <a:off x="351404"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8" name="角丸四角形 7">
            <a:extLst>
              <a:ext uri="{FF2B5EF4-FFF2-40B4-BE49-F238E27FC236}">
                <a16:creationId xmlns:a16="http://schemas.microsoft.com/office/drawing/2014/main" id="{BC2351D8-9D1A-7253-181C-7A88BD4011F0}"/>
              </a:ext>
            </a:extLst>
          </p:cNvPr>
          <p:cNvSpPr/>
          <p:nvPr/>
        </p:nvSpPr>
        <p:spPr>
          <a:xfrm>
            <a:off x="351404" y="3605856"/>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9" name="角丸四角形 8">
            <a:extLst>
              <a:ext uri="{FF2B5EF4-FFF2-40B4-BE49-F238E27FC236}">
                <a16:creationId xmlns:a16="http://schemas.microsoft.com/office/drawing/2014/main" id="{0621A7D4-6B20-7B28-65AC-78F533CEC1CB}"/>
              </a:ext>
            </a:extLst>
          </p:cNvPr>
          <p:cNvSpPr/>
          <p:nvPr/>
        </p:nvSpPr>
        <p:spPr>
          <a:xfrm>
            <a:off x="351404" y="3124208"/>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0" name="テキスト ボックス 9">
            <a:extLst>
              <a:ext uri="{FF2B5EF4-FFF2-40B4-BE49-F238E27FC236}">
                <a16:creationId xmlns:a16="http://schemas.microsoft.com/office/drawing/2014/main" id="{6161B5B9-2FE3-6FCC-A057-8B3E45D1B781}"/>
              </a:ext>
            </a:extLst>
          </p:cNvPr>
          <p:cNvSpPr txBox="1"/>
          <p:nvPr/>
        </p:nvSpPr>
        <p:spPr>
          <a:xfrm>
            <a:off x="351404"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5" name="角丸四角形 14">
            <a:extLst>
              <a:ext uri="{FF2B5EF4-FFF2-40B4-BE49-F238E27FC236}">
                <a16:creationId xmlns:a16="http://schemas.microsoft.com/office/drawing/2014/main" id="{320CA742-9823-0713-FBB9-2388210FE668}"/>
              </a:ext>
            </a:extLst>
          </p:cNvPr>
          <p:cNvSpPr/>
          <p:nvPr/>
        </p:nvSpPr>
        <p:spPr>
          <a:xfrm>
            <a:off x="372217"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6" name="角丸四角形 15">
            <a:extLst>
              <a:ext uri="{FF2B5EF4-FFF2-40B4-BE49-F238E27FC236}">
                <a16:creationId xmlns:a16="http://schemas.microsoft.com/office/drawing/2014/main" id="{BA9C5718-35BA-661E-6E0E-A7AC7324D169}"/>
              </a:ext>
            </a:extLst>
          </p:cNvPr>
          <p:cNvSpPr/>
          <p:nvPr/>
        </p:nvSpPr>
        <p:spPr>
          <a:xfrm>
            <a:off x="372217"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7" name="角丸四角形 16">
            <a:extLst>
              <a:ext uri="{FF2B5EF4-FFF2-40B4-BE49-F238E27FC236}">
                <a16:creationId xmlns:a16="http://schemas.microsoft.com/office/drawing/2014/main" id="{7F55CF88-D7AC-B271-7926-C4743685DADF}"/>
              </a:ext>
            </a:extLst>
          </p:cNvPr>
          <p:cNvSpPr/>
          <p:nvPr/>
        </p:nvSpPr>
        <p:spPr>
          <a:xfrm>
            <a:off x="372217" y="5154411"/>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8" name="テキスト ボックス 17">
            <a:extLst>
              <a:ext uri="{FF2B5EF4-FFF2-40B4-BE49-F238E27FC236}">
                <a16:creationId xmlns:a16="http://schemas.microsoft.com/office/drawing/2014/main" id="{2E09D587-3BF3-2E85-9710-8CA73B94B0AD}"/>
              </a:ext>
            </a:extLst>
          </p:cNvPr>
          <p:cNvSpPr txBox="1"/>
          <p:nvPr/>
        </p:nvSpPr>
        <p:spPr>
          <a:xfrm>
            <a:off x="372217"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9" name="テキスト ボックス 18">
            <a:extLst>
              <a:ext uri="{FF2B5EF4-FFF2-40B4-BE49-F238E27FC236}">
                <a16:creationId xmlns:a16="http://schemas.microsoft.com/office/drawing/2014/main" id="{2F74149F-D319-8E97-55C6-4288326F0AAA}"/>
              </a:ext>
            </a:extLst>
          </p:cNvPr>
          <p:cNvSpPr txBox="1"/>
          <p:nvPr/>
        </p:nvSpPr>
        <p:spPr>
          <a:xfrm>
            <a:off x="1688123"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20" name="角丸四角形 19">
            <a:extLst>
              <a:ext uri="{FF2B5EF4-FFF2-40B4-BE49-F238E27FC236}">
                <a16:creationId xmlns:a16="http://schemas.microsoft.com/office/drawing/2014/main" id="{9E2088BB-6F8F-AC18-04EF-A6A461859038}"/>
              </a:ext>
            </a:extLst>
          </p:cNvPr>
          <p:cNvSpPr/>
          <p:nvPr/>
        </p:nvSpPr>
        <p:spPr>
          <a:xfrm>
            <a:off x="3245082" y="2707511"/>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E9F432FD-439C-CDA3-C163-41FBD5ED47DC}"/>
              </a:ext>
            </a:extLst>
          </p:cNvPr>
          <p:cNvSpPr/>
          <p:nvPr/>
        </p:nvSpPr>
        <p:spPr>
          <a:xfrm>
            <a:off x="3245082"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C1AA5FEF-E528-F413-1592-53C470182CC2}"/>
              </a:ext>
            </a:extLst>
          </p:cNvPr>
          <p:cNvSpPr/>
          <p:nvPr/>
        </p:nvSpPr>
        <p:spPr>
          <a:xfrm>
            <a:off x="3407642" y="4087504"/>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4" name="角丸四角形 23">
            <a:extLst>
              <a:ext uri="{FF2B5EF4-FFF2-40B4-BE49-F238E27FC236}">
                <a16:creationId xmlns:a16="http://schemas.microsoft.com/office/drawing/2014/main" id="{F40C46FF-47A3-8D7F-F5C4-4836AA49AA28}"/>
              </a:ext>
            </a:extLst>
          </p:cNvPr>
          <p:cNvSpPr/>
          <p:nvPr/>
        </p:nvSpPr>
        <p:spPr>
          <a:xfrm>
            <a:off x="3407642" y="3124208"/>
            <a:ext cx="914400" cy="9115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部分制御器</a:t>
            </a:r>
          </a:p>
        </p:txBody>
      </p:sp>
      <p:sp>
        <p:nvSpPr>
          <p:cNvPr id="25" name="テキスト ボックス 24">
            <a:extLst>
              <a:ext uri="{FF2B5EF4-FFF2-40B4-BE49-F238E27FC236}">
                <a16:creationId xmlns:a16="http://schemas.microsoft.com/office/drawing/2014/main" id="{A9ADE06C-331B-4CA8-948C-233EB6617FAC}"/>
              </a:ext>
            </a:extLst>
          </p:cNvPr>
          <p:cNvSpPr txBox="1"/>
          <p:nvPr/>
        </p:nvSpPr>
        <p:spPr>
          <a:xfrm>
            <a:off x="3407642"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6" name="角丸四角形 25">
            <a:extLst>
              <a:ext uri="{FF2B5EF4-FFF2-40B4-BE49-F238E27FC236}">
                <a16:creationId xmlns:a16="http://schemas.microsoft.com/office/drawing/2014/main" id="{FA667343-1BA5-7FEE-8B08-3D7592B9D27E}"/>
              </a:ext>
            </a:extLst>
          </p:cNvPr>
          <p:cNvSpPr/>
          <p:nvPr/>
        </p:nvSpPr>
        <p:spPr>
          <a:xfrm>
            <a:off x="3428455" y="6117707"/>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7" name="角丸四角形 26">
            <a:extLst>
              <a:ext uri="{FF2B5EF4-FFF2-40B4-BE49-F238E27FC236}">
                <a16:creationId xmlns:a16="http://schemas.microsoft.com/office/drawing/2014/main" id="{7FA75981-6E48-ADA6-8BA6-C3D7EF93BE23}"/>
              </a:ext>
            </a:extLst>
          </p:cNvPr>
          <p:cNvSpPr/>
          <p:nvPr/>
        </p:nvSpPr>
        <p:spPr>
          <a:xfrm>
            <a:off x="3428455" y="5636059"/>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8" name="角丸四角形 27">
            <a:extLst>
              <a:ext uri="{FF2B5EF4-FFF2-40B4-BE49-F238E27FC236}">
                <a16:creationId xmlns:a16="http://schemas.microsoft.com/office/drawing/2014/main" id="{EF1A44CF-1018-9AB8-9F3C-3F21FA6BD32B}"/>
              </a:ext>
            </a:extLst>
          </p:cNvPr>
          <p:cNvSpPr/>
          <p:nvPr/>
        </p:nvSpPr>
        <p:spPr>
          <a:xfrm>
            <a:off x="3428455" y="5154411"/>
            <a:ext cx="914400" cy="429904"/>
          </a:xfrm>
          <a:prstGeom prst="roundRect">
            <a:avLst/>
          </a:prstGeom>
          <a:no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9" name="テキスト ボックス 28">
            <a:extLst>
              <a:ext uri="{FF2B5EF4-FFF2-40B4-BE49-F238E27FC236}">
                <a16:creationId xmlns:a16="http://schemas.microsoft.com/office/drawing/2014/main" id="{574E9C9A-10EF-A05A-7903-4539F66127E3}"/>
              </a:ext>
            </a:extLst>
          </p:cNvPr>
          <p:cNvSpPr txBox="1"/>
          <p:nvPr/>
        </p:nvSpPr>
        <p:spPr>
          <a:xfrm>
            <a:off x="3428455"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0" name="角丸四角形 29">
            <a:extLst>
              <a:ext uri="{FF2B5EF4-FFF2-40B4-BE49-F238E27FC236}">
                <a16:creationId xmlns:a16="http://schemas.microsoft.com/office/drawing/2014/main" id="{30D2D7BA-6CA5-3B4B-1FC5-E54871B5E8F5}"/>
              </a:ext>
            </a:extLst>
          </p:cNvPr>
          <p:cNvSpPr/>
          <p:nvPr/>
        </p:nvSpPr>
        <p:spPr>
          <a:xfrm>
            <a:off x="8907295" y="272003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74C4C3D8-3DF1-8126-B33A-37FCE2269082}"/>
              </a:ext>
            </a:extLst>
          </p:cNvPr>
          <p:cNvSpPr/>
          <p:nvPr/>
        </p:nvSpPr>
        <p:spPr>
          <a:xfrm>
            <a:off x="8907295" y="4746853"/>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3">
            <a:extLst>
              <a:ext uri="{FF2B5EF4-FFF2-40B4-BE49-F238E27FC236}">
                <a16:creationId xmlns:a16="http://schemas.microsoft.com/office/drawing/2014/main" id="{6952EC99-D1F6-822D-071C-3AE66FD6F712}"/>
              </a:ext>
            </a:extLst>
          </p:cNvPr>
          <p:cNvSpPr/>
          <p:nvPr/>
        </p:nvSpPr>
        <p:spPr>
          <a:xfrm>
            <a:off x="9069855" y="3124208"/>
            <a:ext cx="914400" cy="13932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制御器</a:t>
            </a:r>
          </a:p>
        </p:txBody>
      </p:sp>
      <p:sp>
        <p:nvSpPr>
          <p:cNvPr id="35" name="テキスト ボックス 34">
            <a:extLst>
              <a:ext uri="{FF2B5EF4-FFF2-40B4-BE49-F238E27FC236}">
                <a16:creationId xmlns:a16="http://schemas.microsoft.com/office/drawing/2014/main" id="{5F9C2AFE-ACD7-E1AB-13BA-69633AE31B3D}"/>
              </a:ext>
            </a:extLst>
          </p:cNvPr>
          <p:cNvSpPr txBox="1"/>
          <p:nvPr/>
        </p:nvSpPr>
        <p:spPr>
          <a:xfrm>
            <a:off x="9069855" y="2816087"/>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6" name="角丸四角形 35">
            <a:extLst>
              <a:ext uri="{FF2B5EF4-FFF2-40B4-BE49-F238E27FC236}">
                <a16:creationId xmlns:a16="http://schemas.microsoft.com/office/drawing/2014/main" id="{8BF74530-0C13-7685-1F26-76B6A4817A13}"/>
              </a:ext>
            </a:extLst>
          </p:cNvPr>
          <p:cNvSpPr/>
          <p:nvPr/>
        </p:nvSpPr>
        <p:spPr>
          <a:xfrm>
            <a:off x="9090668" y="6117707"/>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7" name="角丸四角形 36">
            <a:extLst>
              <a:ext uri="{FF2B5EF4-FFF2-40B4-BE49-F238E27FC236}">
                <a16:creationId xmlns:a16="http://schemas.microsoft.com/office/drawing/2014/main" id="{61ED9D30-4696-35E7-1667-37DD55CBA1D7}"/>
              </a:ext>
            </a:extLst>
          </p:cNvPr>
          <p:cNvSpPr/>
          <p:nvPr/>
        </p:nvSpPr>
        <p:spPr>
          <a:xfrm>
            <a:off x="9090668" y="5636059"/>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8" name="角丸四角形 37">
            <a:extLst>
              <a:ext uri="{FF2B5EF4-FFF2-40B4-BE49-F238E27FC236}">
                <a16:creationId xmlns:a16="http://schemas.microsoft.com/office/drawing/2014/main" id="{6E330828-380E-ABC3-028B-6DBE06A20FF7}"/>
              </a:ext>
            </a:extLst>
          </p:cNvPr>
          <p:cNvSpPr/>
          <p:nvPr/>
        </p:nvSpPr>
        <p:spPr>
          <a:xfrm>
            <a:off x="9090668" y="5154411"/>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9" name="テキスト ボックス 38">
            <a:extLst>
              <a:ext uri="{FF2B5EF4-FFF2-40B4-BE49-F238E27FC236}">
                <a16:creationId xmlns:a16="http://schemas.microsoft.com/office/drawing/2014/main" id="{034E964B-1669-FC8B-4F91-D1A098F655BC}"/>
              </a:ext>
            </a:extLst>
          </p:cNvPr>
          <p:cNvSpPr txBox="1"/>
          <p:nvPr/>
        </p:nvSpPr>
        <p:spPr>
          <a:xfrm>
            <a:off x="9090668" y="4846290"/>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40" name="山形 39">
            <a:extLst>
              <a:ext uri="{FF2B5EF4-FFF2-40B4-BE49-F238E27FC236}">
                <a16:creationId xmlns:a16="http://schemas.microsoft.com/office/drawing/2014/main" id="{3F2396F9-8475-64DC-4509-932AAA219A96}"/>
              </a:ext>
            </a:extLst>
          </p:cNvPr>
          <p:cNvSpPr/>
          <p:nvPr/>
        </p:nvSpPr>
        <p:spPr>
          <a:xfrm>
            <a:off x="1494877"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41" name="山形 40">
            <a:extLst>
              <a:ext uri="{FF2B5EF4-FFF2-40B4-BE49-F238E27FC236}">
                <a16:creationId xmlns:a16="http://schemas.microsoft.com/office/drawing/2014/main" id="{2E2B53EF-2BAD-E983-903B-17FA64364E76}"/>
              </a:ext>
            </a:extLst>
          </p:cNvPr>
          <p:cNvSpPr/>
          <p:nvPr/>
        </p:nvSpPr>
        <p:spPr>
          <a:xfrm>
            <a:off x="2181074" y="4235276"/>
            <a:ext cx="845956"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43" name="カギ線コネクタ 42">
            <a:extLst>
              <a:ext uri="{FF2B5EF4-FFF2-40B4-BE49-F238E27FC236}">
                <a16:creationId xmlns:a16="http://schemas.microsoft.com/office/drawing/2014/main" id="{44E49A15-F889-DAFB-B2DB-6F278020B3DC}"/>
              </a:ext>
            </a:extLst>
          </p:cNvPr>
          <p:cNvCxnSpPr>
            <a:stCxn id="5" idx="3"/>
            <a:endCxn id="40" idx="1"/>
          </p:cNvCxnSpPr>
          <p:nvPr/>
        </p:nvCxnSpPr>
        <p:spPr>
          <a:xfrm>
            <a:off x="1428364" y="3644592"/>
            <a:ext cx="260727" cy="973221"/>
          </a:xfrm>
          <a:prstGeom prst="bentConnector3">
            <a:avLst>
              <a:gd name="adj1" fmla="val 211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カギ線コネクタ 45">
            <a:extLst>
              <a:ext uri="{FF2B5EF4-FFF2-40B4-BE49-F238E27FC236}">
                <a16:creationId xmlns:a16="http://schemas.microsoft.com/office/drawing/2014/main" id="{700AB4C9-1DB6-B87C-DBC3-24A2297F0563}"/>
              </a:ext>
            </a:extLst>
          </p:cNvPr>
          <p:cNvCxnSpPr>
            <a:stCxn id="6" idx="3"/>
            <a:endCxn id="40" idx="1"/>
          </p:cNvCxnSpPr>
          <p:nvPr/>
        </p:nvCxnSpPr>
        <p:spPr>
          <a:xfrm flipV="1">
            <a:off x="1428364" y="4617813"/>
            <a:ext cx="260727" cy="1053600"/>
          </a:xfrm>
          <a:prstGeom prst="bentConnector3">
            <a:avLst>
              <a:gd name="adj1" fmla="val 211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カギ線コネクタ 52">
            <a:extLst>
              <a:ext uri="{FF2B5EF4-FFF2-40B4-BE49-F238E27FC236}">
                <a16:creationId xmlns:a16="http://schemas.microsoft.com/office/drawing/2014/main" id="{1F0DC4EE-97C6-84B2-195C-3516BF776140}"/>
              </a:ext>
            </a:extLst>
          </p:cNvPr>
          <p:cNvCxnSpPr>
            <a:stCxn id="41" idx="3"/>
            <a:endCxn id="20" idx="1"/>
          </p:cNvCxnSpPr>
          <p:nvPr/>
        </p:nvCxnSpPr>
        <p:spPr>
          <a:xfrm flipV="1">
            <a:off x="3027030"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カギ線コネクタ 54">
            <a:extLst>
              <a:ext uri="{FF2B5EF4-FFF2-40B4-BE49-F238E27FC236}">
                <a16:creationId xmlns:a16="http://schemas.microsoft.com/office/drawing/2014/main" id="{3D4B9F45-4349-0902-6B19-127826AAE9D9}"/>
              </a:ext>
            </a:extLst>
          </p:cNvPr>
          <p:cNvCxnSpPr>
            <a:stCxn id="41" idx="3"/>
            <a:endCxn id="21" idx="1"/>
          </p:cNvCxnSpPr>
          <p:nvPr/>
        </p:nvCxnSpPr>
        <p:spPr>
          <a:xfrm>
            <a:off x="3027030"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5E176FDE-AE8E-4120-0530-957ED32AE8B9}"/>
              </a:ext>
            </a:extLst>
          </p:cNvPr>
          <p:cNvSpPr txBox="1"/>
          <p:nvPr/>
        </p:nvSpPr>
        <p:spPr>
          <a:xfrm>
            <a:off x="4744361"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57" name="山形 56">
            <a:extLst>
              <a:ext uri="{FF2B5EF4-FFF2-40B4-BE49-F238E27FC236}">
                <a16:creationId xmlns:a16="http://schemas.microsoft.com/office/drawing/2014/main" id="{466BBE22-9423-4DF9-EDB1-0D97F7AAB135}"/>
              </a:ext>
            </a:extLst>
          </p:cNvPr>
          <p:cNvSpPr/>
          <p:nvPr/>
        </p:nvSpPr>
        <p:spPr>
          <a:xfrm>
            <a:off x="4551115"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58" name="山形 57">
            <a:extLst>
              <a:ext uri="{FF2B5EF4-FFF2-40B4-BE49-F238E27FC236}">
                <a16:creationId xmlns:a16="http://schemas.microsoft.com/office/drawing/2014/main" id="{580416E4-28E3-693A-927F-955EE722B805}"/>
              </a:ext>
            </a:extLst>
          </p:cNvPr>
          <p:cNvSpPr/>
          <p:nvPr/>
        </p:nvSpPr>
        <p:spPr>
          <a:xfrm>
            <a:off x="5237312" y="4235276"/>
            <a:ext cx="845956"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59" name="カギ線コネクタ 58">
            <a:extLst>
              <a:ext uri="{FF2B5EF4-FFF2-40B4-BE49-F238E27FC236}">
                <a16:creationId xmlns:a16="http://schemas.microsoft.com/office/drawing/2014/main" id="{E6ECED05-0D7E-0EEF-E207-E52DF7C08832}"/>
              </a:ext>
            </a:extLst>
          </p:cNvPr>
          <p:cNvCxnSpPr>
            <a:endCxn id="57" idx="1"/>
          </p:cNvCxnSpPr>
          <p:nvPr/>
        </p:nvCxnSpPr>
        <p:spPr>
          <a:xfrm>
            <a:off x="4484602" y="3644592"/>
            <a:ext cx="260727" cy="973221"/>
          </a:xfrm>
          <a:prstGeom prst="bentConnector3">
            <a:avLst>
              <a:gd name="adj1" fmla="val 213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カギ線コネクタ 59">
            <a:extLst>
              <a:ext uri="{FF2B5EF4-FFF2-40B4-BE49-F238E27FC236}">
                <a16:creationId xmlns:a16="http://schemas.microsoft.com/office/drawing/2014/main" id="{C1890989-1B3F-F251-0442-93A51ED4DAB6}"/>
              </a:ext>
            </a:extLst>
          </p:cNvPr>
          <p:cNvCxnSpPr>
            <a:endCxn id="57" idx="1"/>
          </p:cNvCxnSpPr>
          <p:nvPr/>
        </p:nvCxnSpPr>
        <p:spPr>
          <a:xfrm flipV="1">
            <a:off x="4484602" y="4617813"/>
            <a:ext cx="260727" cy="1053600"/>
          </a:xfrm>
          <a:prstGeom prst="bentConnector3">
            <a:avLst>
              <a:gd name="adj1" fmla="val 213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FF307969-88FA-4872-9F86-C784E6D26E0A}"/>
              </a:ext>
            </a:extLst>
          </p:cNvPr>
          <p:cNvSpPr txBox="1"/>
          <p:nvPr/>
        </p:nvSpPr>
        <p:spPr>
          <a:xfrm>
            <a:off x="6953722" y="670325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64" name="山形 63">
            <a:extLst>
              <a:ext uri="{FF2B5EF4-FFF2-40B4-BE49-F238E27FC236}">
                <a16:creationId xmlns:a16="http://schemas.microsoft.com/office/drawing/2014/main" id="{890ECB66-F931-1690-42B2-757C269E3C83}"/>
              </a:ext>
            </a:extLst>
          </p:cNvPr>
          <p:cNvSpPr/>
          <p:nvPr/>
        </p:nvSpPr>
        <p:spPr>
          <a:xfrm>
            <a:off x="7866590" y="4235276"/>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68" name="カギ線コネクタ 67">
            <a:extLst>
              <a:ext uri="{FF2B5EF4-FFF2-40B4-BE49-F238E27FC236}">
                <a16:creationId xmlns:a16="http://schemas.microsoft.com/office/drawing/2014/main" id="{BC2662A9-DCF4-1633-FEC9-88B4109CE628}"/>
              </a:ext>
            </a:extLst>
          </p:cNvPr>
          <p:cNvCxnSpPr>
            <a:cxnSpLocks/>
          </p:cNvCxnSpPr>
          <p:nvPr/>
        </p:nvCxnSpPr>
        <p:spPr>
          <a:xfrm flipV="1">
            <a:off x="8688936" y="3632071"/>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カギ線コネクタ 68">
            <a:extLst>
              <a:ext uri="{FF2B5EF4-FFF2-40B4-BE49-F238E27FC236}">
                <a16:creationId xmlns:a16="http://schemas.microsoft.com/office/drawing/2014/main" id="{B0AAB8A1-19D6-2536-84D1-47542542B6F1}"/>
              </a:ext>
            </a:extLst>
          </p:cNvPr>
          <p:cNvCxnSpPr>
            <a:cxnSpLocks/>
          </p:cNvCxnSpPr>
          <p:nvPr/>
        </p:nvCxnSpPr>
        <p:spPr>
          <a:xfrm>
            <a:off x="8688936" y="4617813"/>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1BD3A2EC-F1F1-62F9-FA37-2859D37DBF50}"/>
              </a:ext>
            </a:extLst>
          </p:cNvPr>
          <p:cNvCxnSpPr>
            <a:cxnSpLocks/>
          </p:cNvCxnSpPr>
          <p:nvPr/>
        </p:nvCxnSpPr>
        <p:spPr>
          <a:xfrm>
            <a:off x="6163056" y="4617812"/>
            <a:ext cx="1703534"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 name="フローチャート: せん孔テープ 74">
            <a:extLst>
              <a:ext uri="{FF2B5EF4-FFF2-40B4-BE49-F238E27FC236}">
                <a16:creationId xmlns:a16="http://schemas.microsoft.com/office/drawing/2014/main" id="{CBE3376C-7718-28C2-7E27-AB5F80194517}"/>
              </a:ext>
            </a:extLst>
          </p:cNvPr>
          <p:cNvSpPr/>
          <p:nvPr/>
        </p:nvSpPr>
        <p:spPr>
          <a:xfrm flipV="1">
            <a:off x="6405727" y="4381819"/>
            <a:ext cx="1037885" cy="471987"/>
          </a:xfrm>
          <a:prstGeom prst="flowChartPunchedTap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0" name="直線矢印コネクタ 79">
            <a:extLst>
              <a:ext uri="{FF2B5EF4-FFF2-40B4-BE49-F238E27FC236}">
                <a16:creationId xmlns:a16="http://schemas.microsoft.com/office/drawing/2014/main" id="{0C2D574C-C448-AA89-711D-7218C7F14FFA}"/>
              </a:ext>
            </a:extLst>
          </p:cNvPr>
          <p:cNvCxnSpPr>
            <a:cxnSpLocks/>
          </p:cNvCxnSpPr>
          <p:nvPr/>
        </p:nvCxnSpPr>
        <p:spPr>
          <a:xfrm>
            <a:off x="7797074" y="4617812"/>
            <a:ext cx="11229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角丸四角形吹き出し 10">
            <a:extLst>
              <a:ext uri="{FF2B5EF4-FFF2-40B4-BE49-F238E27FC236}">
                <a16:creationId xmlns:a16="http://schemas.microsoft.com/office/drawing/2014/main" id="{F010FA49-1E95-C9FC-0D8C-6705BF3396FE}"/>
              </a:ext>
            </a:extLst>
          </p:cNvPr>
          <p:cNvSpPr/>
          <p:nvPr/>
        </p:nvSpPr>
        <p:spPr>
          <a:xfrm rot="5400000">
            <a:off x="6009983" y="1861860"/>
            <a:ext cx="1645020" cy="3005962"/>
          </a:xfrm>
          <a:prstGeom prst="wedgeRoundRectCallout">
            <a:avLst>
              <a:gd name="adj1" fmla="val 13609"/>
              <a:gd name="adj2" fmla="val 83292"/>
              <a:gd name="adj3" fmla="val 16667"/>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ja-JP" altLang="en-US">
                <a:solidFill>
                  <a:sysClr val="windowText" lastClr="000000"/>
                </a:solidFill>
                <a:latin typeface="Yu Gothic Medium" panose="020B0400000000000000" pitchFamily="34" charset="-128"/>
                <a:ea typeface="Yu Gothic Medium" panose="020B0400000000000000" pitchFamily="34" charset="-128"/>
              </a:rPr>
              <a:t>最小化によって，</a:t>
            </a:r>
            <a:br>
              <a:rPr kumimoji="1" lang="en-US" altLang="ja-JP" dirty="0">
                <a:solidFill>
                  <a:sysClr val="windowText" lastClr="000000"/>
                </a:solidFill>
                <a:latin typeface="Yu Gothic Medium" panose="020B0400000000000000" pitchFamily="34" charset="-128"/>
                <a:ea typeface="Yu Gothic Medium" panose="020B0400000000000000" pitchFamily="34" charset="-128"/>
              </a:rPr>
            </a:br>
            <a:r>
              <a:rPr kumimoji="1" lang="ja-JP" altLang="en-US">
                <a:solidFill>
                  <a:sysClr val="windowText" lastClr="000000"/>
                </a:solidFill>
                <a:latin typeface="Yu Gothic Medium" panose="020B0400000000000000" pitchFamily="34" charset="-128"/>
                <a:ea typeface="Yu Gothic Medium" panose="020B0400000000000000" pitchFamily="34" charset="-128"/>
              </a:rPr>
              <a:t>部分制御器の大きさを</a:t>
            </a:r>
            <a:endParaRPr kumimoji="1" lang="en-US" altLang="ja-JP" dirty="0">
              <a:solidFill>
                <a:sysClr val="windowText" lastClr="000000"/>
              </a:solidFill>
              <a:latin typeface="Yu Gothic Medium" panose="020B0400000000000000" pitchFamily="34" charset="-128"/>
              <a:ea typeface="Yu Gothic Medium" panose="020B0400000000000000" pitchFamily="34" charset="-128"/>
            </a:endParaRPr>
          </a:p>
          <a:p>
            <a:pPr algn="ctr"/>
            <a:r>
              <a:rPr kumimoji="1" lang="ja-JP" altLang="en-US">
                <a:solidFill>
                  <a:sysClr val="windowText" lastClr="000000"/>
                </a:solidFill>
                <a:latin typeface="Yu Gothic Medium" panose="020B0400000000000000" pitchFamily="34" charset="-128"/>
                <a:ea typeface="Yu Gothic Medium" panose="020B0400000000000000" pitchFamily="34" charset="-128"/>
              </a:rPr>
              <a:t>小さくすることができる</a:t>
            </a:r>
          </a:p>
        </p:txBody>
      </p:sp>
    </p:spTree>
    <p:extLst>
      <p:ext uri="{BB962C8B-B14F-4D97-AF65-F5344CB8AC3E}">
        <p14:creationId xmlns:p14="http://schemas.microsoft.com/office/powerpoint/2010/main" val="3751752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8281E5-AE37-6651-F11B-51AC28E56FAB}"/>
              </a:ext>
            </a:extLst>
          </p:cNvPr>
          <p:cNvSpPr>
            <a:spLocks noGrp="1"/>
          </p:cNvSpPr>
          <p:nvPr>
            <p:ph type="title"/>
          </p:nvPr>
        </p:nvSpPr>
        <p:spPr/>
        <p:txBody>
          <a:bodyPr/>
          <a:lstStyle/>
          <a:p>
            <a:r>
              <a:rPr kumimoji="1" lang="ja-JP" altLang="en-US"/>
              <a:t>提案手法の例</a:t>
            </a:r>
          </a:p>
        </p:txBody>
      </p:sp>
      <p:sp>
        <p:nvSpPr>
          <p:cNvPr id="3" name="コンテンツ プレースホルダー 2">
            <a:extLst>
              <a:ext uri="{FF2B5EF4-FFF2-40B4-BE49-F238E27FC236}">
                <a16:creationId xmlns:a16="http://schemas.microsoft.com/office/drawing/2014/main" id="{C3D8E418-BEF4-0C0F-BCD5-4CC29489CCE5}"/>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段階的に合成と最小化を適用したときの例を示す</a:t>
            </a:r>
          </a:p>
        </p:txBody>
      </p:sp>
      <p:sp>
        <p:nvSpPr>
          <p:cNvPr id="4" name="スライド番号プレースホルダー 3">
            <a:extLst>
              <a:ext uri="{FF2B5EF4-FFF2-40B4-BE49-F238E27FC236}">
                <a16:creationId xmlns:a16="http://schemas.microsoft.com/office/drawing/2014/main" id="{C0BCDAB1-2A5B-FC4E-89F4-CAD297C52785}"/>
              </a:ext>
            </a:extLst>
          </p:cNvPr>
          <p:cNvSpPr>
            <a:spLocks noGrp="1"/>
          </p:cNvSpPr>
          <p:nvPr>
            <p:ph type="sldNum" sz="quarter" idx="11"/>
          </p:nvPr>
        </p:nvSpPr>
        <p:spPr/>
        <p:txBody>
          <a:bodyPr/>
          <a:lstStyle/>
          <a:p>
            <a:fld id="{E0D93E39-1AFA-2A42-BAF4-0CDD5F6E9A80}" type="slidenum">
              <a:rPr kumimoji="1" lang="ja-JP" altLang="en-US" smtClean="0"/>
              <a:pPr/>
              <a:t>12</a:t>
            </a:fld>
            <a:endParaRPr kumimoji="1" lang="ja-JP" altLang="en-US"/>
          </a:p>
        </p:txBody>
      </p:sp>
      <p:pic>
        <p:nvPicPr>
          <p:cNvPr id="6" name="図 5" descr="抽象, 挿絵, 時計 が含まれている画像&#10;&#10;AI 生成コンテンツは誤りを含む可能性があります。">
            <a:extLst>
              <a:ext uri="{FF2B5EF4-FFF2-40B4-BE49-F238E27FC236}">
                <a16:creationId xmlns:a16="http://schemas.microsoft.com/office/drawing/2014/main" id="{EA1F35E0-E2D4-68E0-E9BB-B83E1EADE502}"/>
              </a:ext>
            </a:extLst>
          </p:cNvPr>
          <p:cNvPicPr>
            <a:picLocks noChangeAspect="1"/>
          </p:cNvPicPr>
          <p:nvPr/>
        </p:nvPicPr>
        <p:blipFill>
          <a:blip r:embed="rId3"/>
          <a:stretch>
            <a:fillRect/>
          </a:stretch>
        </p:blipFill>
        <p:spPr>
          <a:xfrm>
            <a:off x="6452944" y="3721139"/>
            <a:ext cx="2570432" cy="1002033"/>
          </a:xfrm>
          <a:prstGeom prst="rect">
            <a:avLst/>
          </a:prstGeom>
        </p:spPr>
      </p:pic>
      <p:pic>
        <p:nvPicPr>
          <p:cNvPr id="8" name="図 7" descr="ダイアグラム&#10;&#10;AI 生成コンテンツは誤りを含む可能性があります。">
            <a:extLst>
              <a:ext uri="{FF2B5EF4-FFF2-40B4-BE49-F238E27FC236}">
                <a16:creationId xmlns:a16="http://schemas.microsoft.com/office/drawing/2014/main" id="{6C16D3DD-E5CD-7895-B5D5-A0EE25B1A046}"/>
              </a:ext>
            </a:extLst>
          </p:cNvPr>
          <p:cNvPicPr>
            <a:picLocks noChangeAspect="1"/>
          </p:cNvPicPr>
          <p:nvPr/>
        </p:nvPicPr>
        <p:blipFill>
          <a:blip r:embed="rId4"/>
          <a:stretch>
            <a:fillRect/>
          </a:stretch>
        </p:blipFill>
        <p:spPr>
          <a:xfrm>
            <a:off x="6448108" y="1812006"/>
            <a:ext cx="2682640" cy="1298398"/>
          </a:xfrm>
          <a:prstGeom prst="rect">
            <a:avLst/>
          </a:prstGeom>
        </p:spPr>
      </p:pic>
      <p:pic>
        <p:nvPicPr>
          <p:cNvPr id="10" name="図 9" descr="挿絵, 時計 が含まれている画像&#10;&#10;AI 生成コンテンツは誤りを含む可能性があります。">
            <a:extLst>
              <a:ext uri="{FF2B5EF4-FFF2-40B4-BE49-F238E27FC236}">
                <a16:creationId xmlns:a16="http://schemas.microsoft.com/office/drawing/2014/main" id="{A4643B3E-9877-43BE-18C1-74A51BE23AEE}"/>
              </a:ext>
            </a:extLst>
          </p:cNvPr>
          <p:cNvPicPr>
            <a:picLocks noChangeAspect="1"/>
          </p:cNvPicPr>
          <p:nvPr/>
        </p:nvPicPr>
        <p:blipFill>
          <a:blip r:embed="rId5"/>
          <a:stretch>
            <a:fillRect/>
          </a:stretch>
        </p:blipFill>
        <p:spPr>
          <a:xfrm>
            <a:off x="1800020" y="4134638"/>
            <a:ext cx="2021544" cy="866376"/>
          </a:xfrm>
          <a:prstGeom prst="rect">
            <a:avLst/>
          </a:prstGeom>
        </p:spPr>
      </p:pic>
      <p:pic>
        <p:nvPicPr>
          <p:cNvPr id="12" name="図 11" descr="ダイアグラム&#10;&#10;AI 生成コンテンツは誤りを含む可能性があります。">
            <a:extLst>
              <a:ext uri="{FF2B5EF4-FFF2-40B4-BE49-F238E27FC236}">
                <a16:creationId xmlns:a16="http://schemas.microsoft.com/office/drawing/2014/main" id="{C8966C39-A4AD-5FF2-D33C-53A9FA41C6E2}"/>
              </a:ext>
            </a:extLst>
          </p:cNvPr>
          <p:cNvPicPr>
            <a:picLocks noChangeAspect="1"/>
          </p:cNvPicPr>
          <p:nvPr/>
        </p:nvPicPr>
        <p:blipFill>
          <a:blip r:embed="rId6"/>
          <a:stretch>
            <a:fillRect/>
          </a:stretch>
        </p:blipFill>
        <p:spPr>
          <a:xfrm>
            <a:off x="1800020" y="2888541"/>
            <a:ext cx="2682640" cy="1080917"/>
          </a:xfrm>
          <a:prstGeom prst="rect">
            <a:avLst/>
          </a:prstGeom>
        </p:spPr>
      </p:pic>
      <p:pic>
        <p:nvPicPr>
          <p:cNvPr id="14" name="図 13" descr="ダイアグラム&#10;&#10;AI 生成コンテンツは誤りを含む可能性があります。">
            <a:extLst>
              <a:ext uri="{FF2B5EF4-FFF2-40B4-BE49-F238E27FC236}">
                <a16:creationId xmlns:a16="http://schemas.microsoft.com/office/drawing/2014/main" id="{4B7FAFC9-1A1E-244C-5B48-E60F88ED48A4}"/>
              </a:ext>
            </a:extLst>
          </p:cNvPr>
          <p:cNvPicPr>
            <a:picLocks noChangeAspect="1"/>
          </p:cNvPicPr>
          <p:nvPr/>
        </p:nvPicPr>
        <p:blipFill>
          <a:blip r:embed="rId7"/>
          <a:stretch>
            <a:fillRect/>
          </a:stretch>
        </p:blipFill>
        <p:spPr>
          <a:xfrm>
            <a:off x="1800020" y="1900780"/>
            <a:ext cx="2682640" cy="894213"/>
          </a:xfrm>
          <a:prstGeom prst="rect">
            <a:avLst/>
          </a:prstGeom>
        </p:spPr>
      </p:pic>
      <p:sp>
        <p:nvSpPr>
          <p:cNvPr id="15" name="テキスト ボックス 14">
            <a:extLst>
              <a:ext uri="{FF2B5EF4-FFF2-40B4-BE49-F238E27FC236}">
                <a16:creationId xmlns:a16="http://schemas.microsoft.com/office/drawing/2014/main" id="{FC9585D0-2104-1E15-3A61-D1601EE73D8D}"/>
              </a:ext>
            </a:extLst>
          </p:cNvPr>
          <p:cNvSpPr txBox="1"/>
          <p:nvPr/>
        </p:nvSpPr>
        <p:spPr>
          <a:xfrm>
            <a:off x="2232555" y="5371814"/>
            <a:ext cx="2682640" cy="512956"/>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B495426E-271E-4C8B-DC88-E809C9B3C23E}"/>
              </a:ext>
            </a:extLst>
          </p:cNvPr>
          <p:cNvSpPr txBox="1"/>
          <p:nvPr/>
        </p:nvSpPr>
        <p:spPr>
          <a:xfrm>
            <a:off x="6958906" y="5371814"/>
            <a:ext cx="914400" cy="914400"/>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監視モデル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45960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5E289-7846-47C5-7485-725F43B26E8A}"/>
              </a:ext>
            </a:extLst>
          </p:cNvPr>
          <p:cNvSpPr>
            <a:spLocks noGrp="1"/>
          </p:cNvSpPr>
          <p:nvPr>
            <p:ph type="title"/>
          </p:nvPr>
        </p:nvSpPr>
        <p:spPr/>
        <p:txBody>
          <a:bodyPr/>
          <a:lstStyle/>
          <a:p>
            <a:r>
              <a:rPr kumimoji="1" lang="ja-JP" altLang="en-US"/>
              <a:t>提案手法の例</a:t>
            </a:r>
          </a:p>
        </p:txBody>
      </p:sp>
      <p:sp>
        <p:nvSpPr>
          <p:cNvPr id="3" name="コンテンツ プレースホルダー 2">
            <a:extLst>
              <a:ext uri="{FF2B5EF4-FFF2-40B4-BE49-F238E27FC236}">
                <a16:creationId xmlns:a16="http://schemas.microsoft.com/office/drawing/2014/main" id="{EF4F0962-1EB9-FD5B-2830-CFE573D9DEA7}"/>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監視モデル</a:t>
            </a:r>
            <a:r>
              <a:rPr lang="en-US" altLang="ja-JP" sz="2400" b="1" dirty="0">
                <a:latin typeface="Yu Gothic" panose="020B0400000000000000" pitchFamily="34" charset="-128"/>
                <a:ea typeface="Yu Gothic" panose="020B0400000000000000" pitchFamily="34" charset="-128"/>
              </a:rPr>
              <a:t>SAFETY1</a:t>
            </a:r>
            <a:r>
              <a:rPr lang="ja-JP" altLang="en-US" sz="2400" b="1">
                <a:latin typeface="Yu Gothic" panose="020B0400000000000000" pitchFamily="34" charset="-128"/>
                <a:ea typeface="Yu Gothic" panose="020B0400000000000000" pitchFamily="34" charset="-128"/>
              </a:rPr>
              <a:t>の安全性保証</a:t>
            </a:r>
            <a:endParaRPr lang="en-US" altLang="ja-JP" sz="2400" b="1" dirty="0">
              <a:latin typeface="Yu Gothic" panose="020B0400000000000000" pitchFamily="34" charset="-128"/>
              <a:ea typeface="Yu Gothic" panose="020B0400000000000000" pitchFamily="34" charset="-128"/>
            </a:endParaRPr>
          </a:p>
          <a:p>
            <a:pPr marL="0" indent="0">
              <a:buNone/>
            </a:pPr>
            <a:endParaRPr kumimoji="1" lang="ja-JP" altLang="en-US" sz="2400" b="1">
              <a:latin typeface="Yu Gothic" panose="020B0400000000000000" pitchFamily="34" charset="-128"/>
              <a:ea typeface="Yu Gothic" panose="020B0400000000000000" pitchFamily="34" charset="-128"/>
            </a:endParaRPr>
          </a:p>
        </p:txBody>
      </p:sp>
      <p:sp>
        <p:nvSpPr>
          <p:cNvPr id="4" name="スライド番号プレースホルダー 3">
            <a:extLst>
              <a:ext uri="{FF2B5EF4-FFF2-40B4-BE49-F238E27FC236}">
                <a16:creationId xmlns:a16="http://schemas.microsoft.com/office/drawing/2014/main" id="{808E3E12-2575-BEA4-AF80-5C4EBF6DF931}"/>
              </a:ext>
            </a:extLst>
          </p:cNvPr>
          <p:cNvSpPr>
            <a:spLocks noGrp="1"/>
          </p:cNvSpPr>
          <p:nvPr>
            <p:ph type="sldNum" sz="quarter" idx="11"/>
          </p:nvPr>
        </p:nvSpPr>
        <p:spPr/>
        <p:txBody>
          <a:bodyPr/>
          <a:lstStyle/>
          <a:p>
            <a:fld id="{E0D93E39-1AFA-2A42-BAF4-0CDD5F6E9A80}" type="slidenum">
              <a:rPr kumimoji="1" lang="ja-JP" altLang="en-US" smtClean="0"/>
              <a:pPr/>
              <a:t>13</a:t>
            </a:fld>
            <a:endParaRPr kumimoji="1" lang="ja-JP" altLang="en-US"/>
          </a:p>
        </p:txBody>
      </p:sp>
      <p:pic>
        <p:nvPicPr>
          <p:cNvPr id="6" name="図 5" descr="ダイアグラム&#10;&#10;AI 生成コンテンツは誤りを含む可能性があります。">
            <a:extLst>
              <a:ext uri="{FF2B5EF4-FFF2-40B4-BE49-F238E27FC236}">
                <a16:creationId xmlns:a16="http://schemas.microsoft.com/office/drawing/2014/main" id="{8F6D6F60-A16D-1EC0-5AD1-D1F83BCC3551}"/>
              </a:ext>
            </a:extLst>
          </p:cNvPr>
          <p:cNvPicPr>
            <a:picLocks noChangeAspect="1"/>
          </p:cNvPicPr>
          <p:nvPr/>
        </p:nvPicPr>
        <p:blipFill>
          <a:blip r:embed="rId3"/>
          <a:stretch>
            <a:fillRect/>
          </a:stretch>
        </p:blipFill>
        <p:spPr>
          <a:xfrm>
            <a:off x="188844" y="4781294"/>
            <a:ext cx="1896434" cy="917874"/>
          </a:xfrm>
          <a:prstGeom prst="rect">
            <a:avLst/>
          </a:prstGeom>
        </p:spPr>
      </p:pic>
      <p:pic>
        <p:nvPicPr>
          <p:cNvPr id="7" name="図 6" descr="挿絵, 時計 が含まれている画像&#10;&#10;AI 生成コンテンツは誤りを含む可能性があります。">
            <a:extLst>
              <a:ext uri="{FF2B5EF4-FFF2-40B4-BE49-F238E27FC236}">
                <a16:creationId xmlns:a16="http://schemas.microsoft.com/office/drawing/2014/main" id="{D43A5FDB-C318-5933-8395-AA9FFB793928}"/>
              </a:ext>
            </a:extLst>
          </p:cNvPr>
          <p:cNvPicPr>
            <a:picLocks noChangeAspect="1"/>
          </p:cNvPicPr>
          <p:nvPr/>
        </p:nvPicPr>
        <p:blipFill>
          <a:blip r:embed="rId4"/>
          <a:stretch>
            <a:fillRect/>
          </a:stretch>
        </p:blipFill>
        <p:spPr>
          <a:xfrm>
            <a:off x="115365" y="3716719"/>
            <a:ext cx="1595351" cy="683722"/>
          </a:xfrm>
          <a:prstGeom prst="rect">
            <a:avLst/>
          </a:prstGeom>
        </p:spPr>
      </p:pic>
      <p:pic>
        <p:nvPicPr>
          <p:cNvPr id="8" name="図 7" descr="ダイアグラム&#10;&#10;AI 生成コンテンツは誤りを含む可能性があります。">
            <a:extLst>
              <a:ext uri="{FF2B5EF4-FFF2-40B4-BE49-F238E27FC236}">
                <a16:creationId xmlns:a16="http://schemas.microsoft.com/office/drawing/2014/main" id="{73EA060F-3D65-C1E0-E07E-36C4C8849678}"/>
              </a:ext>
            </a:extLst>
          </p:cNvPr>
          <p:cNvPicPr>
            <a:picLocks noChangeAspect="1"/>
          </p:cNvPicPr>
          <p:nvPr/>
        </p:nvPicPr>
        <p:blipFill>
          <a:blip r:embed="rId5"/>
          <a:stretch>
            <a:fillRect/>
          </a:stretch>
        </p:blipFill>
        <p:spPr>
          <a:xfrm>
            <a:off x="188844" y="2647915"/>
            <a:ext cx="2021544" cy="814541"/>
          </a:xfrm>
          <a:prstGeom prst="rect">
            <a:avLst/>
          </a:prstGeom>
        </p:spPr>
      </p:pic>
      <p:pic>
        <p:nvPicPr>
          <p:cNvPr id="9" name="図 8" descr="ダイアグラム&#10;&#10;AI 生成コンテンツは誤りを含む可能性があります。">
            <a:extLst>
              <a:ext uri="{FF2B5EF4-FFF2-40B4-BE49-F238E27FC236}">
                <a16:creationId xmlns:a16="http://schemas.microsoft.com/office/drawing/2014/main" id="{B66CD4D6-823F-B466-DAD8-D16601E9653E}"/>
              </a:ext>
            </a:extLst>
          </p:cNvPr>
          <p:cNvPicPr>
            <a:picLocks noChangeAspect="1"/>
          </p:cNvPicPr>
          <p:nvPr/>
        </p:nvPicPr>
        <p:blipFill>
          <a:blip r:embed="rId6"/>
          <a:stretch>
            <a:fillRect/>
          </a:stretch>
        </p:blipFill>
        <p:spPr>
          <a:xfrm>
            <a:off x="188844" y="1812007"/>
            <a:ext cx="2021544" cy="673848"/>
          </a:xfrm>
          <a:prstGeom prst="rect">
            <a:avLst/>
          </a:prstGeom>
        </p:spPr>
      </p:pic>
      <p:sp>
        <p:nvSpPr>
          <p:cNvPr id="10" name="テキスト ボックス 9">
            <a:extLst>
              <a:ext uri="{FF2B5EF4-FFF2-40B4-BE49-F238E27FC236}">
                <a16:creationId xmlns:a16="http://schemas.microsoft.com/office/drawing/2014/main" id="{E04E5EA5-417C-D88A-A82C-A47F1FEFC718}"/>
              </a:ext>
            </a:extLst>
          </p:cNvPr>
          <p:cNvSpPr txBox="1"/>
          <p:nvPr/>
        </p:nvSpPr>
        <p:spPr>
          <a:xfrm>
            <a:off x="1653168" y="3864963"/>
            <a:ext cx="1896434" cy="513824"/>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Aft>
                <a:spcPts val="0"/>
              </a:spcAft>
              <a:buClrTx/>
              <a:buSzTx/>
              <a:buFontTx/>
              <a:buNone/>
              <a:tabLst/>
            </a:pPr>
            <a:r>
              <a:rPr kumimoji="1" lang="ja-JP" altLang="en-US" sz="1200">
                <a:solidFill>
                  <a:sysClr val="windowText" lastClr="000000"/>
                </a:solidFill>
                <a:latin typeface="Yu Gothic" panose="020B0400000000000000" pitchFamily="34" charset="-128"/>
                <a:ea typeface="Yu Gothic" panose="020B0400000000000000" pitchFamily="34" charset="-128"/>
              </a:rPr>
              <a:t>アクション</a:t>
            </a:r>
            <a:r>
              <a:rPr kumimoji="1" lang="en-US" altLang="ja-JP" sz="1200" dirty="0">
                <a:solidFill>
                  <a:sysClr val="windowText" lastClr="000000"/>
                </a:solidFill>
                <a:latin typeface="Yu Gothic" panose="020B0400000000000000" pitchFamily="34" charset="-128"/>
                <a:ea typeface="Yu Gothic" panose="020B0400000000000000" pitchFamily="34" charset="-128"/>
              </a:rPr>
              <a:t>on, off</a:t>
            </a:r>
            <a:r>
              <a:rPr kumimoji="1" lang="ja-JP" altLang="en-US" sz="1200">
                <a:solidFill>
                  <a:sysClr val="windowText" lastClr="000000"/>
                </a:solidFill>
                <a:latin typeface="Yu Gothic" panose="020B0400000000000000" pitchFamily="34" charset="-128"/>
                <a:ea typeface="Yu Gothic" panose="020B0400000000000000" pitchFamily="34" charset="-128"/>
              </a:rPr>
              <a:t>は</a:t>
            </a:r>
            <a:endParaRPr kumimoji="1" lang="en-US" altLang="ja-JP" sz="1200" dirty="0">
              <a:solidFill>
                <a:sysClr val="windowText" lastClr="000000"/>
              </a:solidFill>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Aft>
                <a:spcPts val="0"/>
              </a:spcAft>
              <a:buClrTx/>
              <a:buSzTx/>
              <a:buFontTx/>
              <a:buNone/>
              <a:tabLst/>
            </a:pPr>
            <a:r>
              <a:rPr kumimoji="1" lang="en-US" altLang="ja-JP" sz="1200" dirty="0">
                <a:solidFill>
                  <a:sysClr val="windowText" lastClr="000000"/>
                </a:solidFill>
                <a:latin typeface="Yu Gothic" panose="020B0400000000000000" pitchFamily="34" charset="-128"/>
                <a:ea typeface="Yu Gothic" panose="020B0400000000000000" pitchFamily="34" charset="-128"/>
              </a:rPr>
              <a:t>SAFETY1</a:t>
            </a:r>
            <a:r>
              <a:rPr kumimoji="1" lang="ja-JP" altLang="en-US" sz="1200">
                <a:solidFill>
                  <a:sysClr val="windowText" lastClr="000000"/>
                </a:solidFill>
                <a:latin typeface="Yu Gothic" panose="020B0400000000000000" pitchFamily="34" charset="-128"/>
                <a:ea typeface="Yu Gothic" panose="020B0400000000000000" pitchFamily="34" charset="-128"/>
              </a:rPr>
              <a:t>に含まれない</a:t>
            </a:r>
            <a:endParaRPr kumimoji="1" lang="ja-JP" altLang="en-US" sz="12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30" name="乗算記号 29">
            <a:extLst>
              <a:ext uri="{FF2B5EF4-FFF2-40B4-BE49-F238E27FC236}">
                <a16:creationId xmlns:a16="http://schemas.microsoft.com/office/drawing/2014/main" id="{AF03F5A5-B0EB-CB77-D816-5E5AA8556B0B}"/>
              </a:ext>
            </a:extLst>
          </p:cNvPr>
          <p:cNvSpPr/>
          <p:nvPr/>
        </p:nvSpPr>
        <p:spPr>
          <a:xfrm>
            <a:off x="-174057" y="3621814"/>
            <a:ext cx="2404756" cy="814540"/>
          </a:xfrm>
          <a:prstGeom prst="mathMultiply">
            <a:avLst>
              <a:gd name="adj1" fmla="val 4533"/>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B0CCC02E-AC83-F105-85F8-6447CB97A653}"/>
              </a:ext>
            </a:extLst>
          </p:cNvPr>
          <p:cNvCxnSpPr>
            <a:cxnSpLocks/>
          </p:cNvCxnSpPr>
          <p:nvPr/>
        </p:nvCxnSpPr>
        <p:spPr>
          <a:xfrm>
            <a:off x="3429000" y="1581268"/>
            <a:ext cx="0" cy="5140897"/>
          </a:xfrm>
          <a:prstGeom prst="line">
            <a:avLst/>
          </a:prstGeom>
          <a:ln w="22225">
            <a:solidFill>
              <a:schemeClr val="tx1"/>
            </a:solidFill>
            <a:prstDash val="dashDot"/>
          </a:ln>
        </p:spPr>
        <p:style>
          <a:lnRef idx="1">
            <a:schemeClr val="accent1"/>
          </a:lnRef>
          <a:fillRef idx="0">
            <a:schemeClr val="accent1"/>
          </a:fillRef>
          <a:effectRef idx="0">
            <a:schemeClr val="accent1"/>
          </a:effectRef>
          <a:fontRef idx="minor">
            <a:schemeClr val="tx1"/>
          </a:fontRef>
        </p:style>
      </p:cxnSp>
      <p:pic>
        <p:nvPicPr>
          <p:cNvPr id="37" name="図 36" descr="ダイアグラム&#10;&#10;AI 生成コンテンツは誤りを含む可能性があります。">
            <a:extLst>
              <a:ext uri="{FF2B5EF4-FFF2-40B4-BE49-F238E27FC236}">
                <a16:creationId xmlns:a16="http://schemas.microsoft.com/office/drawing/2014/main" id="{7D209567-AA97-13A6-6421-9073FADD0FF9}"/>
              </a:ext>
            </a:extLst>
          </p:cNvPr>
          <p:cNvPicPr>
            <a:picLocks noChangeAspect="1"/>
          </p:cNvPicPr>
          <p:nvPr/>
        </p:nvPicPr>
        <p:blipFill>
          <a:blip r:embed="rId3"/>
          <a:stretch>
            <a:fillRect/>
          </a:stretch>
        </p:blipFill>
        <p:spPr>
          <a:xfrm>
            <a:off x="3785341" y="4375654"/>
            <a:ext cx="1896434" cy="917874"/>
          </a:xfrm>
          <a:prstGeom prst="rect">
            <a:avLst/>
          </a:prstGeom>
        </p:spPr>
      </p:pic>
      <p:pic>
        <p:nvPicPr>
          <p:cNvPr id="39" name="図 38" descr="ダイアグラム&#10;&#10;AI 生成コンテンツは誤りを含む可能性があります。">
            <a:extLst>
              <a:ext uri="{FF2B5EF4-FFF2-40B4-BE49-F238E27FC236}">
                <a16:creationId xmlns:a16="http://schemas.microsoft.com/office/drawing/2014/main" id="{482754EC-E33E-25E1-90B6-B48062BFBD68}"/>
              </a:ext>
            </a:extLst>
          </p:cNvPr>
          <p:cNvPicPr>
            <a:picLocks noChangeAspect="1"/>
          </p:cNvPicPr>
          <p:nvPr/>
        </p:nvPicPr>
        <p:blipFill>
          <a:blip r:embed="rId5"/>
          <a:stretch>
            <a:fillRect/>
          </a:stretch>
        </p:blipFill>
        <p:spPr>
          <a:xfrm>
            <a:off x="3666792" y="2807273"/>
            <a:ext cx="2021544" cy="814541"/>
          </a:xfrm>
          <a:prstGeom prst="rect">
            <a:avLst/>
          </a:prstGeom>
        </p:spPr>
      </p:pic>
      <p:pic>
        <p:nvPicPr>
          <p:cNvPr id="40" name="図 39" descr="ダイアグラム&#10;&#10;AI 生成コンテンツは誤りを含む可能性があります。">
            <a:extLst>
              <a:ext uri="{FF2B5EF4-FFF2-40B4-BE49-F238E27FC236}">
                <a16:creationId xmlns:a16="http://schemas.microsoft.com/office/drawing/2014/main" id="{D0543B08-CD0C-7117-6C44-42592A56E99A}"/>
              </a:ext>
            </a:extLst>
          </p:cNvPr>
          <p:cNvPicPr>
            <a:picLocks noChangeAspect="1"/>
          </p:cNvPicPr>
          <p:nvPr/>
        </p:nvPicPr>
        <p:blipFill>
          <a:blip r:embed="rId6"/>
          <a:stretch>
            <a:fillRect/>
          </a:stretch>
        </p:blipFill>
        <p:spPr>
          <a:xfrm>
            <a:off x="3666792" y="1992826"/>
            <a:ext cx="2021544" cy="673848"/>
          </a:xfrm>
          <a:prstGeom prst="rect">
            <a:avLst/>
          </a:prstGeom>
        </p:spPr>
      </p:pic>
      <p:sp>
        <p:nvSpPr>
          <p:cNvPr id="42" name="テキスト ボックス 41">
            <a:extLst>
              <a:ext uri="{FF2B5EF4-FFF2-40B4-BE49-F238E27FC236}">
                <a16:creationId xmlns:a16="http://schemas.microsoft.com/office/drawing/2014/main" id="{5FDDF98A-A822-3738-3D51-8F8CB69406DD}"/>
              </a:ext>
            </a:extLst>
          </p:cNvPr>
          <p:cNvSpPr txBox="1"/>
          <p:nvPr/>
        </p:nvSpPr>
        <p:spPr>
          <a:xfrm>
            <a:off x="4182382" y="3626747"/>
            <a:ext cx="1284514" cy="36958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43" name="テキスト ボックス 42">
            <a:extLst>
              <a:ext uri="{FF2B5EF4-FFF2-40B4-BE49-F238E27FC236}">
                <a16:creationId xmlns:a16="http://schemas.microsoft.com/office/drawing/2014/main" id="{6138215A-E54B-F25A-5D91-25B65A3CBCF3}"/>
              </a:ext>
            </a:extLst>
          </p:cNvPr>
          <p:cNvSpPr txBox="1"/>
          <p:nvPr/>
        </p:nvSpPr>
        <p:spPr>
          <a:xfrm>
            <a:off x="7119257" y="4436354"/>
            <a:ext cx="914400" cy="914400"/>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44" name="テキスト ボックス 43">
            <a:extLst>
              <a:ext uri="{FF2B5EF4-FFF2-40B4-BE49-F238E27FC236}">
                <a16:creationId xmlns:a16="http://schemas.microsoft.com/office/drawing/2014/main" id="{248A8962-BB66-DCF5-69CB-EF178A09E508}"/>
              </a:ext>
            </a:extLst>
          </p:cNvPr>
          <p:cNvSpPr txBox="1"/>
          <p:nvPr/>
        </p:nvSpPr>
        <p:spPr>
          <a:xfrm>
            <a:off x="4173579" y="5350754"/>
            <a:ext cx="1284514" cy="36958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監視モデル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45" name="山形 44">
            <a:extLst>
              <a:ext uri="{FF2B5EF4-FFF2-40B4-BE49-F238E27FC236}">
                <a16:creationId xmlns:a16="http://schemas.microsoft.com/office/drawing/2014/main" id="{1F2192B6-E4C7-610D-63DA-38FCADD9CEFF}"/>
              </a:ext>
            </a:extLst>
          </p:cNvPr>
          <p:cNvSpPr/>
          <p:nvPr/>
        </p:nvSpPr>
        <p:spPr>
          <a:xfrm>
            <a:off x="5926127" y="3452750"/>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pic>
        <p:nvPicPr>
          <p:cNvPr id="47" name="図 46" descr="ダイアグラム&#10;&#10;AI 生成コンテンツは誤りを含む可能性があります。">
            <a:extLst>
              <a:ext uri="{FF2B5EF4-FFF2-40B4-BE49-F238E27FC236}">
                <a16:creationId xmlns:a16="http://schemas.microsoft.com/office/drawing/2014/main" id="{3A459E5C-1530-675B-D10A-257950B6AF57}"/>
              </a:ext>
            </a:extLst>
          </p:cNvPr>
          <p:cNvPicPr>
            <a:picLocks noChangeAspect="1"/>
          </p:cNvPicPr>
          <p:nvPr/>
        </p:nvPicPr>
        <p:blipFill>
          <a:blip r:embed="rId7"/>
          <a:stretch>
            <a:fillRect/>
          </a:stretch>
        </p:blipFill>
        <p:spPr>
          <a:xfrm>
            <a:off x="7584770" y="3143805"/>
            <a:ext cx="4463146" cy="1374838"/>
          </a:xfrm>
          <a:prstGeom prst="rect">
            <a:avLst/>
          </a:prstGeom>
        </p:spPr>
      </p:pic>
      <p:sp>
        <p:nvSpPr>
          <p:cNvPr id="49" name="テキスト ボックス 48">
            <a:extLst>
              <a:ext uri="{FF2B5EF4-FFF2-40B4-BE49-F238E27FC236}">
                <a16:creationId xmlns:a16="http://schemas.microsoft.com/office/drawing/2014/main" id="{6DE237E5-8530-D9DB-1DCF-BC07119B1C97}"/>
              </a:ext>
            </a:extLst>
          </p:cNvPr>
          <p:cNvSpPr txBox="1"/>
          <p:nvPr/>
        </p:nvSpPr>
        <p:spPr>
          <a:xfrm>
            <a:off x="8692738" y="4893554"/>
            <a:ext cx="3164299" cy="369580"/>
          </a:xfrm>
          <a:prstGeom prst="rect">
            <a:avLst/>
          </a:prstGeom>
        </p:spPr>
        <p:txBody>
          <a:bodyPr vert="horz" wrap="square" lIns="91440" tIns="45720" rIns="91440" bIns="45720" rtlCol="0">
            <a:normAutofit fontScale="925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最小化する前の部分制御器</a:t>
            </a:r>
            <a:r>
              <a:rPr kumimoji="1" lang="ja-JP" altLang="en-US" sz="1600">
                <a:solidFill>
                  <a:sysClr val="windowText" lastClr="000000"/>
                </a:solidFill>
                <a:latin typeface="Yu Gothic" panose="020B0400000000000000" pitchFamily="34" charset="-128"/>
                <a:ea typeface="Yu Gothic" panose="020B0400000000000000" pitchFamily="34" charset="-128"/>
              </a:rPr>
              <a:t>：</a:t>
            </a:r>
            <a:r>
              <a:rPr kumimoji="1" lang="en-US" altLang="ja-JP" sz="1600" b="1" dirty="0">
                <a:solidFill>
                  <a:sysClr val="windowText" lastClr="000000"/>
                </a:solidFill>
                <a:latin typeface="Yu Gothic" panose="020B0400000000000000" pitchFamily="34" charset="-128"/>
                <a:ea typeface="Yu Gothic" panose="020B0400000000000000" pitchFamily="34" charset="-128"/>
              </a:rPr>
              <a:t>7</a:t>
            </a:r>
            <a:r>
              <a:rPr kumimoji="1" lang="ja-JP" altLang="en-US" sz="1600" b="1">
                <a:solidFill>
                  <a:sysClr val="windowText" lastClr="000000"/>
                </a:solidFill>
                <a:latin typeface="Yu Gothic" panose="020B0400000000000000" pitchFamily="34" charset="-128"/>
                <a:ea typeface="Yu Gothic" panose="020B0400000000000000" pitchFamily="34" charset="-128"/>
              </a:rPr>
              <a:t>状態</a:t>
            </a:r>
            <a:endParaRPr kumimoji="1" lang="ja-JP" altLang="en-US"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cxnSp>
        <p:nvCxnSpPr>
          <p:cNvPr id="11" name="カギ線コネクタ 10">
            <a:extLst>
              <a:ext uri="{FF2B5EF4-FFF2-40B4-BE49-F238E27FC236}">
                <a16:creationId xmlns:a16="http://schemas.microsoft.com/office/drawing/2014/main" id="{D97EFC93-20E9-9CFA-75CE-FFD996235A34}"/>
              </a:ext>
            </a:extLst>
          </p:cNvPr>
          <p:cNvCxnSpPr>
            <a:cxnSpLocks/>
            <a:stCxn id="40" idx="3"/>
            <a:endCxn id="45" idx="1"/>
          </p:cNvCxnSpPr>
          <p:nvPr/>
        </p:nvCxnSpPr>
        <p:spPr>
          <a:xfrm>
            <a:off x="5688336" y="2329750"/>
            <a:ext cx="432005" cy="150553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7" name="カギ線コネクタ 16">
            <a:extLst>
              <a:ext uri="{FF2B5EF4-FFF2-40B4-BE49-F238E27FC236}">
                <a16:creationId xmlns:a16="http://schemas.microsoft.com/office/drawing/2014/main" id="{AC80628A-4598-2B4E-FB01-55691E27C33E}"/>
              </a:ext>
            </a:extLst>
          </p:cNvPr>
          <p:cNvCxnSpPr>
            <a:cxnSpLocks/>
            <a:stCxn id="39" idx="3"/>
            <a:endCxn id="45" idx="1"/>
          </p:cNvCxnSpPr>
          <p:nvPr/>
        </p:nvCxnSpPr>
        <p:spPr>
          <a:xfrm>
            <a:off x="5688336" y="3214544"/>
            <a:ext cx="432005" cy="62074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 name="カギ線コネクタ 19">
            <a:extLst>
              <a:ext uri="{FF2B5EF4-FFF2-40B4-BE49-F238E27FC236}">
                <a16:creationId xmlns:a16="http://schemas.microsoft.com/office/drawing/2014/main" id="{21F74CE6-23DF-AA48-5635-72A7F3A180CC}"/>
              </a:ext>
            </a:extLst>
          </p:cNvPr>
          <p:cNvCxnSpPr>
            <a:cxnSpLocks/>
            <a:stCxn id="37" idx="3"/>
            <a:endCxn id="45" idx="1"/>
          </p:cNvCxnSpPr>
          <p:nvPr/>
        </p:nvCxnSpPr>
        <p:spPr>
          <a:xfrm flipV="1">
            <a:off x="5681775" y="3835287"/>
            <a:ext cx="438566" cy="99930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2207FF72-72B8-03DB-DA81-5645A060A110}"/>
              </a:ext>
            </a:extLst>
          </p:cNvPr>
          <p:cNvCxnSpPr>
            <a:cxnSpLocks/>
            <a:stCxn id="45" idx="3"/>
            <a:endCxn id="47" idx="1"/>
          </p:cNvCxnSpPr>
          <p:nvPr/>
        </p:nvCxnSpPr>
        <p:spPr>
          <a:xfrm flipV="1">
            <a:off x="6746632" y="3831224"/>
            <a:ext cx="838138" cy="4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52994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97E628-B628-0C24-4436-1D38D6C34062}"/>
              </a:ext>
            </a:extLst>
          </p:cNvPr>
          <p:cNvSpPr>
            <a:spLocks noGrp="1"/>
          </p:cNvSpPr>
          <p:nvPr>
            <p:ph type="title"/>
          </p:nvPr>
        </p:nvSpPr>
        <p:spPr/>
        <p:txBody>
          <a:bodyPr/>
          <a:lstStyle/>
          <a:p>
            <a:r>
              <a:rPr kumimoji="1" lang="ja-JP" altLang="en-US"/>
              <a:t>提案手法の例</a:t>
            </a:r>
          </a:p>
        </p:txBody>
      </p:sp>
      <p:sp>
        <p:nvSpPr>
          <p:cNvPr id="3" name="コンテンツ プレースホルダー 2">
            <a:extLst>
              <a:ext uri="{FF2B5EF4-FFF2-40B4-BE49-F238E27FC236}">
                <a16:creationId xmlns:a16="http://schemas.microsoft.com/office/drawing/2014/main" id="{4B9503B1-D7EF-7C70-555F-E3BAB554D330}"/>
              </a:ext>
            </a:extLst>
          </p:cNvPr>
          <p:cNvSpPr>
            <a:spLocks noGrp="1"/>
          </p:cNvSpPr>
          <p:nvPr>
            <p:ph sz="quarter" idx="10"/>
          </p:nvPr>
        </p:nvSpPr>
        <p:spPr/>
        <p:txBody>
          <a:bodyPr/>
          <a:lstStyle/>
          <a:p>
            <a:pPr marL="0" indent="0">
              <a:buNone/>
            </a:pPr>
            <a:r>
              <a:rPr kumimoji="1" lang="en-US" altLang="ja-JP" sz="2400" b="1" dirty="0">
                <a:latin typeface="Yu Gothic" panose="020B0400000000000000" pitchFamily="34" charset="-128"/>
                <a:ea typeface="Yu Gothic" panose="020B0400000000000000" pitchFamily="34" charset="-128"/>
              </a:rPr>
              <a:t>PartController_0</a:t>
            </a:r>
            <a:r>
              <a:rPr kumimoji="1" lang="ja-JP" altLang="en-US" sz="2400" b="1">
                <a:latin typeface="Yu Gothic" panose="020B0400000000000000" pitchFamily="34" charset="-128"/>
                <a:ea typeface="Yu Gothic" panose="020B0400000000000000" pitchFamily="34" charset="-128"/>
              </a:rPr>
              <a:t>の最小化</a:t>
            </a:r>
          </a:p>
        </p:txBody>
      </p:sp>
      <p:sp>
        <p:nvSpPr>
          <p:cNvPr id="4" name="スライド番号プレースホルダー 3">
            <a:extLst>
              <a:ext uri="{FF2B5EF4-FFF2-40B4-BE49-F238E27FC236}">
                <a16:creationId xmlns:a16="http://schemas.microsoft.com/office/drawing/2014/main" id="{F3D35C34-C96D-BD4C-E51F-018DC79AA463}"/>
              </a:ext>
            </a:extLst>
          </p:cNvPr>
          <p:cNvSpPr>
            <a:spLocks noGrp="1"/>
          </p:cNvSpPr>
          <p:nvPr>
            <p:ph type="sldNum" sz="quarter" idx="11"/>
          </p:nvPr>
        </p:nvSpPr>
        <p:spPr/>
        <p:txBody>
          <a:bodyPr/>
          <a:lstStyle/>
          <a:p>
            <a:fld id="{E0D93E39-1AFA-2A42-BAF4-0CDD5F6E9A80}" type="slidenum">
              <a:rPr kumimoji="1" lang="ja-JP" altLang="en-US" smtClean="0"/>
              <a:pPr/>
              <a:t>14</a:t>
            </a:fld>
            <a:endParaRPr kumimoji="1" lang="ja-JP" altLang="en-US"/>
          </a:p>
        </p:txBody>
      </p:sp>
      <p:pic>
        <p:nvPicPr>
          <p:cNvPr id="5" name="図 4" descr="ダイアグラム&#10;&#10;AI 生成コンテンツは誤りを含む可能性があります。">
            <a:extLst>
              <a:ext uri="{FF2B5EF4-FFF2-40B4-BE49-F238E27FC236}">
                <a16:creationId xmlns:a16="http://schemas.microsoft.com/office/drawing/2014/main" id="{F1B7A3EE-EDF1-4AEE-AE64-3AD7125B89FB}"/>
              </a:ext>
            </a:extLst>
          </p:cNvPr>
          <p:cNvPicPr>
            <a:picLocks noChangeAspect="1"/>
          </p:cNvPicPr>
          <p:nvPr/>
        </p:nvPicPr>
        <p:blipFill>
          <a:blip r:embed="rId3"/>
          <a:stretch>
            <a:fillRect/>
          </a:stretch>
        </p:blipFill>
        <p:spPr>
          <a:xfrm>
            <a:off x="0" y="2628312"/>
            <a:ext cx="5198553" cy="1601375"/>
          </a:xfrm>
          <a:prstGeom prst="rect">
            <a:avLst/>
          </a:prstGeom>
        </p:spPr>
      </p:pic>
      <p:sp>
        <p:nvSpPr>
          <p:cNvPr id="6" name="山形 5">
            <a:extLst>
              <a:ext uri="{FF2B5EF4-FFF2-40B4-BE49-F238E27FC236}">
                <a16:creationId xmlns:a16="http://schemas.microsoft.com/office/drawing/2014/main" id="{99B9AD21-6E6A-E856-B146-2A58243E3105}"/>
              </a:ext>
            </a:extLst>
          </p:cNvPr>
          <p:cNvSpPr/>
          <p:nvPr/>
        </p:nvSpPr>
        <p:spPr>
          <a:xfrm>
            <a:off x="5882217" y="3046463"/>
            <a:ext cx="845956"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pic>
        <p:nvPicPr>
          <p:cNvPr id="8" name="図 7" descr="時計, 挿絵 が含まれている画像&#10;&#10;AI 生成コンテンツは誤りを含む可能性があります。">
            <a:extLst>
              <a:ext uri="{FF2B5EF4-FFF2-40B4-BE49-F238E27FC236}">
                <a16:creationId xmlns:a16="http://schemas.microsoft.com/office/drawing/2014/main" id="{84BDBD6B-AC15-B615-8FC0-4756781D0F3D}"/>
              </a:ext>
            </a:extLst>
          </p:cNvPr>
          <p:cNvPicPr>
            <a:picLocks noChangeAspect="1"/>
          </p:cNvPicPr>
          <p:nvPr/>
        </p:nvPicPr>
        <p:blipFill>
          <a:blip r:embed="rId4"/>
          <a:stretch>
            <a:fillRect/>
          </a:stretch>
        </p:blipFill>
        <p:spPr>
          <a:xfrm>
            <a:off x="7141029" y="2799875"/>
            <a:ext cx="4127442" cy="1258250"/>
          </a:xfrm>
          <a:prstGeom prst="rect">
            <a:avLst/>
          </a:prstGeom>
        </p:spPr>
      </p:pic>
      <p:sp>
        <p:nvSpPr>
          <p:cNvPr id="9" name="テキスト ボックス 8">
            <a:extLst>
              <a:ext uri="{FF2B5EF4-FFF2-40B4-BE49-F238E27FC236}">
                <a16:creationId xmlns:a16="http://schemas.microsoft.com/office/drawing/2014/main" id="{E389BC9E-32B7-0142-669A-698B714EBACD}"/>
              </a:ext>
            </a:extLst>
          </p:cNvPr>
          <p:cNvSpPr txBox="1"/>
          <p:nvPr/>
        </p:nvSpPr>
        <p:spPr>
          <a:xfrm>
            <a:off x="660638" y="4394866"/>
            <a:ext cx="10724605" cy="1601375"/>
          </a:xfrm>
          <a:prstGeom prst="rect">
            <a:avLst/>
          </a:prstGeom>
        </p:spPr>
        <p:txBody>
          <a:bodyPr vert="horz" wrap="squar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　　　　　　　　</a:t>
            </a:r>
            <a:r>
              <a:rPr kumimoji="1" lang="en-US" altLang="ja-JP"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rPr>
              <a:t>7</a:t>
            </a: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状態　　　　　　　　　　　　　　　　　　　　　　　　　　　　</a:t>
            </a:r>
            <a:r>
              <a:rPr kumimoji="1" lang="en-US" altLang="ja-JP"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rPr>
              <a:t>4</a:t>
            </a: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状態</a:t>
            </a:r>
            <a:endParaRPr kumimoji="1" lang="en-US" altLang="ja-JP"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endParaRPr kumimoji="1" lang="en-US" altLang="ja-JP"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endParaRPr kumimoji="1" lang="en-US" altLang="ja-JP"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最小化によって，状態数を削減</a:t>
            </a:r>
            <a:endParaRPr kumimoji="1" lang="ja-JP" altLang="en-US"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cxnSp>
        <p:nvCxnSpPr>
          <p:cNvPr id="10" name="直線矢印コネクタ 9">
            <a:extLst>
              <a:ext uri="{FF2B5EF4-FFF2-40B4-BE49-F238E27FC236}">
                <a16:creationId xmlns:a16="http://schemas.microsoft.com/office/drawing/2014/main" id="{C6E8603F-E8DC-9A25-A3FC-334C7D3B12BF}"/>
              </a:ext>
            </a:extLst>
          </p:cNvPr>
          <p:cNvCxnSpPr>
            <a:cxnSpLocks/>
            <a:stCxn id="5" idx="3"/>
            <a:endCxn id="6" idx="1"/>
          </p:cNvCxnSpPr>
          <p:nvPr/>
        </p:nvCxnSpPr>
        <p:spPr>
          <a:xfrm>
            <a:off x="5198553" y="3429000"/>
            <a:ext cx="8778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A23982B9-29CB-9DC0-F567-09FA0E02115C}"/>
              </a:ext>
            </a:extLst>
          </p:cNvPr>
          <p:cNvCxnSpPr>
            <a:cxnSpLocks/>
            <a:stCxn id="6" idx="3"/>
            <a:endCxn id="8" idx="1"/>
          </p:cNvCxnSpPr>
          <p:nvPr/>
        </p:nvCxnSpPr>
        <p:spPr>
          <a:xfrm>
            <a:off x="6728173" y="3429000"/>
            <a:ext cx="4128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5935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DCF3B6-C679-617D-46EF-D5FFA782295A}"/>
              </a:ext>
            </a:extLst>
          </p:cNvPr>
          <p:cNvSpPr>
            <a:spLocks noGrp="1"/>
          </p:cNvSpPr>
          <p:nvPr>
            <p:ph type="title"/>
          </p:nvPr>
        </p:nvSpPr>
        <p:spPr/>
        <p:txBody>
          <a:bodyPr/>
          <a:lstStyle/>
          <a:p>
            <a:r>
              <a:rPr lang="ja-JP" altLang="en-US"/>
              <a:t>提案手法の例</a:t>
            </a:r>
            <a:endParaRPr kumimoji="1" lang="ja-JP" altLang="en-US"/>
          </a:p>
        </p:txBody>
      </p:sp>
      <p:sp>
        <p:nvSpPr>
          <p:cNvPr id="3" name="コンテンツ プレースホルダー 2">
            <a:extLst>
              <a:ext uri="{FF2B5EF4-FFF2-40B4-BE49-F238E27FC236}">
                <a16:creationId xmlns:a16="http://schemas.microsoft.com/office/drawing/2014/main" id="{1650AC7E-27F1-4626-3ED9-445C7881DE52}"/>
              </a:ext>
            </a:extLst>
          </p:cNvPr>
          <p:cNvSpPr>
            <a:spLocks noGrp="1"/>
          </p:cNvSpPr>
          <p:nvPr>
            <p:ph sz="quarter" idx="10"/>
          </p:nvPr>
        </p:nvSpPr>
        <p:spPr/>
        <p:txBody>
          <a:bodyPr/>
          <a:lstStyle/>
          <a:p>
            <a:pPr marL="0" indent="0">
              <a:buNone/>
            </a:pPr>
            <a:r>
              <a:rPr lang="ja-JP" altLang="en-US" sz="2400" b="1">
                <a:latin typeface="Yu Gothic" panose="020B0400000000000000" pitchFamily="34" charset="-128"/>
                <a:ea typeface="Yu Gothic" panose="020B0400000000000000" pitchFamily="34" charset="-128"/>
              </a:rPr>
              <a:t>監視モデル</a:t>
            </a:r>
            <a:r>
              <a:rPr lang="en-US" altLang="ja-JP" sz="2400" b="1" dirty="0">
                <a:latin typeface="Yu Gothic" panose="020B0400000000000000" pitchFamily="34" charset="-128"/>
                <a:ea typeface="Yu Gothic" panose="020B0400000000000000" pitchFamily="34" charset="-128"/>
              </a:rPr>
              <a:t>SAFETY2</a:t>
            </a:r>
            <a:r>
              <a:rPr lang="ja-JP" altLang="en-US" sz="2400" b="1">
                <a:latin typeface="Yu Gothic" panose="020B0400000000000000" pitchFamily="34" charset="-128"/>
                <a:ea typeface="Yu Gothic" panose="020B0400000000000000" pitchFamily="34" charset="-128"/>
              </a:rPr>
              <a:t>の安全性保証</a:t>
            </a:r>
            <a:endParaRPr lang="en-US" altLang="ja-JP" sz="2400" b="1" dirty="0">
              <a:latin typeface="Yu Gothic" panose="020B0400000000000000" pitchFamily="34" charset="-128"/>
              <a:ea typeface="Yu Gothic" panose="020B0400000000000000" pitchFamily="34" charset="-128"/>
            </a:endParaRPr>
          </a:p>
          <a:p>
            <a:pPr marL="0" indent="0">
              <a:buNone/>
            </a:pPr>
            <a:endParaRPr kumimoji="1" lang="ja-JP" altLang="en-US"/>
          </a:p>
        </p:txBody>
      </p:sp>
      <p:sp>
        <p:nvSpPr>
          <p:cNvPr id="4" name="スライド番号プレースホルダー 3">
            <a:extLst>
              <a:ext uri="{FF2B5EF4-FFF2-40B4-BE49-F238E27FC236}">
                <a16:creationId xmlns:a16="http://schemas.microsoft.com/office/drawing/2014/main" id="{62D6AED6-F9B2-620C-AB02-799CA31A0B43}"/>
              </a:ext>
            </a:extLst>
          </p:cNvPr>
          <p:cNvSpPr>
            <a:spLocks noGrp="1"/>
          </p:cNvSpPr>
          <p:nvPr>
            <p:ph type="sldNum" sz="quarter" idx="11"/>
          </p:nvPr>
        </p:nvSpPr>
        <p:spPr/>
        <p:txBody>
          <a:bodyPr/>
          <a:lstStyle/>
          <a:p>
            <a:fld id="{E0D93E39-1AFA-2A42-BAF4-0CDD5F6E9A80}" type="slidenum">
              <a:rPr kumimoji="1" lang="ja-JP" altLang="en-US" smtClean="0"/>
              <a:pPr/>
              <a:t>15</a:t>
            </a:fld>
            <a:endParaRPr kumimoji="1" lang="ja-JP" altLang="en-US"/>
          </a:p>
        </p:txBody>
      </p:sp>
      <p:pic>
        <p:nvPicPr>
          <p:cNvPr id="6" name="図 5" descr="時計, 挿絵 が含まれている画像&#10;&#10;AI 生成コンテンツは誤りを含む可能性があります。">
            <a:extLst>
              <a:ext uri="{FF2B5EF4-FFF2-40B4-BE49-F238E27FC236}">
                <a16:creationId xmlns:a16="http://schemas.microsoft.com/office/drawing/2014/main" id="{D0C30218-6888-586A-B4A9-02A5EE970E62}"/>
              </a:ext>
            </a:extLst>
          </p:cNvPr>
          <p:cNvPicPr>
            <a:picLocks noChangeAspect="1"/>
          </p:cNvPicPr>
          <p:nvPr/>
        </p:nvPicPr>
        <p:blipFill>
          <a:blip r:embed="rId3"/>
          <a:stretch>
            <a:fillRect/>
          </a:stretch>
        </p:blipFill>
        <p:spPr>
          <a:xfrm>
            <a:off x="19573" y="1739284"/>
            <a:ext cx="2843369" cy="866801"/>
          </a:xfrm>
          <a:prstGeom prst="rect">
            <a:avLst/>
          </a:prstGeom>
        </p:spPr>
      </p:pic>
      <p:pic>
        <p:nvPicPr>
          <p:cNvPr id="8" name="図 7" descr="挿絵, 時計 が含まれている画像&#10;&#10;AI 生成コンテンツは誤りを含む可能性があります。">
            <a:extLst>
              <a:ext uri="{FF2B5EF4-FFF2-40B4-BE49-F238E27FC236}">
                <a16:creationId xmlns:a16="http://schemas.microsoft.com/office/drawing/2014/main" id="{A9D4B758-FB8E-CE75-3ACD-468869F3ED85}"/>
              </a:ext>
            </a:extLst>
          </p:cNvPr>
          <p:cNvPicPr>
            <a:picLocks noChangeAspect="1"/>
          </p:cNvPicPr>
          <p:nvPr/>
        </p:nvPicPr>
        <p:blipFill>
          <a:blip r:embed="rId4"/>
          <a:stretch>
            <a:fillRect/>
          </a:stretch>
        </p:blipFill>
        <p:spPr>
          <a:xfrm>
            <a:off x="874644" y="2683672"/>
            <a:ext cx="1835899" cy="786814"/>
          </a:xfrm>
          <a:prstGeom prst="rect">
            <a:avLst/>
          </a:prstGeom>
        </p:spPr>
      </p:pic>
      <p:pic>
        <p:nvPicPr>
          <p:cNvPr id="10" name="図 9" descr="抽象, 挿絵, 時計 が含まれている画像&#10;&#10;AI 生成コンテンツは誤りを含む可能性があります。">
            <a:extLst>
              <a:ext uri="{FF2B5EF4-FFF2-40B4-BE49-F238E27FC236}">
                <a16:creationId xmlns:a16="http://schemas.microsoft.com/office/drawing/2014/main" id="{A4A40E36-8FD8-CF74-4F77-0A458B3B9A92}"/>
              </a:ext>
            </a:extLst>
          </p:cNvPr>
          <p:cNvPicPr>
            <a:picLocks noChangeAspect="1"/>
          </p:cNvPicPr>
          <p:nvPr/>
        </p:nvPicPr>
        <p:blipFill>
          <a:blip r:embed="rId5"/>
          <a:stretch>
            <a:fillRect/>
          </a:stretch>
        </p:blipFill>
        <p:spPr>
          <a:xfrm>
            <a:off x="722243" y="4359296"/>
            <a:ext cx="2140699" cy="834510"/>
          </a:xfrm>
          <a:prstGeom prst="rect">
            <a:avLst/>
          </a:prstGeom>
        </p:spPr>
      </p:pic>
      <p:pic>
        <p:nvPicPr>
          <p:cNvPr id="12" name="図 11" descr="時計 が含まれている画像&#10;&#10;AI 生成コンテンツは誤りを含む可能性があります。">
            <a:extLst>
              <a:ext uri="{FF2B5EF4-FFF2-40B4-BE49-F238E27FC236}">
                <a16:creationId xmlns:a16="http://schemas.microsoft.com/office/drawing/2014/main" id="{CB02BD5D-CAEA-45A6-AA03-687EE227053E}"/>
              </a:ext>
            </a:extLst>
          </p:cNvPr>
          <p:cNvPicPr>
            <a:picLocks noChangeAspect="1"/>
          </p:cNvPicPr>
          <p:nvPr/>
        </p:nvPicPr>
        <p:blipFill>
          <a:blip r:embed="rId6"/>
          <a:stretch>
            <a:fillRect/>
          </a:stretch>
        </p:blipFill>
        <p:spPr>
          <a:xfrm>
            <a:off x="5578630" y="3353812"/>
            <a:ext cx="5452058" cy="946636"/>
          </a:xfrm>
          <a:prstGeom prst="rect">
            <a:avLst/>
          </a:prstGeom>
        </p:spPr>
      </p:pic>
      <p:sp>
        <p:nvSpPr>
          <p:cNvPr id="13" name="テキスト ボックス 12">
            <a:extLst>
              <a:ext uri="{FF2B5EF4-FFF2-40B4-BE49-F238E27FC236}">
                <a16:creationId xmlns:a16="http://schemas.microsoft.com/office/drawing/2014/main" id="{D4909FB3-3BF3-2E70-365F-CA323E0E32E6}"/>
              </a:ext>
            </a:extLst>
          </p:cNvPr>
          <p:cNvSpPr txBox="1"/>
          <p:nvPr/>
        </p:nvSpPr>
        <p:spPr>
          <a:xfrm>
            <a:off x="1161313" y="3529882"/>
            <a:ext cx="1646884" cy="82034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環境モデル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4" name="テキスト ボックス 13">
            <a:extLst>
              <a:ext uri="{FF2B5EF4-FFF2-40B4-BE49-F238E27FC236}">
                <a16:creationId xmlns:a16="http://schemas.microsoft.com/office/drawing/2014/main" id="{A334CB56-C342-30F5-6387-E7FD55799234}"/>
              </a:ext>
            </a:extLst>
          </p:cNvPr>
          <p:cNvSpPr txBox="1"/>
          <p:nvPr/>
        </p:nvSpPr>
        <p:spPr>
          <a:xfrm>
            <a:off x="1161313" y="5221070"/>
            <a:ext cx="1646884" cy="82034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panose="020B0400000000000000" pitchFamily="34" charset="-128"/>
                <a:ea typeface="Yu Gothic" panose="020B0400000000000000" pitchFamily="34" charset="-128"/>
              </a:rPr>
              <a:t>監視</a:t>
            </a:r>
            <a:r>
              <a:rPr kumimoji="1" lang="ja-JP" altLang="en-US" sz="16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モデル</a:t>
            </a:r>
            <a:endParaRPr kumimoji="1" lang="ja-JP" altLang="en-US" sz="16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15" name="山形 14">
            <a:extLst>
              <a:ext uri="{FF2B5EF4-FFF2-40B4-BE49-F238E27FC236}">
                <a16:creationId xmlns:a16="http://schemas.microsoft.com/office/drawing/2014/main" id="{EF5B7AA2-DCE8-E278-32B9-2AE56E7C93CA}"/>
              </a:ext>
            </a:extLst>
          </p:cNvPr>
          <p:cNvSpPr/>
          <p:nvPr/>
        </p:nvSpPr>
        <p:spPr>
          <a:xfrm>
            <a:off x="3683012" y="3449627"/>
            <a:ext cx="820505" cy="765074"/>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16" name="テキスト ボックス 15">
            <a:extLst>
              <a:ext uri="{FF2B5EF4-FFF2-40B4-BE49-F238E27FC236}">
                <a16:creationId xmlns:a16="http://schemas.microsoft.com/office/drawing/2014/main" id="{9992C6FD-BA7D-D641-D782-BD0F013FD324}"/>
              </a:ext>
            </a:extLst>
          </p:cNvPr>
          <p:cNvSpPr txBox="1"/>
          <p:nvPr/>
        </p:nvSpPr>
        <p:spPr>
          <a:xfrm>
            <a:off x="7332617" y="4359296"/>
            <a:ext cx="3058292" cy="82034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制御器</a:t>
            </a:r>
            <a:r>
              <a:rPr kumimoji="1" lang="ja-JP" altLang="en-US" sz="1600">
                <a:solidFill>
                  <a:sysClr val="windowText" lastClr="000000"/>
                </a:solidFill>
                <a:latin typeface="Yu Gothic" panose="020B0400000000000000" pitchFamily="34" charset="-128"/>
                <a:ea typeface="Yu Gothic" panose="020B0400000000000000" pitchFamily="34" charset="-128"/>
              </a:rPr>
              <a:t>：</a:t>
            </a:r>
            <a:r>
              <a:rPr kumimoji="1" lang="en-US" altLang="ja-JP" sz="1600" b="1" dirty="0">
                <a:solidFill>
                  <a:sysClr val="windowText" lastClr="000000"/>
                </a:solidFill>
                <a:latin typeface="Yu Gothic" panose="020B0400000000000000" pitchFamily="34" charset="-128"/>
                <a:ea typeface="Yu Gothic" panose="020B0400000000000000" pitchFamily="34" charset="-128"/>
              </a:rPr>
              <a:t>8</a:t>
            </a:r>
            <a:r>
              <a:rPr kumimoji="1" lang="ja-JP" altLang="en-US" sz="1600" b="1">
                <a:solidFill>
                  <a:sysClr val="windowText" lastClr="000000"/>
                </a:solidFill>
                <a:latin typeface="Yu Gothic" panose="020B0400000000000000" pitchFamily="34" charset="-128"/>
                <a:ea typeface="Yu Gothic" panose="020B0400000000000000" pitchFamily="34" charset="-128"/>
              </a:rPr>
              <a:t>状態</a:t>
            </a:r>
            <a:endParaRPr kumimoji="1" lang="ja-JP" altLang="en-US"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cxnSp>
        <p:nvCxnSpPr>
          <p:cNvPr id="7" name="カギ線コネクタ 6">
            <a:extLst>
              <a:ext uri="{FF2B5EF4-FFF2-40B4-BE49-F238E27FC236}">
                <a16:creationId xmlns:a16="http://schemas.microsoft.com/office/drawing/2014/main" id="{0DDD22F9-3256-824B-D25E-D1B696C3717A}"/>
              </a:ext>
            </a:extLst>
          </p:cNvPr>
          <p:cNvCxnSpPr>
            <a:cxnSpLocks/>
            <a:stCxn id="6" idx="3"/>
            <a:endCxn id="15" idx="1"/>
          </p:cNvCxnSpPr>
          <p:nvPr/>
        </p:nvCxnSpPr>
        <p:spPr>
          <a:xfrm>
            <a:off x="2862942" y="2172685"/>
            <a:ext cx="1014284" cy="165947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7" name="カギ線コネクタ 16">
            <a:extLst>
              <a:ext uri="{FF2B5EF4-FFF2-40B4-BE49-F238E27FC236}">
                <a16:creationId xmlns:a16="http://schemas.microsoft.com/office/drawing/2014/main" id="{A77EF8EB-D5B0-1A76-F444-34E9774A90BB}"/>
              </a:ext>
            </a:extLst>
          </p:cNvPr>
          <p:cNvCxnSpPr>
            <a:cxnSpLocks/>
            <a:stCxn id="8" idx="3"/>
            <a:endCxn id="15" idx="1"/>
          </p:cNvCxnSpPr>
          <p:nvPr/>
        </p:nvCxnSpPr>
        <p:spPr>
          <a:xfrm>
            <a:off x="2710543" y="3077079"/>
            <a:ext cx="1166683" cy="755085"/>
          </a:xfrm>
          <a:prstGeom prst="bentConnector3">
            <a:avLst>
              <a:gd name="adj1" fmla="val 56461"/>
            </a:avLst>
          </a:prstGeom>
          <a:ln>
            <a:tailEnd type="triangle"/>
          </a:ln>
        </p:spPr>
        <p:style>
          <a:lnRef idx="1">
            <a:schemeClr val="dk1"/>
          </a:lnRef>
          <a:fillRef idx="0">
            <a:schemeClr val="dk1"/>
          </a:fillRef>
          <a:effectRef idx="0">
            <a:schemeClr val="dk1"/>
          </a:effectRef>
          <a:fontRef idx="minor">
            <a:schemeClr val="tx1"/>
          </a:fontRef>
        </p:style>
      </p:cxnSp>
      <p:cxnSp>
        <p:nvCxnSpPr>
          <p:cNvPr id="20" name="カギ線コネクタ 19">
            <a:extLst>
              <a:ext uri="{FF2B5EF4-FFF2-40B4-BE49-F238E27FC236}">
                <a16:creationId xmlns:a16="http://schemas.microsoft.com/office/drawing/2014/main" id="{78590DFB-F080-7747-9A9A-31007E97BC5B}"/>
              </a:ext>
            </a:extLst>
          </p:cNvPr>
          <p:cNvCxnSpPr>
            <a:cxnSpLocks/>
            <a:stCxn id="10" idx="3"/>
            <a:endCxn id="15" idx="1"/>
          </p:cNvCxnSpPr>
          <p:nvPr/>
        </p:nvCxnSpPr>
        <p:spPr>
          <a:xfrm flipV="1">
            <a:off x="2862942" y="3832164"/>
            <a:ext cx="1014284" cy="94438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BA155D95-B762-EE27-8243-D13D4B4DFE0D}"/>
              </a:ext>
            </a:extLst>
          </p:cNvPr>
          <p:cNvCxnSpPr>
            <a:cxnSpLocks/>
            <a:stCxn id="15" idx="3"/>
            <a:endCxn id="12" idx="1"/>
          </p:cNvCxnSpPr>
          <p:nvPr/>
        </p:nvCxnSpPr>
        <p:spPr>
          <a:xfrm flipV="1">
            <a:off x="4503517" y="3827130"/>
            <a:ext cx="1075113" cy="50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図 30" descr="ダイアグラム&#10;&#10;AI 生成コンテンツは誤りを含む可能性があります。">
            <a:extLst>
              <a:ext uri="{FF2B5EF4-FFF2-40B4-BE49-F238E27FC236}">
                <a16:creationId xmlns:a16="http://schemas.microsoft.com/office/drawing/2014/main" id="{802DCE00-59B4-AEB4-AA53-4B17CE7AAC07}"/>
              </a:ext>
            </a:extLst>
          </p:cNvPr>
          <p:cNvPicPr>
            <a:picLocks noChangeAspect="1"/>
          </p:cNvPicPr>
          <p:nvPr/>
        </p:nvPicPr>
        <p:blipFill>
          <a:blip r:embed="rId7"/>
          <a:stretch>
            <a:fillRect/>
          </a:stretch>
        </p:blipFill>
        <p:spPr>
          <a:xfrm>
            <a:off x="6430251" y="853892"/>
            <a:ext cx="3775061" cy="1562505"/>
          </a:xfrm>
          <a:prstGeom prst="rect">
            <a:avLst/>
          </a:prstGeom>
        </p:spPr>
      </p:pic>
      <p:sp>
        <p:nvSpPr>
          <p:cNvPr id="29" name="円形吹き出し 28">
            <a:extLst>
              <a:ext uri="{FF2B5EF4-FFF2-40B4-BE49-F238E27FC236}">
                <a16:creationId xmlns:a16="http://schemas.microsoft.com/office/drawing/2014/main" id="{3F858532-FC9D-2842-BBED-94EAA78E8DD4}"/>
              </a:ext>
            </a:extLst>
          </p:cNvPr>
          <p:cNvSpPr/>
          <p:nvPr/>
        </p:nvSpPr>
        <p:spPr>
          <a:xfrm>
            <a:off x="5818094" y="366657"/>
            <a:ext cx="4738042" cy="2904565"/>
          </a:xfrm>
          <a:prstGeom prst="wedgeEllipseCallout">
            <a:avLst>
              <a:gd name="adj1" fmla="val -73622"/>
              <a:gd name="adj2" fmla="val 5972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D666AF57-946F-BD31-F6F2-F6EE0D693959}"/>
              </a:ext>
            </a:extLst>
          </p:cNvPr>
          <p:cNvSpPr txBox="1"/>
          <p:nvPr/>
        </p:nvSpPr>
        <p:spPr>
          <a:xfrm>
            <a:off x="8241323" y="1770185"/>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33" name="テキスト ボックス 32">
            <a:extLst>
              <a:ext uri="{FF2B5EF4-FFF2-40B4-BE49-F238E27FC236}">
                <a16:creationId xmlns:a16="http://schemas.microsoft.com/office/drawing/2014/main" id="{82A18439-B156-83E8-D395-C50CC6FECE17}"/>
              </a:ext>
            </a:extLst>
          </p:cNvPr>
          <p:cNvSpPr txBox="1"/>
          <p:nvPr/>
        </p:nvSpPr>
        <p:spPr>
          <a:xfrm>
            <a:off x="7854462" y="1758462"/>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34" name="テキスト ボックス 33">
            <a:extLst>
              <a:ext uri="{FF2B5EF4-FFF2-40B4-BE49-F238E27FC236}">
                <a16:creationId xmlns:a16="http://schemas.microsoft.com/office/drawing/2014/main" id="{92371E13-83D4-D3E8-1257-346E08AEDF49}"/>
              </a:ext>
            </a:extLst>
          </p:cNvPr>
          <p:cNvSpPr txBox="1"/>
          <p:nvPr/>
        </p:nvSpPr>
        <p:spPr>
          <a:xfrm>
            <a:off x="6951195" y="2474332"/>
            <a:ext cx="2179553" cy="455912"/>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中間生成物：</a:t>
            </a:r>
            <a:r>
              <a:rPr kumimoji="1" lang="en-US" altLang="ja-JP"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rPr>
              <a:t>8</a:t>
            </a: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状態</a:t>
            </a:r>
            <a:endParaRPr kumimoji="1" lang="ja-JP" altLang="en-US"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670105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BD44AE-ED38-2BA5-912B-4BBD0CCFDFBF}"/>
              </a:ext>
            </a:extLst>
          </p:cNvPr>
          <p:cNvSpPr>
            <a:spLocks noGrp="1"/>
          </p:cNvSpPr>
          <p:nvPr>
            <p:ph type="title"/>
          </p:nvPr>
        </p:nvSpPr>
        <p:spPr/>
        <p:txBody>
          <a:bodyPr/>
          <a:lstStyle/>
          <a:p>
            <a:r>
              <a:rPr kumimoji="1" lang="ja-JP" altLang="en-US"/>
              <a:t>提案手法の例</a:t>
            </a:r>
          </a:p>
        </p:txBody>
      </p:sp>
      <p:sp>
        <p:nvSpPr>
          <p:cNvPr id="3" name="コンテンツ プレースホルダー 2">
            <a:extLst>
              <a:ext uri="{FF2B5EF4-FFF2-40B4-BE49-F238E27FC236}">
                <a16:creationId xmlns:a16="http://schemas.microsoft.com/office/drawing/2014/main" id="{44742C1F-F6C8-943F-E61B-C3195746A0C7}"/>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最小化を導入していないときとの比較</a:t>
            </a:r>
          </a:p>
        </p:txBody>
      </p:sp>
      <p:sp>
        <p:nvSpPr>
          <p:cNvPr id="4" name="スライド番号プレースホルダー 3">
            <a:extLst>
              <a:ext uri="{FF2B5EF4-FFF2-40B4-BE49-F238E27FC236}">
                <a16:creationId xmlns:a16="http://schemas.microsoft.com/office/drawing/2014/main" id="{2BFCCA0A-9692-3E4C-DD07-7721928B7BC0}"/>
              </a:ext>
            </a:extLst>
          </p:cNvPr>
          <p:cNvSpPr>
            <a:spLocks noGrp="1"/>
          </p:cNvSpPr>
          <p:nvPr>
            <p:ph type="sldNum" sz="quarter" idx="11"/>
          </p:nvPr>
        </p:nvSpPr>
        <p:spPr/>
        <p:txBody>
          <a:bodyPr/>
          <a:lstStyle/>
          <a:p>
            <a:fld id="{E0D93E39-1AFA-2A42-BAF4-0CDD5F6E9A80}" type="slidenum">
              <a:rPr kumimoji="1" lang="ja-JP" altLang="en-US" smtClean="0"/>
              <a:pPr/>
              <a:t>16</a:t>
            </a:fld>
            <a:endParaRPr kumimoji="1" lang="ja-JP" altLang="en-US"/>
          </a:p>
        </p:txBody>
      </p:sp>
      <p:pic>
        <p:nvPicPr>
          <p:cNvPr id="6" name="図 5">
            <a:extLst>
              <a:ext uri="{FF2B5EF4-FFF2-40B4-BE49-F238E27FC236}">
                <a16:creationId xmlns:a16="http://schemas.microsoft.com/office/drawing/2014/main" id="{0596336D-4F41-F97E-5245-ABA02C1C496B}"/>
              </a:ext>
            </a:extLst>
          </p:cNvPr>
          <p:cNvPicPr>
            <a:picLocks noChangeAspect="1"/>
          </p:cNvPicPr>
          <p:nvPr/>
        </p:nvPicPr>
        <p:blipFill>
          <a:blip r:embed="rId3"/>
          <a:srcRect/>
          <a:stretch/>
        </p:blipFill>
        <p:spPr>
          <a:xfrm>
            <a:off x="667504" y="1911861"/>
            <a:ext cx="4924418" cy="1932482"/>
          </a:xfrm>
          <a:prstGeom prst="rect">
            <a:avLst/>
          </a:prstGeom>
        </p:spPr>
      </p:pic>
      <p:pic>
        <p:nvPicPr>
          <p:cNvPr id="8" name="図 7">
            <a:extLst>
              <a:ext uri="{FF2B5EF4-FFF2-40B4-BE49-F238E27FC236}">
                <a16:creationId xmlns:a16="http://schemas.microsoft.com/office/drawing/2014/main" id="{9FA01FCA-9693-DE3E-A5AA-F411C8E3C9A9}"/>
              </a:ext>
            </a:extLst>
          </p:cNvPr>
          <p:cNvPicPr>
            <a:picLocks noChangeAspect="1"/>
          </p:cNvPicPr>
          <p:nvPr/>
        </p:nvPicPr>
        <p:blipFill>
          <a:blip r:embed="rId4"/>
          <a:srcRect/>
          <a:stretch/>
        </p:blipFill>
        <p:spPr>
          <a:xfrm>
            <a:off x="7035801" y="2012217"/>
            <a:ext cx="3356042" cy="1389073"/>
          </a:xfrm>
          <a:prstGeom prst="rect">
            <a:avLst/>
          </a:prstGeom>
        </p:spPr>
      </p:pic>
      <p:sp>
        <p:nvSpPr>
          <p:cNvPr id="9" name="テキスト ボックス 8">
            <a:extLst>
              <a:ext uri="{FF2B5EF4-FFF2-40B4-BE49-F238E27FC236}">
                <a16:creationId xmlns:a16="http://schemas.microsoft.com/office/drawing/2014/main" id="{848347D2-2751-A77D-7E4C-B9065D3653FF}"/>
              </a:ext>
            </a:extLst>
          </p:cNvPr>
          <p:cNvSpPr txBox="1"/>
          <p:nvPr/>
        </p:nvSpPr>
        <p:spPr>
          <a:xfrm>
            <a:off x="431800" y="3844343"/>
            <a:ext cx="11425238" cy="2755240"/>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2000">
                <a:solidFill>
                  <a:sysClr val="windowText" lastClr="000000"/>
                </a:solidFill>
                <a:latin typeface="Yu Gothic Medium" panose="020B0400000000000000" pitchFamily="34" charset="-128"/>
                <a:ea typeface="Yu Gothic Medium" panose="020B0400000000000000" pitchFamily="34" charset="-128"/>
              </a:rPr>
              <a:t>　　　従来手法</a:t>
            </a:r>
            <a:r>
              <a:rPr kumimoji="1" lang="ja-JP" altLang="en-US" sz="20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の中間生成物：</a:t>
            </a:r>
            <a:r>
              <a:rPr kumimoji="1" lang="en-US" altLang="ja-JP" sz="20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rPr>
              <a:t>14</a:t>
            </a:r>
            <a:r>
              <a:rPr kumimoji="1" lang="ja-JP" altLang="en-US" sz="20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状態</a:t>
            </a:r>
            <a:r>
              <a:rPr kumimoji="1" lang="ja-JP" altLang="en-US" sz="16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　</a:t>
            </a: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　　　　　　　　　　</a:t>
            </a:r>
            <a:r>
              <a:rPr kumimoji="1" lang="ja-JP" altLang="en-US" sz="20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提案手法の中間生成物：</a:t>
            </a:r>
            <a:r>
              <a:rPr kumimoji="1" lang="en-US" altLang="ja-JP" sz="20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rPr>
              <a:t>8</a:t>
            </a:r>
            <a:r>
              <a:rPr kumimoji="1" lang="ja-JP" altLang="en-US" sz="20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状態</a:t>
            </a:r>
            <a:endParaRPr kumimoji="1" lang="en-US" altLang="ja-JP" sz="20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endParaRPr kumimoji="1" lang="en-US" altLang="ja-JP" sz="1600" dirty="0">
              <a:solidFill>
                <a:sysClr val="windowText" lastClr="000000"/>
              </a:solidFill>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最小化によって，中間生成物の状態数が削減されていることがわかる．</a:t>
            </a:r>
            <a:endParaRPr kumimoji="1" lang="ja-JP" altLang="en-US"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2460920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53EC50-AAD0-7CD1-9768-DEBCEAC32486}"/>
              </a:ext>
            </a:extLst>
          </p:cNvPr>
          <p:cNvSpPr>
            <a:spLocks noGrp="1"/>
          </p:cNvSpPr>
          <p:nvPr>
            <p:ph type="title"/>
          </p:nvPr>
        </p:nvSpPr>
        <p:spPr/>
        <p:txBody>
          <a:bodyPr/>
          <a:lstStyle/>
          <a:p>
            <a:r>
              <a:rPr kumimoji="1" lang="ja-JP" altLang="en-US"/>
              <a:t>評価：</a:t>
            </a:r>
            <a:r>
              <a:rPr kumimoji="1" lang="en-US" altLang="ja-JP" dirty="0" err="1"/>
              <a:t>Researh</a:t>
            </a:r>
            <a:r>
              <a:rPr kumimoji="1" lang="en-US" altLang="ja-JP" dirty="0"/>
              <a:t> Question</a:t>
            </a:r>
            <a:endParaRPr kumimoji="1" lang="ja-JP" altLang="en-US"/>
          </a:p>
        </p:txBody>
      </p:sp>
      <p:sp>
        <p:nvSpPr>
          <p:cNvPr id="3" name="コンテンツ プレースホルダー 2">
            <a:extLst>
              <a:ext uri="{FF2B5EF4-FFF2-40B4-BE49-F238E27FC236}">
                <a16:creationId xmlns:a16="http://schemas.microsoft.com/office/drawing/2014/main" id="{8AC8AC1C-DC06-343B-07AA-2721A880D7B7}"/>
              </a:ext>
            </a:extLst>
          </p:cNvPr>
          <p:cNvSpPr>
            <a:spLocks noGrp="1"/>
          </p:cNvSpPr>
          <p:nvPr>
            <p:ph sz="quarter" idx="10"/>
          </p:nvPr>
        </p:nvSpPr>
        <p:spPr/>
        <p:txBody>
          <a:bodyPr/>
          <a:lstStyle/>
          <a:p>
            <a:pPr marL="0" indent="0">
              <a:buNone/>
            </a:pPr>
            <a:r>
              <a:rPr lang="ja-JP" altLang="en-US" sz="2400"/>
              <a:t>提案手法の効果を確認するために，以下の</a:t>
            </a:r>
            <a:r>
              <a:rPr lang="en-US" altLang="ja-JP" sz="2400" dirty="0"/>
              <a:t>Research Question</a:t>
            </a:r>
            <a:r>
              <a:rPr lang="ja-JP" altLang="en-US" sz="2400"/>
              <a:t>を設定し検証</a:t>
            </a:r>
            <a:endParaRPr lang="en-US" altLang="ja-JP" sz="2400" dirty="0"/>
          </a:p>
          <a:p>
            <a:pPr marL="0" indent="0">
              <a:buNone/>
            </a:pPr>
            <a:endParaRPr kumimoji="1" lang="en-US" altLang="ja-JP" sz="2400" dirty="0"/>
          </a:p>
          <a:p>
            <a:pPr marL="0" indent="0">
              <a:buNone/>
            </a:pPr>
            <a:r>
              <a:rPr lang="en-US" altLang="ja-JP" sz="2400" b="1" dirty="0">
                <a:latin typeface="Yu Gothic" panose="020B0400000000000000" pitchFamily="34" charset="-128"/>
                <a:ea typeface="Yu Gothic" panose="020B0400000000000000" pitchFamily="34" charset="-128"/>
              </a:rPr>
              <a:t>RQ1</a:t>
            </a:r>
            <a:r>
              <a:rPr lang="ja-JP" altLang="en-US" sz="2400" b="1">
                <a:latin typeface="Yu Gothic" panose="020B0400000000000000" pitchFamily="34" charset="-128"/>
                <a:ea typeface="Yu Gothic" panose="020B0400000000000000" pitchFamily="34" charset="-128"/>
              </a:rPr>
              <a:t>．</a:t>
            </a:r>
            <a:r>
              <a:rPr lang="en-US" altLang="ja-JP" sz="2400" b="1" dirty="0">
                <a:latin typeface="Yu Gothic" panose="020B0400000000000000" pitchFamily="34" charset="-128"/>
                <a:ea typeface="Yu Gothic" panose="020B0400000000000000" pitchFamily="34" charset="-128"/>
              </a:rPr>
              <a:t>LTS</a:t>
            </a:r>
            <a:r>
              <a:rPr lang="ja-JP" altLang="en-US" sz="2400" b="1">
                <a:latin typeface="Yu Gothic" panose="020B0400000000000000" pitchFamily="34" charset="-128"/>
                <a:ea typeface="Yu Gothic" panose="020B0400000000000000" pitchFamily="34" charset="-128"/>
              </a:rPr>
              <a:t>の最小化を加えたことで，状態数と遷移数がどれほど削減されたか</a:t>
            </a:r>
            <a:endParaRPr lang="en-US" altLang="ja-JP" sz="2400" b="1" dirty="0">
              <a:latin typeface="Yu Gothic" panose="020B0400000000000000" pitchFamily="34" charset="-128"/>
              <a:ea typeface="Yu Gothic" panose="020B0400000000000000" pitchFamily="34" charset="-128"/>
            </a:endParaRPr>
          </a:p>
          <a:p>
            <a:pPr marL="0" indent="0">
              <a:buNone/>
            </a:pPr>
            <a:r>
              <a:rPr lang="en-US" altLang="ja-JP" sz="2400" b="1" dirty="0">
                <a:latin typeface="Yu Gothic" panose="020B0400000000000000" pitchFamily="34" charset="-128"/>
                <a:ea typeface="Yu Gothic" panose="020B0400000000000000" pitchFamily="34" charset="-128"/>
              </a:rPr>
              <a:t>RQ2</a:t>
            </a:r>
            <a:r>
              <a:rPr lang="ja-JP" altLang="en-US" sz="2400" b="1">
                <a:latin typeface="Yu Gothic" panose="020B0400000000000000" pitchFamily="34" charset="-128"/>
                <a:ea typeface="Yu Gothic" panose="020B0400000000000000" pitchFamily="34" charset="-128"/>
              </a:rPr>
              <a:t>．</a:t>
            </a:r>
            <a:r>
              <a:rPr lang="en-US" altLang="ja-JP" sz="2400" b="1" dirty="0">
                <a:latin typeface="Yu Gothic" panose="020B0400000000000000" pitchFamily="34" charset="-128"/>
                <a:ea typeface="Yu Gothic" panose="020B0400000000000000" pitchFamily="34" charset="-128"/>
              </a:rPr>
              <a:t>LTS</a:t>
            </a:r>
            <a:r>
              <a:rPr lang="ja-JP" altLang="en-US" sz="2400" b="1">
                <a:latin typeface="Yu Gothic" panose="020B0400000000000000" pitchFamily="34" charset="-128"/>
                <a:ea typeface="Yu Gothic" panose="020B0400000000000000" pitchFamily="34" charset="-128"/>
              </a:rPr>
              <a:t>の最小化を加えたことで，主記憶量と計算時間がどれほど削減されたか</a:t>
            </a:r>
            <a:endParaRPr lang="en-US" altLang="ja-JP" sz="2400" b="1" dirty="0">
              <a:latin typeface="Yu Gothic" panose="020B0400000000000000" pitchFamily="34" charset="-128"/>
              <a:ea typeface="Yu Gothic" panose="020B0400000000000000" pitchFamily="34" charset="-128"/>
            </a:endParaRPr>
          </a:p>
          <a:p>
            <a:pPr marL="0" indent="0">
              <a:buNone/>
            </a:pPr>
            <a:endParaRPr lang="en-US" altLang="ja-JP" sz="2400" b="1" dirty="0"/>
          </a:p>
          <a:p>
            <a:pPr marL="0" indent="0">
              <a:buNone/>
            </a:pPr>
            <a:endParaRPr lang="en-US" altLang="ja-JP" sz="2400" b="1" dirty="0"/>
          </a:p>
          <a:p>
            <a:pPr marL="0" indent="0">
              <a:buNone/>
            </a:pPr>
            <a:r>
              <a:rPr lang="ja-JP" altLang="en-US" sz="2400"/>
              <a:t>以上の</a:t>
            </a:r>
            <a:r>
              <a:rPr lang="en-US" altLang="ja-JP" sz="2400" dirty="0"/>
              <a:t>RQ</a:t>
            </a:r>
            <a:r>
              <a:rPr lang="ja-JP" altLang="en-US" sz="2400"/>
              <a:t>を検証するために，従来の段階的制御器合成と，段階的制御器合成に</a:t>
            </a:r>
            <a:r>
              <a:rPr lang="en-US" altLang="ja-JP" sz="2400" dirty="0"/>
              <a:t>LTS</a:t>
            </a:r>
            <a:r>
              <a:rPr lang="ja-JP" altLang="en-US" sz="2400"/>
              <a:t>の最小化を適用した手法で制御器合成し，状態数，遷移数，主記憶量，合成時間．最小化時間を測定する実験を行った．</a:t>
            </a:r>
          </a:p>
        </p:txBody>
      </p:sp>
      <p:sp>
        <p:nvSpPr>
          <p:cNvPr id="4" name="スライド番号プレースホルダー 3">
            <a:extLst>
              <a:ext uri="{FF2B5EF4-FFF2-40B4-BE49-F238E27FC236}">
                <a16:creationId xmlns:a16="http://schemas.microsoft.com/office/drawing/2014/main" id="{FA389CAA-2A91-70F3-E065-C027C55797EA}"/>
              </a:ext>
            </a:extLst>
          </p:cNvPr>
          <p:cNvSpPr>
            <a:spLocks noGrp="1"/>
          </p:cNvSpPr>
          <p:nvPr>
            <p:ph type="sldNum" sz="quarter" idx="11"/>
          </p:nvPr>
        </p:nvSpPr>
        <p:spPr/>
        <p:txBody>
          <a:bodyPr/>
          <a:lstStyle/>
          <a:p>
            <a:fld id="{E0D93E39-1AFA-2A42-BAF4-0CDD5F6E9A80}" type="slidenum">
              <a:rPr kumimoji="1" lang="ja-JP" altLang="en-US" smtClean="0"/>
              <a:pPr/>
              <a:t>17</a:t>
            </a:fld>
            <a:endParaRPr kumimoji="1" lang="ja-JP" altLang="en-US"/>
          </a:p>
        </p:txBody>
      </p:sp>
    </p:spTree>
    <p:extLst>
      <p:ext uri="{BB962C8B-B14F-4D97-AF65-F5344CB8AC3E}">
        <p14:creationId xmlns:p14="http://schemas.microsoft.com/office/powerpoint/2010/main" val="594413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61FF70-F262-50A2-2B97-636E56054568}"/>
              </a:ext>
            </a:extLst>
          </p:cNvPr>
          <p:cNvSpPr>
            <a:spLocks noGrp="1"/>
          </p:cNvSpPr>
          <p:nvPr>
            <p:ph type="title"/>
          </p:nvPr>
        </p:nvSpPr>
        <p:spPr/>
        <p:txBody>
          <a:bodyPr/>
          <a:lstStyle/>
          <a:p>
            <a:r>
              <a:rPr kumimoji="1" lang="ja-JP" altLang="en-US"/>
              <a:t>評価：実験設定</a:t>
            </a:r>
          </a:p>
        </p:txBody>
      </p:sp>
      <p:sp>
        <p:nvSpPr>
          <p:cNvPr id="3" name="コンテンツ プレースホルダー 2">
            <a:extLst>
              <a:ext uri="{FF2B5EF4-FFF2-40B4-BE49-F238E27FC236}">
                <a16:creationId xmlns:a16="http://schemas.microsoft.com/office/drawing/2014/main" id="{8496148F-ECCF-77A8-A410-3E8465ABA8CA}"/>
              </a:ext>
            </a:extLst>
          </p:cNvPr>
          <p:cNvSpPr>
            <a:spLocks noGrp="1"/>
          </p:cNvSpPr>
          <p:nvPr>
            <p:ph sz="quarter" idx="10"/>
          </p:nvPr>
        </p:nvSpPr>
        <p:spPr/>
        <p:txBody>
          <a:bodyPr/>
          <a:lstStyle/>
          <a:p>
            <a:pPr marL="0" indent="0">
              <a:buNone/>
            </a:pPr>
            <a:r>
              <a:rPr kumimoji="1" lang="ja-JP" altLang="en-US" sz="2400" b="1">
                <a:latin typeface="Yu Gothic" panose="020B0400000000000000" pitchFamily="34" charset="-128"/>
                <a:ea typeface="Yu Gothic" panose="020B0400000000000000" pitchFamily="34" charset="-128"/>
              </a:rPr>
              <a:t>実験に使用したシステム</a:t>
            </a:r>
            <a:endParaRPr kumimoji="1" lang="en-US" altLang="ja-JP" sz="2400" b="1" dirty="0">
              <a:latin typeface="Yu Gothic" panose="020B0400000000000000" pitchFamily="34" charset="-128"/>
              <a:ea typeface="Yu Gothic" panose="020B0400000000000000" pitchFamily="34" charset="-128"/>
            </a:endParaRPr>
          </a:p>
          <a:p>
            <a:pPr marL="0" indent="0">
              <a:buNone/>
            </a:pPr>
            <a:r>
              <a:rPr kumimoji="1" lang="ja-JP" altLang="en-US"/>
              <a:t>システムのスケールを変更可能な以下の</a:t>
            </a:r>
            <a:r>
              <a:rPr kumimoji="1" lang="en-US" altLang="ja-JP" dirty="0"/>
              <a:t>2</a:t>
            </a:r>
            <a:r>
              <a:rPr kumimoji="1" lang="ja-JP" altLang="en-US"/>
              <a:t>つのシステムで実験を行った</a:t>
            </a:r>
            <a:endParaRPr kumimoji="1" lang="en-US" altLang="ja-JP" dirty="0"/>
          </a:p>
          <a:p>
            <a:r>
              <a:rPr kumimoji="1" lang="ja-JP" altLang="en-US"/>
              <a:t>人数管理システム</a:t>
            </a:r>
            <a:r>
              <a:rPr kumimoji="1" lang="en-US" altLang="ja-JP" sz="900" dirty="0"/>
              <a:t>[1]</a:t>
            </a:r>
            <a:r>
              <a:rPr kumimoji="1" lang="ja-JP" altLang="en-US"/>
              <a:t>：複数の部屋の人数を管理するシステム</a:t>
            </a:r>
            <a:endParaRPr kumimoji="1" lang="en-US" altLang="ja-JP" dirty="0"/>
          </a:p>
          <a:p>
            <a:r>
              <a:rPr lang="ja-JP" altLang="en-US"/>
              <a:t>自動倉庫管理システム</a:t>
            </a:r>
            <a:r>
              <a:rPr kumimoji="1" lang="en-US" altLang="ja-JP" sz="900" b="0" i="0" u="none" strike="noStrike" kern="1200" cap="none" spc="0" normalizeH="0" baseline="0" noProof="0" dirty="0">
                <a:ln>
                  <a:noFill/>
                </a:ln>
                <a:solidFill>
                  <a:prstClr val="black"/>
                </a:solidFill>
                <a:effectLst/>
                <a:uLnTx/>
                <a:uFillTx/>
                <a:latin typeface="Yu Gothic Medium" panose="020B0400000000000000" pitchFamily="34" charset="-128"/>
                <a:ea typeface="Yu Gothic Medium" panose="020B0400000000000000" pitchFamily="34" charset="-128"/>
                <a:cs typeface="+mn-cs"/>
              </a:rPr>
              <a:t>[2] </a:t>
            </a:r>
            <a:r>
              <a:rPr lang="ja-JP" altLang="en-US"/>
              <a:t>：複数台のロボットで棚の在庫を管理するシステム</a:t>
            </a:r>
            <a:endParaRPr lang="en-US" altLang="ja-JP" dirty="0"/>
          </a:p>
          <a:p>
            <a:endParaRPr kumimoji="1" lang="en-US" altLang="ja-JP" dirty="0"/>
          </a:p>
          <a:p>
            <a:pPr marL="0" indent="0">
              <a:buNone/>
            </a:pPr>
            <a:r>
              <a:rPr lang="ja-JP" altLang="en-US" sz="2400" b="1">
                <a:latin typeface="Yu Gothic" panose="020B0400000000000000" pitchFamily="34" charset="-128"/>
                <a:ea typeface="Yu Gothic" panose="020B0400000000000000" pitchFamily="34" charset="-128"/>
              </a:rPr>
              <a:t>使用した計算機</a:t>
            </a:r>
            <a:endParaRPr lang="en-US" altLang="ja-JP" sz="2400" b="1" dirty="0">
              <a:latin typeface="Yu Gothic" panose="020B0400000000000000" pitchFamily="34" charset="-128"/>
              <a:ea typeface="Yu Gothic" panose="020B0400000000000000" pitchFamily="34" charset="-128"/>
            </a:endParaRPr>
          </a:p>
          <a:p>
            <a:pPr marL="0" indent="0">
              <a:buNone/>
            </a:pPr>
            <a:r>
              <a:rPr kumimoji="1" lang="en-US" altLang="ja-JP" dirty="0"/>
              <a:t>OS</a:t>
            </a:r>
            <a:r>
              <a:rPr kumimoji="1" lang="ja-JP" altLang="en-US"/>
              <a:t>：</a:t>
            </a:r>
            <a:r>
              <a:rPr lang="en-US" altLang="ja-JP" dirty="0"/>
              <a:t>Windows 11 Pro</a:t>
            </a:r>
          </a:p>
          <a:p>
            <a:pPr marL="0" indent="0">
              <a:buNone/>
            </a:pPr>
            <a:r>
              <a:rPr lang="en-US" altLang="ja-JP" dirty="0"/>
              <a:t>CPU</a:t>
            </a:r>
            <a:r>
              <a:rPr lang="ja-JP" altLang="en-US"/>
              <a:t>：</a:t>
            </a:r>
            <a:r>
              <a:rPr lang="en-US" altLang="ja-JP" dirty="0"/>
              <a:t>Intel Core Ultra 9 285K</a:t>
            </a:r>
          </a:p>
          <a:p>
            <a:pPr marL="0" indent="0">
              <a:buNone/>
            </a:pPr>
            <a:r>
              <a:rPr lang="en-US" altLang="ja-JP" dirty="0"/>
              <a:t>RAM</a:t>
            </a:r>
            <a:r>
              <a:rPr lang="ja-JP" altLang="en-US"/>
              <a:t>：</a:t>
            </a:r>
            <a:r>
              <a:rPr lang="en-US" altLang="ja-JP" dirty="0"/>
              <a:t>128GB</a:t>
            </a:r>
          </a:p>
          <a:p>
            <a:pPr marL="0" indent="0">
              <a:buNone/>
            </a:pPr>
            <a:endParaRPr lang="en-US" altLang="ja-JP" dirty="0"/>
          </a:p>
          <a:p>
            <a:pPr marL="0" indent="0">
              <a:buNone/>
            </a:pPr>
            <a:r>
              <a:rPr lang="ja-JP" altLang="en-US" sz="2400" b="1">
                <a:latin typeface="Yu Gothic" panose="020B0400000000000000" pitchFamily="34" charset="-128"/>
                <a:ea typeface="Yu Gothic" panose="020B0400000000000000" pitchFamily="34" charset="-128"/>
              </a:rPr>
              <a:t>使用した制御器合成ツール</a:t>
            </a:r>
            <a:endParaRPr lang="en-US" altLang="ja-JP" sz="2400" b="1" dirty="0">
              <a:latin typeface="Yu Gothic" panose="020B0400000000000000" pitchFamily="34" charset="-128"/>
              <a:ea typeface="Yu Gothic" panose="020B0400000000000000" pitchFamily="34" charset="-128"/>
            </a:endParaRPr>
          </a:p>
          <a:p>
            <a:pPr marL="0" indent="0">
              <a:buNone/>
            </a:pPr>
            <a:r>
              <a:rPr lang="en-US" altLang="ja-JP" dirty="0"/>
              <a:t>Model Transition </a:t>
            </a:r>
            <a:r>
              <a:rPr lang="en-US" altLang="ja-JP" dirty="0" err="1"/>
              <a:t>Synstem</a:t>
            </a:r>
            <a:r>
              <a:rPr lang="en-US" altLang="ja-JP" dirty="0"/>
              <a:t> Analyzer(MTSA)</a:t>
            </a:r>
            <a:r>
              <a:rPr kumimoji="1" lang="en-US" altLang="ja-JP" sz="900" b="0" i="0" u="none" strike="noStrike" kern="1200" cap="none" spc="0" normalizeH="0" baseline="0" noProof="0" dirty="0">
                <a:ln>
                  <a:noFill/>
                </a:ln>
                <a:solidFill>
                  <a:prstClr val="black"/>
                </a:solidFill>
                <a:effectLst/>
                <a:uLnTx/>
                <a:uFillTx/>
                <a:latin typeface="Yu Gothic Medium" panose="020B0400000000000000" pitchFamily="34" charset="-128"/>
                <a:ea typeface="Yu Gothic Medium" panose="020B0400000000000000" pitchFamily="34" charset="-128"/>
                <a:cs typeface="+mn-cs"/>
              </a:rPr>
              <a:t> [3]</a:t>
            </a:r>
            <a:endParaRPr lang="en-US" altLang="ja-JP" dirty="0"/>
          </a:p>
          <a:p>
            <a:pPr marL="0" indent="0">
              <a:buNone/>
            </a:pPr>
            <a:endParaRPr lang="en-US" altLang="ja-JP" dirty="0">
              <a:latin typeface="Yu Gothic" panose="020B0400000000000000" pitchFamily="34" charset="-128"/>
              <a:ea typeface="Yu Gothic" panose="020B0400000000000000" pitchFamily="34" charset="-128"/>
            </a:endParaRPr>
          </a:p>
          <a:p>
            <a:pPr marL="0" indent="0">
              <a:buNone/>
            </a:pPr>
            <a:r>
              <a:rPr lang="en-US" altLang="ja-JP" sz="1000" dirty="0">
                <a:latin typeface="Yu Gothic" panose="020B0400000000000000" pitchFamily="34" charset="-128"/>
                <a:ea typeface="Yu Gothic" panose="020B0400000000000000" pitchFamily="34" charset="-128"/>
              </a:rPr>
              <a:t>[1] A. Borda, L. Pasquale, V. </a:t>
            </a:r>
            <a:r>
              <a:rPr lang="en-US" altLang="ja-JP" sz="1000" dirty="0" err="1">
                <a:latin typeface="Yu Gothic" panose="020B0400000000000000" pitchFamily="34" charset="-128"/>
                <a:ea typeface="Yu Gothic" panose="020B0400000000000000" pitchFamily="34" charset="-128"/>
              </a:rPr>
              <a:t>Koutavas</a:t>
            </a:r>
            <a:r>
              <a:rPr lang="en-US" altLang="ja-JP" sz="1000" dirty="0">
                <a:latin typeface="Yu Gothic" panose="020B0400000000000000" pitchFamily="34" charset="-128"/>
                <a:ea typeface="Yu Gothic" panose="020B0400000000000000" pitchFamily="34" charset="-128"/>
              </a:rPr>
              <a:t>, and B. </a:t>
            </a:r>
            <a:r>
              <a:rPr lang="en-US" altLang="ja-JP" sz="1000" dirty="0" err="1">
                <a:latin typeface="Yu Gothic" panose="020B0400000000000000" pitchFamily="34" charset="-128"/>
                <a:ea typeface="Yu Gothic" panose="020B0400000000000000" pitchFamily="34" charset="-128"/>
              </a:rPr>
              <a:t>Nuseibeh</a:t>
            </a:r>
            <a:r>
              <a:rPr lang="en-US" altLang="ja-JP" sz="1000" dirty="0">
                <a:latin typeface="Yu Gothic" panose="020B0400000000000000" pitchFamily="34" charset="-128"/>
                <a:ea typeface="Yu Gothic" panose="020B0400000000000000" pitchFamily="34" charset="-128"/>
              </a:rPr>
              <a:t>, “Compositional verification of self-adaptive cyber-physical systems,” 2018IEEE/ACM 13th International Symposium on Software </a:t>
            </a:r>
            <a:r>
              <a:rPr lang="en-US" altLang="ja-JP" sz="1000" dirty="0" err="1">
                <a:latin typeface="Yu Gothic" panose="020B0400000000000000" pitchFamily="34" charset="-128"/>
                <a:ea typeface="Yu Gothic" panose="020B0400000000000000" pitchFamily="34" charset="-128"/>
              </a:rPr>
              <a:t>Engineeringfor</a:t>
            </a:r>
            <a:r>
              <a:rPr lang="en-US" altLang="ja-JP" sz="1000" dirty="0">
                <a:latin typeface="Yu Gothic" panose="020B0400000000000000" pitchFamily="34" charset="-128"/>
                <a:ea typeface="Yu Gothic" panose="020B0400000000000000" pitchFamily="34" charset="-128"/>
              </a:rPr>
              <a:t> Adaptive and Self-Managing Systems, pp.1–11, 2018.</a:t>
            </a:r>
          </a:p>
          <a:p>
            <a:pPr marL="0" indent="0">
              <a:buNone/>
            </a:pPr>
            <a:r>
              <a:rPr lang="en-US" altLang="ja-JP" sz="1000" dirty="0">
                <a:latin typeface="Yu Gothic" panose="020B0400000000000000" pitchFamily="34" charset="-128"/>
                <a:ea typeface="Yu Gothic" panose="020B0400000000000000" pitchFamily="34" charset="-128"/>
              </a:rPr>
              <a:t>[2] J. Enright and P.R. Wurman, “Optimization and coordinated au-</a:t>
            </a:r>
            <a:r>
              <a:rPr lang="en-US" altLang="ja-JP" sz="1000" dirty="0" err="1">
                <a:latin typeface="Yu Gothic" panose="020B0400000000000000" pitchFamily="34" charset="-128"/>
                <a:ea typeface="Yu Gothic" panose="020B0400000000000000" pitchFamily="34" charset="-128"/>
              </a:rPr>
              <a:t>tonomy</a:t>
            </a:r>
            <a:r>
              <a:rPr lang="en-US" altLang="ja-JP" sz="1000" dirty="0">
                <a:latin typeface="Yu Gothic" panose="020B0400000000000000" pitchFamily="34" charset="-128"/>
                <a:ea typeface="Yu Gothic" panose="020B0400000000000000" pitchFamily="34" charset="-128"/>
              </a:rPr>
              <a:t> in mobile fulfillment systems,” Automated Action Plan-</a:t>
            </a:r>
            <a:r>
              <a:rPr lang="en-US" altLang="ja-JP" sz="1000" dirty="0" err="1">
                <a:latin typeface="Yu Gothic" panose="020B0400000000000000" pitchFamily="34" charset="-128"/>
                <a:ea typeface="Yu Gothic" panose="020B0400000000000000" pitchFamily="34" charset="-128"/>
              </a:rPr>
              <a:t>ning</a:t>
            </a:r>
            <a:r>
              <a:rPr lang="en-US" altLang="ja-JP" sz="1000" dirty="0">
                <a:latin typeface="Yu Gothic" panose="020B0400000000000000" pitchFamily="34" charset="-128"/>
                <a:ea typeface="Yu Gothic" panose="020B0400000000000000" pitchFamily="34" charset="-128"/>
              </a:rPr>
              <a:t> for Autonomous Mobile Robots, 2011 AAAI Workshop, </a:t>
            </a:r>
            <a:r>
              <a:rPr lang="en-US" altLang="ja-JP" sz="1000" dirty="0" err="1">
                <a:latin typeface="Yu Gothic" panose="020B0400000000000000" pitchFamily="34" charset="-128"/>
                <a:ea typeface="Yu Gothic" panose="020B0400000000000000" pitchFamily="34" charset="-128"/>
              </a:rPr>
              <a:t>SanFrancisco</a:t>
            </a:r>
            <a:r>
              <a:rPr lang="en-US" altLang="ja-JP" sz="1000" dirty="0">
                <a:latin typeface="Yu Gothic" panose="020B0400000000000000" pitchFamily="34" charset="-128"/>
                <a:ea typeface="Yu Gothic" panose="020B0400000000000000" pitchFamily="34" charset="-128"/>
              </a:rPr>
              <a:t>, California, USA, August 7, 2011, pp.33–38, 2011. http://</a:t>
            </a:r>
            <a:r>
              <a:rPr lang="en-US" altLang="ja-JP" sz="1000" dirty="0" err="1">
                <a:latin typeface="Yu Gothic" panose="020B0400000000000000" pitchFamily="34" charset="-128"/>
                <a:ea typeface="Yu Gothic" panose="020B0400000000000000" pitchFamily="34" charset="-128"/>
              </a:rPr>
              <a:t>www.aaai.org</a:t>
            </a:r>
            <a:r>
              <a:rPr lang="en-US" altLang="ja-JP" sz="1000" dirty="0">
                <a:latin typeface="Yu Gothic" panose="020B0400000000000000" pitchFamily="34" charset="-128"/>
                <a:ea typeface="Yu Gothic" panose="020B0400000000000000" pitchFamily="34" charset="-128"/>
              </a:rPr>
              <a:t>/</a:t>
            </a:r>
            <a:r>
              <a:rPr lang="en-US" altLang="ja-JP" sz="1000" dirty="0" err="1">
                <a:latin typeface="Yu Gothic" panose="020B0400000000000000" pitchFamily="34" charset="-128"/>
                <a:ea typeface="Yu Gothic" panose="020B0400000000000000" pitchFamily="34" charset="-128"/>
              </a:rPr>
              <a:t>ocs</a:t>
            </a:r>
            <a:r>
              <a:rPr lang="en-US" altLang="ja-JP" sz="1000" dirty="0">
                <a:latin typeface="Yu Gothic" panose="020B0400000000000000" pitchFamily="34" charset="-128"/>
                <a:ea typeface="Yu Gothic" panose="020B0400000000000000" pitchFamily="34" charset="-128"/>
              </a:rPr>
              <a:t>/</a:t>
            </a:r>
            <a:r>
              <a:rPr lang="en-US" altLang="ja-JP" sz="1000" dirty="0" err="1">
                <a:latin typeface="Yu Gothic" panose="020B0400000000000000" pitchFamily="34" charset="-128"/>
                <a:ea typeface="Yu Gothic" panose="020B0400000000000000" pitchFamily="34" charset="-128"/>
              </a:rPr>
              <a:t>index.php</a:t>
            </a:r>
            <a:r>
              <a:rPr lang="en-US" altLang="ja-JP" sz="1000" dirty="0">
                <a:latin typeface="Yu Gothic" panose="020B0400000000000000" pitchFamily="34" charset="-128"/>
                <a:ea typeface="Yu Gothic" panose="020B0400000000000000" pitchFamily="34" charset="-128"/>
              </a:rPr>
              <a:t>/WS/AAAIW11/paper/view/3917</a:t>
            </a:r>
          </a:p>
          <a:p>
            <a:pPr marL="0" indent="0">
              <a:buNone/>
            </a:pPr>
            <a:r>
              <a:rPr lang="en-US" altLang="ja-JP" sz="1000" dirty="0">
                <a:latin typeface="Yu Gothic" panose="020B0400000000000000" pitchFamily="34" charset="-128"/>
                <a:ea typeface="Yu Gothic" panose="020B0400000000000000" pitchFamily="34" charset="-128"/>
              </a:rPr>
              <a:t>[3] N. D’Ippolito, D. Fischbein, M. Chechik, and S. </a:t>
            </a:r>
            <a:r>
              <a:rPr lang="en-US" altLang="ja-JP" sz="1000" dirty="0" err="1">
                <a:latin typeface="Yu Gothic" panose="020B0400000000000000" pitchFamily="34" charset="-128"/>
                <a:ea typeface="Yu Gothic" panose="020B0400000000000000" pitchFamily="34" charset="-128"/>
              </a:rPr>
              <a:t>Uchitel,“MTSA</a:t>
            </a:r>
            <a:r>
              <a:rPr lang="en-US" altLang="ja-JP" sz="1000" dirty="0">
                <a:latin typeface="Yu Gothic" panose="020B0400000000000000" pitchFamily="34" charset="-128"/>
                <a:ea typeface="Yu Gothic" panose="020B0400000000000000" pitchFamily="34" charset="-128"/>
              </a:rPr>
              <a:t>: the modal transition system </a:t>
            </a:r>
            <a:r>
              <a:rPr lang="en-US" altLang="ja-JP" sz="1000" dirty="0" err="1">
                <a:latin typeface="Yu Gothic" panose="020B0400000000000000" pitchFamily="34" charset="-128"/>
                <a:ea typeface="Yu Gothic" panose="020B0400000000000000" pitchFamily="34" charset="-128"/>
              </a:rPr>
              <a:t>analyser</a:t>
            </a:r>
            <a:r>
              <a:rPr lang="en-US" altLang="ja-JP" sz="1000" dirty="0">
                <a:latin typeface="Yu Gothic" panose="020B0400000000000000" pitchFamily="34" charset="-128"/>
                <a:ea typeface="Yu Gothic" panose="020B0400000000000000" pitchFamily="34" charset="-128"/>
              </a:rPr>
              <a:t>,” 23rd IEEE/</a:t>
            </a:r>
            <a:r>
              <a:rPr lang="en-US" altLang="ja-JP" sz="1000" dirty="0" err="1">
                <a:latin typeface="Yu Gothic" panose="020B0400000000000000" pitchFamily="34" charset="-128"/>
                <a:ea typeface="Yu Gothic" panose="020B0400000000000000" pitchFamily="34" charset="-128"/>
              </a:rPr>
              <a:t>ACMInternational</a:t>
            </a:r>
            <a:r>
              <a:rPr lang="en-US" altLang="ja-JP" sz="1000" dirty="0">
                <a:latin typeface="Yu Gothic" panose="020B0400000000000000" pitchFamily="34" charset="-128"/>
                <a:ea typeface="Yu Gothic" panose="020B0400000000000000" pitchFamily="34" charset="-128"/>
              </a:rPr>
              <a:t> Conference on Automated Software Engineering,15-19 September 2008, L’Aquila, Italy, pp.475–476, 2008. https://</a:t>
            </a:r>
            <a:r>
              <a:rPr lang="en-US" altLang="ja-JP" sz="1000" dirty="0" err="1">
                <a:latin typeface="Yu Gothic" panose="020B0400000000000000" pitchFamily="34" charset="-128"/>
                <a:ea typeface="Yu Gothic" panose="020B0400000000000000" pitchFamily="34" charset="-128"/>
              </a:rPr>
              <a:t>doi.org</a:t>
            </a:r>
            <a:r>
              <a:rPr lang="en-US" altLang="ja-JP" sz="1000" dirty="0">
                <a:latin typeface="Yu Gothic" panose="020B0400000000000000" pitchFamily="34" charset="-128"/>
                <a:ea typeface="Yu Gothic" panose="020B0400000000000000" pitchFamily="34" charset="-128"/>
              </a:rPr>
              <a:t>/10.1109/ASE.2008.78</a:t>
            </a:r>
          </a:p>
          <a:p>
            <a:pPr marL="0" indent="0">
              <a:buNone/>
            </a:pPr>
            <a:endParaRPr lang="en-US" altLang="ja-JP" sz="1400" dirty="0"/>
          </a:p>
          <a:p>
            <a:pPr marL="0" indent="0">
              <a:buNone/>
            </a:pP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EC0056DA-FFC0-C211-F012-B54875796346}"/>
              </a:ext>
            </a:extLst>
          </p:cNvPr>
          <p:cNvSpPr>
            <a:spLocks noGrp="1"/>
          </p:cNvSpPr>
          <p:nvPr>
            <p:ph type="sldNum" sz="quarter" idx="11"/>
          </p:nvPr>
        </p:nvSpPr>
        <p:spPr/>
        <p:txBody>
          <a:bodyPr/>
          <a:lstStyle/>
          <a:p>
            <a:fld id="{E0D93E39-1AFA-2A42-BAF4-0CDD5F6E9A80}" type="slidenum">
              <a:rPr kumimoji="1" lang="ja-JP" altLang="en-US" smtClean="0"/>
              <a:pPr/>
              <a:t>18</a:t>
            </a:fld>
            <a:endParaRPr kumimoji="1" lang="ja-JP" altLang="en-US"/>
          </a:p>
        </p:txBody>
      </p:sp>
    </p:spTree>
    <p:extLst>
      <p:ext uri="{BB962C8B-B14F-4D97-AF65-F5344CB8AC3E}">
        <p14:creationId xmlns:p14="http://schemas.microsoft.com/office/powerpoint/2010/main" val="3579832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DDBCFD-35FB-F6EC-D9AC-8529E2CF3CC8}"/>
              </a:ext>
            </a:extLst>
          </p:cNvPr>
          <p:cNvSpPr>
            <a:spLocks noGrp="1"/>
          </p:cNvSpPr>
          <p:nvPr>
            <p:ph type="title"/>
          </p:nvPr>
        </p:nvSpPr>
        <p:spPr/>
        <p:txBody>
          <a:bodyPr/>
          <a:lstStyle/>
          <a:p>
            <a:r>
              <a:rPr lang="ja-JP" altLang="en-US"/>
              <a:t>評価：実験結果</a:t>
            </a:r>
            <a:endParaRPr kumimoji="1" lang="ja-JP" altLang="en-US"/>
          </a:p>
        </p:txBody>
      </p:sp>
      <p:sp>
        <p:nvSpPr>
          <p:cNvPr id="4" name="スライド番号プレースホルダー 3">
            <a:extLst>
              <a:ext uri="{FF2B5EF4-FFF2-40B4-BE49-F238E27FC236}">
                <a16:creationId xmlns:a16="http://schemas.microsoft.com/office/drawing/2014/main" id="{CAB24AF6-1422-24F4-A227-F8B3ACD542BC}"/>
              </a:ext>
            </a:extLst>
          </p:cNvPr>
          <p:cNvSpPr>
            <a:spLocks noGrp="1"/>
          </p:cNvSpPr>
          <p:nvPr>
            <p:ph type="sldNum" sz="quarter" idx="11"/>
          </p:nvPr>
        </p:nvSpPr>
        <p:spPr/>
        <p:txBody>
          <a:bodyPr/>
          <a:lstStyle/>
          <a:p>
            <a:fld id="{E0D93E39-1AFA-2A42-BAF4-0CDD5F6E9A80}" type="slidenum">
              <a:rPr kumimoji="1" lang="ja-JP" altLang="en-US" smtClean="0"/>
              <a:pPr/>
              <a:t>19</a:t>
            </a:fld>
            <a:endParaRPr kumimoji="1" lang="ja-JP" altLang="en-US"/>
          </a:p>
        </p:txBody>
      </p:sp>
      <p:pic>
        <p:nvPicPr>
          <p:cNvPr id="6" name="コンテンツ プレースホルダー 5">
            <a:extLst>
              <a:ext uri="{FF2B5EF4-FFF2-40B4-BE49-F238E27FC236}">
                <a16:creationId xmlns:a16="http://schemas.microsoft.com/office/drawing/2014/main" id="{6185EAB4-8617-1276-A889-DB0C9C1E69C9}"/>
              </a:ext>
            </a:extLst>
          </p:cNvPr>
          <p:cNvPicPr>
            <a:picLocks noGrp="1" noChangeAspect="1"/>
          </p:cNvPicPr>
          <p:nvPr>
            <p:ph sz="quarter" idx="10"/>
          </p:nvPr>
        </p:nvPicPr>
        <p:blipFill>
          <a:blip r:embed="rId3"/>
          <a:srcRect/>
          <a:stretch/>
        </p:blipFill>
        <p:spPr>
          <a:xfrm>
            <a:off x="188844" y="1717041"/>
            <a:ext cx="11668125" cy="3666317"/>
          </a:xfrm>
        </p:spPr>
      </p:pic>
      <p:sp>
        <p:nvSpPr>
          <p:cNvPr id="8" name="テキスト ボックス 7">
            <a:extLst>
              <a:ext uri="{FF2B5EF4-FFF2-40B4-BE49-F238E27FC236}">
                <a16:creationId xmlns:a16="http://schemas.microsoft.com/office/drawing/2014/main" id="{FC9CA215-5AD3-D461-9B9A-5AD6F7702E8E}"/>
              </a:ext>
            </a:extLst>
          </p:cNvPr>
          <p:cNvSpPr txBox="1"/>
          <p:nvPr/>
        </p:nvSpPr>
        <p:spPr>
          <a:xfrm>
            <a:off x="188845" y="929981"/>
            <a:ext cx="8447156" cy="787060"/>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人数管理システム：</a:t>
            </a:r>
            <a:r>
              <a:rPr kumimoji="1" lang="en-US" altLang="ja-JP" sz="1050" dirty="0">
                <a:solidFill>
                  <a:sysClr val="windowText" lastClr="000000"/>
                </a:solidFill>
                <a:latin typeface="Hind" panose="02000000000000000000" pitchFamily="2" charset="0"/>
                <a:ea typeface="Noto Sans JP" panose="020B0200000000000000" pitchFamily="34" charset="-128"/>
              </a:rPr>
              <a:t>N</a:t>
            </a:r>
            <a:r>
              <a:rPr kumimoji="1" lang="ja-JP" altLang="en-US" sz="1050">
                <a:solidFill>
                  <a:sysClr val="windowText" lastClr="000000"/>
                </a:solidFill>
                <a:latin typeface="Hind" panose="02000000000000000000" pitchFamily="2" charset="0"/>
                <a:ea typeface="Noto Sans JP" panose="020B0200000000000000" pitchFamily="34" charset="-128"/>
              </a:rPr>
              <a:t>は部屋の数，</a:t>
            </a:r>
            <a:r>
              <a:rPr kumimoji="1" lang="en-US" altLang="ja-JP" sz="1050" dirty="0">
                <a:solidFill>
                  <a:sysClr val="windowText" lastClr="000000"/>
                </a:solidFill>
                <a:latin typeface="Hind" panose="02000000000000000000" pitchFamily="2" charset="0"/>
                <a:ea typeface="Noto Sans JP" panose="020B0200000000000000" pitchFamily="34" charset="-128"/>
              </a:rPr>
              <a:t>K</a:t>
            </a:r>
            <a:r>
              <a:rPr kumimoji="1" lang="ja-JP" altLang="en-US" sz="1050">
                <a:solidFill>
                  <a:sysClr val="windowText" lastClr="000000"/>
                </a:solidFill>
                <a:latin typeface="Hind" panose="02000000000000000000" pitchFamily="2" charset="0"/>
                <a:ea typeface="Noto Sans JP" panose="020B0200000000000000" pitchFamily="34" charset="-128"/>
              </a:rPr>
              <a:t>は人の数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自動倉庫管理システム：</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N</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はロボットの数，</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K</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は棚の数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計算時間＝合成時間＋最小化時間</a:t>
            </a:r>
            <a:endParaRPr kumimoji="1" lang="ja-JP" altLang="en-US"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Tree>
    <p:extLst>
      <p:ext uri="{BB962C8B-B14F-4D97-AF65-F5344CB8AC3E}">
        <p14:creationId xmlns:p14="http://schemas.microsoft.com/office/powerpoint/2010/main" val="63451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D55E4-7AE8-62C9-2059-C015E23A7D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C06D18-863C-47A9-6A93-D18B1BF02AF7}"/>
              </a:ext>
            </a:extLst>
          </p:cNvPr>
          <p:cNvSpPr>
            <a:spLocks noGrp="1"/>
          </p:cNvSpPr>
          <p:nvPr>
            <p:ph type="title"/>
          </p:nvPr>
        </p:nvSpPr>
        <p:spPr/>
        <p:txBody>
          <a:bodyPr/>
          <a:lstStyle/>
          <a:p>
            <a:r>
              <a:rPr lang="ja-JP" altLang="en-US"/>
              <a:t>評価：実験結果（</a:t>
            </a:r>
            <a:r>
              <a:rPr lang="en-US" altLang="ja-JP" dirty="0"/>
              <a:t>RQ1</a:t>
            </a:r>
            <a:r>
              <a:rPr lang="ja-JP" altLang="en-US"/>
              <a:t>の評価）</a:t>
            </a:r>
            <a:endParaRPr kumimoji="1" lang="ja-JP" altLang="en-US"/>
          </a:p>
        </p:txBody>
      </p:sp>
      <p:sp>
        <p:nvSpPr>
          <p:cNvPr id="4" name="スライド番号プレースホルダー 3">
            <a:extLst>
              <a:ext uri="{FF2B5EF4-FFF2-40B4-BE49-F238E27FC236}">
                <a16:creationId xmlns:a16="http://schemas.microsoft.com/office/drawing/2014/main" id="{57375BD3-03E0-0B7F-F99C-CC8AC50DF241}"/>
              </a:ext>
            </a:extLst>
          </p:cNvPr>
          <p:cNvSpPr>
            <a:spLocks noGrp="1"/>
          </p:cNvSpPr>
          <p:nvPr>
            <p:ph type="sldNum" sz="quarter" idx="11"/>
          </p:nvPr>
        </p:nvSpPr>
        <p:spPr/>
        <p:txBody>
          <a:bodyPr/>
          <a:lstStyle/>
          <a:p>
            <a:fld id="{E0D93E39-1AFA-2A42-BAF4-0CDD5F6E9A80}" type="slidenum">
              <a:rPr kumimoji="1" lang="ja-JP" altLang="en-US" smtClean="0"/>
              <a:pPr/>
              <a:t>20</a:t>
            </a:fld>
            <a:endParaRPr kumimoji="1" lang="ja-JP" altLang="en-US"/>
          </a:p>
        </p:txBody>
      </p:sp>
      <p:pic>
        <p:nvPicPr>
          <p:cNvPr id="6" name="コンテンツ プレースホルダー 5">
            <a:extLst>
              <a:ext uri="{FF2B5EF4-FFF2-40B4-BE49-F238E27FC236}">
                <a16:creationId xmlns:a16="http://schemas.microsoft.com/office/drawing/2014/main" id="{676BF784-ADB0-0916-66FA-60D03ABC27B4}"/>
              </a:ext>
            </a:extLst>
          </p:cNvPr>
          <p:cNvPicPr>
            <a:picLocks noGrp="1" noChangeAspect="1"/>
          </p:cNvPicPr>
          <p:nvPr>
            <p:ph sz="quarter" idx="10"/>
          </p:nvPr>
        </p:nvPicPr>
        <p:blipFill>
          <a:blip r:embed="rId3"/>
          <a:srcRect/>
          <a:stretch/>
        </p:blipFill>
        <p:spPr>
          <a:xfrm>
            <a:off x="188844" y="1717041"/>
            <a:ext cx="11668125" cy="3666317"/>
          </a:xfrm>
        </p:spPr>
      </p:pic>
      <p:sp>
        <p:nvSpPr>
          <p:cNvPr id="8" name="テキスト ボックス 7">
            <a:extLst>
              <a:ext uri="{FF2B5EF4-FFF2-40B4-BE49-F238E27FC236}">
                <a16:creationId xmlns:a16="http://schemas.microsoft.com/office/drawing/2014/main" id="{90C6DD88-E985-9FB0-6FB8-39BBBFDBD668}"/>
              </a:ext>
            </a:extLst>
          </p:cNvPr>
          <p:cNvSpPr txBox="1"/>
          <p:nvPr/>
        </p:nvSpPr>
        <p:spPr>
          <a:xfrm>
            <a:off x="188845" y="929981"/>
            <a:ext cx="8447156" cy="787060"/>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人数管理システム：</a:t>
            </a:r>
            <a:r>
              <a:rPr kumimoji="1" lang="en-US" altLang="ja-JP" sz="1050" dirty="0">
                <a:solidFill>
                  <a:sysClr val="windowText" lastClr="000000"/>
                </a:solidFill>
                <a:latin typeface="Hind" panose="02000000000000000000" pitchFamily="2" charset="0"/>
                <a:ea typeface="Noto Sans JP" panose="020B0200000000000000" pitchFamily="34" charset="-128"/>
              </a:rPr>
              <a:t>N</a:t>
            </a:r>
            <a:r>
              <a:rPr kumimoji="1" lang="ja-JP" altLang="en-US" sz="1050">
                <a:solidFill>
                  <a:sysClr val="windowText" lastClr="000000"/>
                </a:solidFill>
                <a:latin typeface="Hind" panose="02000000000000000000" pitchFamily="2" charset="0"/>
                <a:ea typeface="Noto Sans JP" panose="020B0200000000000000" pitchFamily="34" charset="-128"/>
              </a:rPr>
              <a:t>は部屋の数，</a:t>
            </a:r>
            <a:r>
              <a:rPr kumimoji="1" lang="en-US" altLang="ja-JP" sz="1050" dirty="0">
                <a:solidFill>
                  <a:sysClr val="windowText" lastClr="000000"/>
                </a:solidFill>
                <a:latin typeface="Hind" panose="02000000000000000000" pitchFamily="2" charset="0"/>
                <a:ea typeface="Noto Sans JP" panose="020B0200000000000000" pitchFamily="34" charset="-128"/>
              </a:rPr>
              <a:t>K</a:t>
            </a:r>
            <a:r>
              <a:rPr kumimoji="1" lang="ja-JP" altLang="en-US" sz="1050">
                <a:solidFill>
                  <a:sysClr val="windowText" lastClr="000000"/>
                </a:solidFill>
                <a:latin typeface="Hind" panose="02000000000000000000" pitchFamily="2" charset="0"/>
                <a:ea typeface="Noto Sans JP" panose="020B0200000000000000" pitchFamily="34" charset="-128"/>
              </a:rPr>
              <a:t>は人の数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自動倉庫管理システム：</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N</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はロボットの数，</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K</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は棚の数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計算時間＝合成時間＋最小化時間</a:t>
            </a:r>
            <a:endParaRPr kumimoji="1" lang="ja-JP" altLang="en-US"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3" name="テキスト ボックス 2">
            <a:extLst>
              <a:ext uri="{FF2B5EF4-FFF2-40B4-BE49-F238E27FC236}">
                <a16:creationId xmlns:a16="http://schemas.microsoft.com/office/drawing/2014/main" id="{A12C20A1-147C-6D12-29CC-B2177E0E8E75}"/>
              </a:ext>
            </a:extLst>
          </p:cNvPr>
          <p:cNvSpPr txBox="1"/>
          <p:nvPr/>
        </p:nvSpPr>
        <p:spPr>
          <a:xfrm>
            <a:off x="188843" y="5255256"/>
            <a:ext cx="11058694" cy="2126529"/>
          </a:xfrm>
          <a:prstGeom prst="rect">
            <a:avLst/>
          </a:prstGeom>
        </p:spPr>
        <p:txBody>
          <a:bodyPr vert="horz" wrap="none" lIns="91440" tIns="45720" rIns="91440" bIns="45720" rtlCol="0">
            <a:norm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RQ1</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a:t>
            </a: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LTS</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の最小化を加えたことで，状態数と遷移数がどれほど削減されたか</a:t>
            </a:r>
            <a:endPar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solidFill>
                  <a:prstClr val="black"/>
                </a:solidFill>
                <a:latin typeface="Yu Gothic Medium" panose="020B0400000000000000" pitchFamily="34" charset="-128"/>
                <a:ea typeface="Yu Gothic Medium" panose="020B0400000000000000" pitchFamily="34" charset="-128"/>
              </a:rPr>
              <a:t>→いずれのシステムでも平均して状態数と遷移数が削減されていることがわかった．</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また，人数管理システム，自動倉庫管理システムのどちらでも</a:t>
            </a:r>
            <a:r>
              <a:rPr kumimoji="1" lang="en-US" altLang="ja-JP" dirty="0">
                <a:solidFill>
                  <a:prstClr val="black"/>
                </a:solidFill>
                <a:latin typeface="Yu Gothic Medium" panose="020B0400000000000000" pitchFamily="34" charset="-128"/>
                <a:ea typeface="Yu Gothic Medium" panose="020B0400000000000000" pitchFamily="34" charset="-128"/>
              </a:rPr>
              <a:t>N,K</a:t>
            </a:r>
            <a:r>
              <a:rPr kumimoji="1" lang="ja-JP" altLang="en-US">
                <a:solidFill>
                  <a:prstClr val="black"/>
                </a:solidFill>
                <a:latin typeface="Yu Gothic Medium" panose="020B0400000000000000" pitchFamily="34" charset="-128"/>
                <a:ea typeface="Yu Gothic Medium" panose="020B0400000000000000" pitchFamily="34" charset="-128"/>
              </a:rPr>
              <a:t>を変えても削減効果はさほど変わらず，</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削減効果の変化に相関はなかった．</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7" name="フレーム 6">
            <a:extLst>
              <a:ext uri="{FF2B5EF4-FFF2-40B4-BE49-F238E27FC236}">
                <a16:creationId xmlns:a16="http://schemas.microsoft.com/office/drawing/2014/main" id="{133127AC-5CBD-57BF-9C0B-4CAD8D61AB16}"/>
              </a:ext>
            </a:extLst>
          </p:cNvPr>
          <p:cNvSpPr/>
          <p:nvPr/>
        </p:nvSpPr>
        <p:spPr>
          <a:xfrm>
            <a:off x="1146875" y="1969846"/>
            <a:ext cx="1184845" cy="3346073"/>
          </a:xfrm>
          <a:prstGeom prst="frame">
            <a:avLst>
              <a:gd name="adj1" fmla="val 358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フレーム 8">
            <a:extLst>
              <a:ext uri="{FF2B5EF4-FFF2-40B4-BE49-F238E27FC236}">
                <a16:creationId xmlns:a16="http://schemas.microsoft.com/office/drawing/2014/main" id="{17A17D38-6BBE-564A-5D07-080B017E9B07}"/>
              </a:ext>
            </a:extLst>
          </p:cNvPr>
          <p:cNvSpPr/>
          <p:nvPr/>
        </p:nvSpPr>
        <p:spPr>
          <a:xfrm>
            <a:off x="4770895" y="1969845"/>
            <a:ext cx="2280834" cy="3346073"/>
          </a:xfrm>
          <a:prstGeom prst="frame">
            <a:avLst>
              <a:gd name="adj1" fmla="val 223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786883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F23BA-884A-0C23-8EF3-4912333023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41FFB1-3F26-E539-09C8-CDBC8E2B640E}"/>
              </a:ext>
            </a:extLst>
          </p:cNvPr>
          <p:cNvSpPr>
            <a:spLocks noGrp="1"/>
          </p:cNvSpPr>
          <p:nvPr>
            <p:ph type="title"/>
          </p:nvPr>
        </p:nvSpPr>
        <p:spPr/>
        <p:txBody>
          <a:bodyPr/>
          <a:lstStyle/>
          <a:p>
            <a:r>
              <a:rPr lang="ja-JP" altLang="en-US"/>
              <a:t>評価：実験結果（</a:t>
            </a:r>
            <a:r>
              <a:rPr lang="en-US" altLang="ja-JP" dirty="0"/>
              <a:t>RQ1</a:t>
            </a:r>
            <a:r>
              <a:rPr lang="ja-JP" altLang="en-US"/>
              <a:t>の評価）</a:t>
            </a:r>
            <a:endParaRPr kumimoji="1" lang="ja-JP" altLang="en-US"/>
          </a:p>
        </p:txBody>
      </p:sp>
      <p:sp>
        <p:nvSpPr>
          <p:cNvPr id="3" name="コンテンツ プレースホルダー 2">
            <a:extLst>
              <a:ext uri="{FF2B5EF4-FFF2-40B4-BE49-F238E27FC236}">
                <a16:creationId xmlns:a16="http://schemas.microsoft.com/office/drawing/2014/main" id="{02D32902-BA6F-3269-B9B9-2CA8900AE1F7}"/>
              </a:ext>
            </a:extLst>
          </p:cNvPr>
          <p:cNvSpPr>
            <a:spLocks noGrp="1"/>
          </p:cNvSpPr>
          <p:nvPr>
            <p:ph sz="quarter" idx="10"/>
          </p:nvPr>
        </p:nvSpPr>
        <p:spPr/>
        <p:txBody>
          <a:bodyPr/>
          <a:lstStyle/>
          <a:p>
            <a:pPr marL="0" indent="0">
              <a:buNone/>
            </a:pPr>
            <a:r>
              <a:rPr kumimoji="1" lang="en-US" altLang="ja-JP" sz="2400" b="1" dirty="0">
                <a:latin typeface="Yu Gothic" panose="020B0400000000000000" pitchFamily="34" charset="-128"/>
                <a:ea typeface="Yu Gothic" panose="020B0400000000000000" pitchFamily="34" charset="-128"/>
              </a:rPr>
              <a:t>1</a:t>
            </a:r>
            <a:r>
              <a:rPr kumimoji="1" lang="ja-JP" altLang="en-US" sz="2400" b="1">
                <a:latin typeface="Yu Gothic" panose="020B0400000000000000" pitchFamily="34" charset="-128"/>
                <a:ea typeface="Yu Gothic" panose="020B0400000000000000" pitchFamily="34" charset="-128"/>
              </a:rPr>
              <a:t>つのシステムの計算空間の詳細</a:t>
            </a:r>
            <a:endParaRPr kumimoji="1" lang="en-US" altLang="ja-JP" sz="2400" b="1" dirty="0">
              <a:latin typeface="Yu Gothic" panose="020B0400000000000000" pitchFamily="34" charset="-128"/>
              <a:ea typeface="Yu Gothic" panose="020B0400000000000000" pitchFamily="34" charset="-128"/>
            </a:endParaRPr>
          </a:p>
          <a:p>
            <a:pPr marL="0" indent="0">
              <a:buNone/>
            </a:pPr>
            <a:r>
              <a:rPr lang="ja-JP" altLang="en-US"/>
              <a:t>　人数管理システムの</a:t>
            </a:r>
            <a:r>
              <a:rPr lang="en-US" altLang="ja-JP" dirty="0"/>
              <a:t>N=6, K=4</a:t>
            </a:r>
            <a:r>
              <a:rPr lang="ja-JP" altLang="en-US"/>
              <a:t>の場合に各部分合成での合成と最小化の際の状態数と時間を計測</a:t>
            </a:r>
            <a:endParaRPr kumimoji="1" lang="en-US" altLang="ja-JP" dirty="0"/>
          </a:p>
          <a:p>
            <a:pPr marL="0" indent="0">
              <a:buNone/>
            </a:pPr>
            <a:endParaRPr kumimoji="1" lang="ja-JP" altLang="en-US" b="1">
              <a:latin typeface="Yu Gothic" panose="020B0400000000000000" pitchFamily="34" charset="-128"/>
              <a:ea typeface="Yu Gothic" panose="020B0400000000000000" pitchFamily="34" charset="-128"/>
            </a:endParaRPr>
          </a:p>
        </p:txBody>
      </p:sp>
      <p:sp>
        <p:nvSpPr>
          <p:cNvPr id="4" name="スライド番号プレースホルダー 3">
            <a:extLst>
              <a:ext uri="{FF2B5EF4-FFF2-40B4-BE49-F238E27FC236}">
                <a16:creationId xmlns:a16="http://schemas.microsoft.com/office/drawing/2014/main" id="{95E72D03-9EA7-12F2-8F03-3E6A5EA20C34}"/>
              </a:ext>
            </a:extLst>
          </p:cNvPr>
          <p:cNvSpPr>
            <a:spLocks noGrp="1"/>
          </p:cNvSpPr>
          <p:nvPr>
            <p:ph type="sldNum" sz="quarter" idx="11"/>
          </p:nvPr>
        </p:nvSpPr>
        <p:spPr/>
        <p:txBody>
          <a:bodyPr/>
          <a:lstStyle/>
          <a:p>
            <a:fld id="{E0D93E39-1AFA-2A42-BAF4-0CDD5F6E9A80}" type="slidenum">
              <a:rPr kumimoji="1" lang="ja-JP" altLang="en-US" smtClean="0"/>
              <a:pPr/>
              <a:t>21</a:t>
            </a:fld>
            <a:endParaRPr kumimoji="1" lang="ja-JP" altLang="en-US"/>
          </a:p>
        </p:txBody>
      </p:sp>
      <p:pic>
        <p:nvPicPr>
          <p:cNvPr id="6" name="図 5" descr="テーブル&#10;&#10;AI 生成コンテンツは誤りを含む可能性があります。">
            <a:extLst>
              <a:ext uri="{FF2B5EF4-FFF2-40B4-BE49-F238E27FC236}">
                <a16:creationId xmlns:a16="http://schemas.microsoft.com/office/drawing/2014/main" id="{7BB75321-4FC5-56CA-D321-41AC91953357}"/>
              </a:ext>
            </a:extLst>
          </p:cNvPr>
          <p:cNvPicPr>
            <a:picLocks noChangeAspect="1"/>
          </p:cNvPicPr>
          <p:nvPr/>
        </p:nvPicPr>
        <p:blipFill>
          <a:blip r:embed="rId3"/>
          <a:stretch>
            <a:fillRect/>
          </a:stretch>
        </p:blipFill>
        <p:spPr>
          <a:xfrm>
            <a:off x="334962" y="1812945"/>
            <a:ext cx="3535017" cy="4909220"/>
          </a:xfrm>
          <a:prstGeom prst="rect">
            <a:avLst/>
          </a:prstGeom>
        </p:spPr>
      </p:pic>
      <p:sp>
        <p:nvSpPr>
          <p:cNvPr id="5" name="フレーム 4">
            <a:extLst>
              <a:ext uri="{FF2B5EF4-FFF2-40B4-BE49-F238E27FC236}">
                <a16:creationId xmlns:a16="http://schemas.microsoft.com/office/drawing/2014/main" id="{13DB6543-8865-BF25-516E-36F07F6D545E}"/>
              </a:ext>
            </a:extLst>
          </p:cNvPr>
          <p:cNvSpPr/>
          <p:nvPr/>
        </p:nvSpPr>
        <p:spPr>
          <a:xfrm>
            <a:off x="1323474" y="2037347"/>
            <a:ext cx="533749" cy="4684818"/>
          </a:xfrm>
          <a:prstGeom prst="frame">
            <a:avLst>
              <a:gd name="adj1" fmla="val 416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フレーム 6">
            <a:extLst>
              <a:ext uri="{FF2B5EF4-FFF2-40B4-BE49-F238E27FC236}">
                <a16:creationId xmlns:a16="http://schemas.microsoft.com/office/drawing/2014/main" id="{904417E5-0ABA-2969-89FA-858ECC155EB7}"/>
              </a:ext>
            </a:extLst>
          </p:cNvPr>
          <p:cNvSpPr/>
          <p:nvPr/>
        </p:nvSpPr>
        <p:spPr>
          <a:xfrm>
            <a:off x="2578860" y="2037347"/>
            <a:ext cx="533749" cy="4684818"/>
          </a:xfrm>
          <a:prstGeom prst="frame">
            <a:avLst>
              <a:gd name="adj1" fmla="val 416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262542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7F8E91-DCF1-2352-A7B4-13C5190FA0F6}"/>
              </a:ext>
            </a:extLst>
          </p:cNvPr>
          <p:cNvSpPr>
            <a:spLocks noGrp="1"/>
          </p:cNvSpPr>
          <p:nvPr>
            <p:ph type="title"/>
          </p:nvPr>
        </p:nvSpPr>
        <p:spPr/>
        <p:txBody>
          <a:bodyPr/>
          <a:lstStyle/>
          <a:p>
            <a:r>
              <a:rPr kumimoji="1" lang="ja-JP" altLang="en-US"/>
              <a:t>評価：実験結果（</a:t>
            </a:r>
            <a:r>
              <a:rPr kumimoji="1" lang="en-US" altLang="ja-JP" dirty="0"/>
              <a:t>RQ1</a:t>
            </a:r>
            <a:r>
              <a:rPr kumimoji="1" lang="ja-JP" altLang="en-US"/>
              <a:t>の評価）</a:t>
            </a:r>
          </a:p>
        </p:txBody>
      </p:sp>
      <p:pic>
        <p:nvPicPr>
          <p:cNvPr id="6" name="コンテンツ プレースホルダー 5">
            <a:extLst>
              <a:ext uri="{FF2B5EF4-FFF2-40B4-BE49-F238E27FC236}">
                <a16:creationId xmlns:a16="http://schemas.microsoft.com/office/drawing/2014/main" id="{6C98225A-5AC7-9BCF-B435-195BBEE53FDC}"/>
              </a:ext>
            </a:extLst>
          </p:cNvPr>
          <p:cNvPicPr>
            <a:picLocks noGrp="1" noChangeAspect="1"/>
          </p:cNvPicPr>
          <p:nvPr>
            <p:ph sz="quarter" idx="10"/>
          </p:nvPr>
        </p:nvPicPr>
        <p:blipFill>
          <a:blip r:embed="rId3"/>
          <a:srcRect/>
          <a:stretch/>
        </p:blipFill>
        <p:spPr>
          <a:xfrm>
            <a:off x="640401" y="2008072"/>
            <a:ext cx="7347638" cy="2744551"/>
          </a:xfrm>
        </p:spPr>
      </p:pic>
      <p:sp>
        <p:nvSpPr>
          <p:cNvPr id="4" name="スライド番号プレースホルダー 3">
            <a:extLst>
              <a:ext uri="{FF2B5EF4-FFF2-40B4-BE49-F238E27FC236}">
                <a16:creationId xmlns:a16="http://schemas.microsoft.com/office/drawing/2014/main" id="{7DB20AEB-4B50-6DBD-687A-13B16A86CFBB}"/>
              </a:ext>
            </a:extLst>
          </p:cNvPr>
          <p:cNvSpPr>
            <a:spLocks noGrp="1"/>
          </p:cNvSpPr>
          <p:nvPr>
            <p:ph type="sldNum" sz="quarter" idx="11"/>
          </p:nvPr>
        </p:nvSpPr>
        <p:spPr/>
        <p:txBody>
          <a:bodyPr/>
          <a:lstStyle/>
          <a:p>
            <a:fld id="{E0D93E39-1AFA-2A42-BAF4-0CDD5F6E9A80}" type="slidenum">
              <a:rPr kumimoji="1" lang="ja-JP" altLang="en-US" smtClean="0"/>
              <a:pPr/>
              <a:t>22</a:t>
            </a:fld>
            <a:endParaRPr kumimoji="1" lang="ja-JP" altLang="en-US"/>
          </a:p>
        </p:txBody>
      </p:sp>
      <p:sp>
        <p:nvSpPr>
          <p:cNvPr id="7" name="テキスト ボックス 6">
            <a:extLst>
              <a:ext uri="{FF2B5EF4-FFF2-40B4-BE49-F238E27FC236}">
                <a16:creationId xmlns:a16="http://schemas.microsoft.com/office/drawing/2014/main" id="{32AF9E53-73C9-8EBE-1484-9BDCE0E8A6EA}"/>
              </a:ext>
            </a:extLst>
          </p:cNvPr>
          <p:cNvSpPr txBox="1"/>
          <p:nvPr/>
        </p:nvSpPr>
        <p:spPr>
          <a:xfrm>
            <a:off x="8207219" y="1471722"/>
            <a:ext cx="3795936" cy="3571187"/>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削減率の平均</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人数管理</a:t>
            </a:r>
            <a:endParaRPr kumimoji="1" lang="en-US" altLang="ja-JP"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状態数：</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-21.9%</a:t>
            </a:r>
          </a:p>
          <a:p>
            <a:pPr marR="0" algn="l" defTabSz="914400" rtl="0" eaLnBrk="1" fontAlgn="auto" latinLnBrk="0" hangingPunct="1">
              <a:lnSpc>
                <a:spcPct val="110000"/>
              </a:lnSpc>
              <a:spcBef>
                <a:spcPts val="1000"/>
              </a:spcBef>
              <a:spcAft>
                <a:spcPts val="0"/>
              </a:spcAft>
              <a:buClrTx/>
              <a:buSzTx/>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遷移数：</a:t>
            </a:r>
            <a:r>
              <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rPr>
              <a:t>-19.9%</a:t>
            </a:r>
          </a:p>
          <a:p>
            <a:pPr marR="0" algn="l" defTabSz="914400" rtl="0" eaLnBrk="1" fontAlgn="auto" latinLnBrk="0" hangingPunct="1">
              <a:lnSpc>
                <a:spcPct val="110000"/>
              </a:lnSpc>
              <a:spcBef>
                <a:spcPts val="1000"/>
              </a:spcBef>
              <a:spcAft>
                <a:spcPts val="0"/>
              </a:spcAft>
              <a:buClrTx/>
              <a:buSzTx/>
              <a:tabLst/>
            </a:pP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defTabSz="914400">
              <a:lnSpc>
                <a:spcPct val="110000"/>
              </a:lnSpc>
              <a:spcBef>
                <a:spcPts val="1000"/>
              </a:spcBef>
            </a:pPr>
            <a:r>
              <a:rPr kumimoji="1" lang="ja-JP" altLang="en-US" sz="1600" b="1">
                <a:solidFill>
                  <a:sysClr val="windowText" lastClr="000000"/>
                </a:solidFill>
                <a:latin typeface="Yu Gothic" panose="020B0400000000000000" pitchFamily="34" charset="-128"/>
                <a:ea typeface="Yu Gothic" panose="020B0400000000000000" pitchFamily="34" charset="-128"/>
              </a:rPr>
              <a:t>自動倉庫管理</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状態数：</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-52.8%</a:t>
            </a: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遷移数：</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-53.3%</a:t>
            </a:r>
          </a:p>
          <a:p>
            <a:pPr marR="0" algn="l" defTabSz="914400" rtl="0" eaLnBrk="1" fontAlgn="auto" latinLnBrk="0" hangingPunct="1">
              <a:lnSpc>
                <a:spcPct val="110000"/>
              </a:lnSpc>
              <a:spcBef>
                <a:spcPts val="1000"/>
              </a:spcBef>
              <a:spcAft>
                <a:spcPts val="0"/>
              </a:spcAft>
              <a:buClrTx/>
              <a:buSzTx/>
              <a:tabLst/>
            </a:pP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R="0" algn="l" defTabSz="914400" rtl="0" eaLnBrk="1" fontAlgn="auto" latinLnBrk="0" hangingPunct="1">
              <a:lnSpc>
                <a:spcPct val="110000"/>
              </a:lnSpc>
              <a:spcBef>
                <a:spcPts val="1000"/>
              </a:spcBef>
              <a:spcAft>
                <a:spcPts val="0"/>
              </a:spcAft>
              <a:buClrTx/>
              <a:buSzTx/>
              <a:tabLst/>
            </a:pP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endParaRPr kumimoji="1" lang="en-US" altLang="ja-JP"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8" name="テキスト ボックス 7">
            <a:extLst>
              <a:ext uri="{FF2B5EF4-FFF2-40B4-BE49-F238E27FC236}">
                <a16:creationId xmlns:a16="http://schemas.microsoft.com/office/drawing/2014/main" id="{CED4A7EE-3A48-1344-19C0-F4C72588CECC}"/>
              </a:ext>
            </a:extLst>
          </p:cNvPr>
          <p:cNvSpPr txBox="1"/>
          <p:nvPr/>
        </p:nvSpPr>
        <p:spPr>
          <a:xfrm>
            <a:off x="306176" y="4849927"/>
            <a:ext cx="11058694" cy="2126529"/>
          </a:xfrm>
          <a:prstGeom prst="rect">
            <a:avLst/>
          </a:prstGeom>
        </p:spPr>
        <p:txBody>
          <a:bodyPr vert="horz" wrap="none" lIns="91440" tIns="45720" rIns="91440" bIns="45720" rtlCol="0">
            <a:norm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RQ1</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a:t>
            </a: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LTS</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の最小化を加えたことで，状態数と遷移数がどれほど削減されたか</a:t>
            </a:r>
            <a:endPar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solidFill>
                  <a:prstClr val="black"/>
                </a:solidFill>
                <a:latin typeface="Yu Gothic Medium" panose="020B0400000000000000" pitchFamily="34" charset="-128"/>
                <a:ea typeface="Yu Gothic Medium" panose="020B0400000000000000" pitchFamily="34" charset="-128"/>
              </a:rPr>
              <a:t>→いずれのシステムでも平均して状態数と遷移数が削減されていることがわかった．</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また，人数管理システム，自動倉庫管理システムのどちらでも</a:t>
            </a:r>
            <a:r>
              <a:rPr kumimoji="1" lang="en-US" altLang="ja-JP" dirty="0">
                <a:solidFill>
                  <a:prstClr val="black"/>
                </a:solidFill>
                <a:latin typeface="Yu Gothic Medium" panose="020B0400000000000000" pitchFamily="34" charset="-128"/>
                <a:ea typeface="Yu Gothic Medium" panose="020B0400000000000000" pitchFamily="34" charset="-128"/>
              </a:rPr>
              <a:t>N,K</a:t>
            </a:r>
            <a:r>
              <a:rPr kumimoji="1" lang="ja-JP" altLang="en-US">
                <a:solidFill>
                  <a:prstClr val="black"/>
                </a:solidFill>
                <a:latin typeface="Yu Gothic Medium" panose="020B0400000000000000" pitchFamily="34" charset="-128"/>
                <a:ea typeface="Yu Gothic Medium" panose="020B0400000000000000" pitchFamily="34" charset="-128"/>
              </a:rPr>
              <a:t>を変えても削減効果はさほど変わらず，</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削減効果の変化に相関はなかった．</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9" name="テキスト ボックス 8">
            <a:extLst>
              <a:ext uri="{FF2B5EF4-FFF2-40B4-BE49-F238E27FC236}">
                <a16:creationId xmlns:a16="http://schemas.microsoft.com/office/drawing/2014/main" id="{8DD5847E-9463-E516-0051-62BBBC11FEF0}"/>
              </a:ext>
            </a:extLst>
          </p:cNvPr>
          <p:cNvSpPr txBox="1"/>
          <p:nvPr/>
        </p:nvSpPr>
        <p:spPr>
          <a:xfrm>
            <a:off x="640401" y="879180"/>
            <a:ext cx="8490347" cy="1031587"/>
          </a:xfrm>
          <a:prstGeom prst="rect">
            <a:avLst/>
          </a:prstGeom>
        </p:spPr>
        <p:txBody>
          <a:bodyPr vert="horz" wrap="none" lIns="91440" tIns="45720" rIns="91440" bIns="45720" rtlCol="0">
            <a:normAutofit fontScale="92500"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Hind" panose="02000000000000000000" pitchFamily="2" charset="0"/>
                <a:ea typeface="Noto Sans JP" panose="020B0200000000000000" pitchFamily="34" charset="-128"/>
              </a:rPr>
              <a:t>人数管理システム：</a:t>
            </a:r>
            <a:r>
              <a:rPr kumimoji="1" lang="en-US" altLang="ja-JP" sz="1600" dirty="0">
                <a:solidFill>
                  <a:sysClr val="windowText" lastClr="000000"/>
                </a:solidFill>
                <a:latin typeface="Hind" panose="02000000000000000000" pitchFamily="2" charset="0"/>
                <a:ea typeface="Noto Sans JP" panose="020B0200000000000000" pitchFamily="34" charset="-128"/>
              </a:rPr>
              <a:t>N</a:t>
            </a:r>
            <a:r>
              <a:rPr kumimoji="1" lang="ja-JP" altLang="en-US" sz="1600">
                <a:solidFill>
                  <a:sysClr val="windowText" lastClr="000000"/>
                </a:solidFill>
                <a:latin typeface="Hind" panose="02000000000000000000" pitchFamily="2" charset="0"/>
                <a:ea typeface="Noto Sans JP" panose="020B0200000000000000" pitchFamily="34" charset="-128"/>
              </a:rPr>
              <a:t>は部屋の数，</a:t>
            </a:r>
            <a:r>
              <a:rPr kumimoji="1" lang="en-US" altLang="ja-JP" sz="1600" dirty="0">
                <a:solidFill>
                  <a:sysClr val="windowText" lastClr="000000"/>
                </a:solidFill>
                <a:latin typeface="Hind" panose="02000000000000000000" pitchFamily="2" charset="0"/>
                <a:ea typeface="Noto Sans JP" panose="020B0200000000000000" pitchFamily="34" charset="-128"/>
              </a:rPr>
              <a:t>K</a:t>
            </a:r>
            <a:r>
              <a:rPr kumimoji="1" lang="ja-JP" altLang="en-US" sz="1600">
                <a:solidFill>
                  <a:sysClr val="windowText" lastClr="000000"/>
                </a:solidFill>
                <a:latin typeface="Hind" panose="02000000000000000000" pitchFamily="2" charset="0"/>
                <a:ea typeface="Noto Sans JP" panose="020B0200000000000000" pitchFamily="34" charset="-128"/>
              </a:rPr>
              <a:t>は人の数</a:t>
            </a:r>
            <a:endPar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自動倉庫管理システム：</a:t>
            </a:r>
            <a:r>
              <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N</a:t>
            </a:r>
            <a:r>
              <a:rPr kumimoji="1" lang="ja-JP" altLang="en-US" sz="160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はロボットの数，</a:t>
            </a:r>
            <a:r>
              <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K</a:t>
            </a:r>
            <a:r>
              <a:rPr kumimoji="1" lang="ja-JP" altLang="en-US" sz="160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は棚の数</a:t>
            </a:r>
            <a:endPar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計算時間＝合成時間＋最小化時間</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5" name="フレーム 4">
            <a:extLst>
              <a:ext uri="{FF2B5EF4-FFF2-40B4-BE49-F238E27FC236}">
                <a16:creationId xmlns:a16="http://schemas.microsoft.com/office/drawing/2014/main" id="{F0668D23-9AAF-7AEE-4C64-F3A84B93426B}"/>
              </a:ext>
            </a:extLst>
          </p:cNvPr>
          <p:cNvSpPr/>
          <p:nvPr/>
        </p:nvSpPr>
        <p:spPr>
          <a:xfrm>
            <a:off x="1232452" y="2178657"/>
            <a:ext cx="803082" cy="2573966"/>
          </a:xfrm>
          <a:prstGeom prst="frame">
            <a:avLst>
              <a:gd name="adj1" fmla="val 358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フレーム 9">
            <a:extLst>
              <a:ext uri="{FF2B5EF4-FFF2-40B4-BE49-F238E27FC236}">
                <a16:creationId xmlns:a16="http://schemas.microsoft.com/office/drawing/2014/main" id="{0BCF6905-C549-0487-CA93-826B5DED3A33}"/>
              </a:ext>
            </a:extLst>
          </p:cNvPr>
          <p:cNvSpPr/>
          <p:nvPr/>
        </p:nvSpPr>
        <p:spPr>
          <a:xfrm>
            <a:off x="3511137" y="2142017"/>
            <a:ext cx="1466379" cy="2573966"/>
          </a:xfrm>
          <a:prstGeom prst="frame">
            <a:avLst>
              <a:gd name="adj1" fmla="val 250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558387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B771-ED14-5212-7A23-5139FE878A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F76A4A-DADB-35C7-3904-A0419BC332F3}"/>
              </a:ext>
            </a:extLst>
          </p:cNvPr>
          <p:cNvSpPr>
            <a:spLocks noGrp="1"/>
          </p:cNvSpPr>
          <p:nvPr>
            <p:ph type="title"/>
          </p:nvPr>
        </p:nvSpPr>
        <p:spPr/>
        <p:txBody>
          <a:bodyPr/>
          <a:lstStyle/>
          <a:p>
            <a:r>
              <a:rPr lang="ja-JP" altLang="en-US"/>
              <a:t>評価：実験結果（</a:t>
            </a:r>
            <a:r>
              <a:rPr lang="en-US" altLang="ja-JP" dirty="0"/>
              <a:t>RQ2</a:t>
            </a:r>
            <a:r>
              <a:rPr lang="ja-JP" altLang="en-US"/>
              <a:t>の評価）</a:t>
            </a:r>
            <a:endParaRPr kumimoji="1" lang="ja-JP" altLang="en-US"/>
          </a:p>
        </p:txBody>
      </p:sp>
      <p:sp>
        <p:nvSpPr>
          <p:cNvPr id="4" name="スライド番号プレースホルダー 3">
            <a:extLst>
              <a:ext uri="{FF2B5EF4-FFF2-40B4-BE49-F238E27FC236}">
                <a16:creationId xmlns:a16="http://schemas.microsoft.com/office/drawing/2014/main" id="{05C43191-6E25-7517-131E-A4BE067C5DAF}"/>
              </a:ext>
            </a:extLst>
          </p:cNvPr>
          <p:cNvSpPr>
            <a:spLocks noGrp="1"/>
          </p:cNvSpPr>
          <p:nvPr>
            <p:ph type="sldNum" sz="quarter" idx="11"/>
          </p:nvPr>
        </p:nvSpPr>
        <p:spPr/>
        <p:txBody>
          <a:bodyPr/>
          <a:lstStyle/>
          <a:p>
            <a:fld id="{E0D93E39-1AFA-2A42-BAF4-0CDD5F6E9A80}" type="slidenum">
              <a:rPr kumimoji="1" lang="ja-JP" altLang="en-US" smtClean="0"/>
              <a:pPr/>
              <a:t>23</a:t>
            </a:fld>
            <a:endParaRPr kumimoji="1" lang="ja-JP" altLang="en-US"/>
          </a:p>
        </p:txBody>
      </p:sp>
      <p:pic>
        <p:nvPicPr>
          <p:cNvPr id="6" name="コンテンツ プレースホルダー 5">
            <a:extLst>
              <a:ext uri="{FF2B5EF4-FFF2-40B4-BE49-F238E27FC236}">
                <a16:creationId xmlns:a16="http://schemas.microsoft.com/office/drawing/2014/main" id="{F0148B54-6415-D436-7EA7-00779D9D292A}"/>
              </a:ext>
            </a:extLst>
          </p:cNvPr>
          <p:cNvPicPr>
            <a:picLocks noGrp="1" noChangeAspect="1"/>
          </p:cNvPicPr>
          <p:nvPr>
            <p:ph sz="quarter" idx="10"/>
          </p:nvPr>
        </p:nvPicPr>
        <p:blipFill>
          <a:blip r:embed="rId3"/>
          <a:srcRect/>
          <a:stretch/>
        </p:blipFill>
        <p:spPr>
          <a:xfrm>
            <a:off x="188844" y="1717041"/>
            <a:ext cx="11668125" cy="3666317"/>
          </a:xfrm>
        </p:spPr>
      </p:pic>
      <p:sp>
        <p:nvSpPr>
          <p:cNvPr id="8" name="テキスト ボックス 7">
            <a:extLst>
              <a:ext uri="{FF2B5EF4-FFF2-40B4-BE49-F238E27FC236}">
                <a16:creationId xmlns:a16="http://schemas.microsoft.com/office/drawing/2014/main" id="{B4D26D38-84D3-B014-FD02-735B865AC389}"/>
              </a:ext>
            </a:extLst>
          </p:cNvPr>
          <p:cNvSpPr txBox="1"/>
          <p:nvPr/>
        </p:nvSpPr>
        <p:spPr>
          <a:xfrm>
            <a:off x="188845" y="929981"/>
            <a:ext cx="8447156" cy="787060"/>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人数管理システム：</a:t>
            </a:r>
            <a:r>
              <a:rPr kumimoji="1" lang="en-US" altLang="ja-JP" sz="1050" dirty="0">
                <a:solidFill>
                  <a:sysClr val="windowText" lastClr="000000"/>
                </a:solidFill>
                <a:latin typeface="Hind" panose="02000000000000000000" pitchFamily="2" charset="0"/>
                <a:ea typeface="Noto Sans JP" panose="020B0200000000000000" pitchFamily="34" charset="-128"/>
              </a:rPr>
              <a:t>N</a:t>
            </a:r>
            <a:r>
              <a:rPr kumimoji="1" lang="ja-JP" altLang="en-US" sz="1050">
                <a:solidFill>
                  <a:sysClr val="windowText" lastClr="000000"/>
                </a:solidFill>
                <a:latin typeface="Hind" panose="02000000000000000000" pitchFamily="2" charset="0"/>
                <a:ea typeface="Noto Sans JP" panose="020B0200000000000000" pitchFamily="34" charset="-128"/>
              </a:rPr>
              <a:t>は部屋の数，</a:t>
            </a:r>
            <a:r>
              <a:rPr kumimoji="1" lang="en-US" altLang="ja-JP" sz="1050" dirty="0">
                <a:solidFill>
                  <a:sysClr val="windowText" lastClr="000000"/>
                </a:solidFill>
                <a:latin typeface="Hind" panose="02000000000000000000" pitchFamily="2" charset="0"/>
                <a:ea typeface="Noto Sans JP" panose="020B0200000000000000" pitchFamily="34" charset="-128"/>
              </a:rPr>
              <a:t>K</a:t>
            </a:r>
            <a:r>
              <a:rPr kumimoji="1" lang="ja-JP" altLang="en-US" sz="1050">
                <a:solidFill>
                  <a:sysClr val="windowText" lastClr="000000"/>
                </a:solidFill>
                <a:latin typeface="Hind" panose="02000000000000000000" pitchFamily="2" charset="0"/>
                <a:ea typeface="Noto Sans JP" panose="020B0200000000000000" pitchFamily="34" charset="-128"/>
              </a:rPr>
              <a:t>は人の数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自動倉庫管理システム：</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N</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はロボットの数，</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K</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は棚の数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計算時間＝合成時間＋最小化時間</a:t>
            </a:r>
            <a:endParaRPr kumimoji="1" lang="ja-JP" altLang="en-US"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3" name="テキスト ボックス 2">
            <a:extLst>
              <a:ext uri="{FF2B5EF4-FFF2-40B4-BE49-F238E27FC236}">
                <a16:creationId xmlns:a16="http://schemas.microsoft.com/office/drawing/2014/main" id="{00B84B7C-2EB1-5464-C886-CDE4DA91E24F}"/>
              </a:ext>
            </a:extLst>
          </p:cNvPr>
          <p:cNvSpPr txBox="1"/>
          <p:nvPr/>
        </p:nvSpPr>
        <p:spPr>
          <a:xfrm>
            <a:off x="188843" y="5255256"/>
            <a:ext cx="11058694" cy="2126529"/>
          </a:xfrm>
          <a:prstGeom prst="rect">
            <a:avLst/>
          </a:prstGeom>
        </p:spPr>
        <p:txBody>
          <a:bodyPr vert="horz" wrap="none" lIns="91440" tIns="45720" rIns="91440" bIns="45720" rtlCol="0">
            <a:norm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RQ1</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a:t>
            </a:r>
            <a:r>
              <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rPr>
              <a:t>LTS</a:t>
            </a:r>
            <a:r>
              <a:rPr kumimoji="1" lang="ja-JP" altLang="en-US" sz="2400" b="1"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の最小化を加えたことで，状態数と遷移数がどれほど削減されたか</a:t>
            </a:r>
            <a:endParaRPr kumimoji="1" lang="en-US" altLang="ja-JP" sz="2400" b="1" u="none" strike="noStrike" kern="1200" cap="none" spc="0" normalizeH="0" baseline="0" noProof="0" dirty="0">
              <a:ln>
                <a:noFill/>
              </a:ln>
              <a:solidFill>
                <a:prstClr val="black"/>
              </a:solidFill>
              <a:effectLst/>
              <a:uLnTx/>
              <a:uFillTx/>
              <a:latin typeface="Yu Gothic" panose="020B0400000000000000" pitchFamily="34" charset="-128"/>
              <a:ea typeface="Yu Gothic" panose="020B0400000000000000" pitchFamily="34" charset="-128"/>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solidFill>
                  <a:prstClr val="black"/>
                </a:solidFill>
                <a:latin typeface="Yu Gothic Medium" panose="020B0400000000000000" pitchFamily="34" charset="-128"/>
                <a:ea typeface="Yu Gothic Medium" panose="020B0400000000000000" pitchFamily="34" charset="-128"/>
              </a:rPr>
              <a:t>→いずれのシステムでも平均して状態数と遷移数が削減されていることがわかった．</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また，人数管理システム，自動倉庫管理システムのどちらでも</a:t>
            </a:r>
            <a:r>
              <a:rPr kumimoji="1" lang="en-US" altLang="ja-JP" dirty="0">
                <a:solidFill>
                  <a:prstClr val="black"/>
                </a:solidFill>
                <a:latin typeface="Yu Gothic Medium" panose="020B0400000000000000" pitchFamily="34" charset="-128"/>
                <a:ea typeface="Yu Gothic Medium" panose="020B0400000000000000" pitchFamily="34" charset="-128"/>
              </a:rPr>
              <a:t>N,K</a:t>
            </a:r>
            <a:r>
              <a:rPr kumimoji="1" lang="ja-JP" altLang="en-US">
                <a:solidFill>
                  <a:prstClr val="black"/>
                </a:solidFill>
                <a:latin typeface="Yu Gothic Medium" panose="020B0400000000000000" pitchFamily="34" charset="-128"/>
                <a:ea typeface="Yu Gothic Medium" panose="020B0400000000000000" pitchFamily="34" charset="-128"/>
              </a:rPr>
              <a:t>を変えても削減効果はさほど変わらず，</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削減効果の変化に相関はなかった．</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7" name="フレーム 6">
            <a:extLst>
              <a:ext uri="{FF2B5EF4-FFF2-40B4-BE49-F238E27FC236}">
                <a16:creationId xmlns:a16="http://schemas.microsoft.com/office/drawing/2014/main" id="{61CF9019-2C24-E615-E253-BE7F1451F4B3}"/>
              </a:ext>
            </a:extLst>
          </p:cNvPr>
          <p:cNvSpPr/>
          <p:nvPr/>
        </p:nvSpPr>
        <p:spPr>
          <a:xfrm>
            <a:off x="1146875" y="1969846"/>
            <a:ext cx="1184845" cy="3346073"/>
          </a:xfrm>
          <a:prstGeom prst="frame">
            <a:avLst>
              <a:gd name="adj1" fmla="val 358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フレーム 8">
            <a:extLst>
              <a:ext uri="{FF2B5EF4-FFF2-40B4-BE49-F238E27FC236}">
                <a16:creationId xmlns:a16="http://schemas.microsoft.com/office/drawing/2014/main" id="{C4C1774E-2A8C-3548-ED6A-913218706AE1}"/>
              </a:ext>
            </a:extLst>
          </p:cNvPr>
          <p:cNvSpPr/>
          <p:nvPr/>
        </p:nvSpPr>
        <p:spPr>
          <a:xfrm>
            <a:off x="4770895" y="1969845"/>
            <a:ext cx="2280834" cy="3346073"/>
          </a:xfrm>
          <a:prstGeom prst="frame">
            <a:avLst>
              <a:gd name="adj1" fmla="val 223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4241698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726C6-DB16-9486-95E2-229A438204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8E900A-D2BE-DF92-B4B9-68253D39C6D1}"/>
              </a:ext>
            </a:extLst>
          </p:cNvPr>
          <p:cNvSpPr>
            <a:spLocks noGrp="1"/>
          </p:cNvSpPr>
          <p:nvPr>
            <p:ph type="title"/>
          </p:nvPr>
        </p:nvSpPr>
        <p:spPr/>
        <p:txBody>
          <a:bodyPr/>
          <a:lstStyle/>
          <a:p>
            <a:r>
              <a:rPr kumimoji="1" lang="ja-JP" altLang="en-US"/>
              <a:t>評価：実験結果（</a:t>
            </a:r>
            <a:r>
              <a:rPr kumimoji="1" lang="en-US" altLang="ja-JP" dirty="0"/>
              <a:t>RQ2</a:t>
            </a:r>
            <a:r>
              <a:rPr kumimoji="1" lang="ja-JP" altLang="en-US"/>
              <a:t>の評価）</a:t>
            </a:r>
          </a:p>
        </p:txBody>
      </p:sp>
      <p:pic>
        <p:nvPicPr>
          <p:cNvPr id="6" name="コンテンツ プレースホルダー 5">
            <a:extLst>
              <a:ext uri="{FF2B5EF4-FFF2-40B4-BE49-F238E27FC236}">
                <a16:creationId xmlns:a16="http://schemas.microsoft.com/office/drawing/2014/main" id="{BFED9D0F-A638-5CC6-CFB7-3F9AD6B4B014}"/>
              </a:ext>
            </a:extLst>
          </p:cNvPr>
          <p:cNvPicPr>
            <a:picLocks noGrp="1" noChangeAspect="1"/>
          </p:cNvPicPr>
          <p:nvPr>
            <p:ph sz="quarter" idx="10"/>
          </p:nvPr>
        </p:nvPicPr>
        <p:blipFill>
          <a:blip r:embed="rId3"/>
          <a:srcRect/>
          <a:stretch/>
        </p:blipFill>
        <p:spPr>
          <a:xfrm>
            <a:off x="188844" y="1761371"/>
            <a:ext cx="9125243" cy="3408537"/>
          </a:xfrm>
        </p:spPr>
      </p:pic>
      <p:sp>
        <p:nvSpPr>
          <p:cNvPr id="4" name="スライド番号プレースホルダー 3">
            <a:extLst>
              <a:ext uri="{FF2B5EF4-FFF2-40B4-BE49-F238E27FC236}">
                <a16:creationId xmlns:a16="http://schemas.microsoft.com/office/drawing/2014/main" id="{814DE1D5-DE30-BA6E-FDF9-C129B112D251}"/>
              </a:ext>
            </a:extLst>
          </p:cNvPr>
          <p:cNvSpPr>
            <a:spLocks noGrp="1"/>
          </p:cNvSpPr>
          <p:nvPr>
            <p:ph type="sldNum" sz="quarter" idx="11"/>
          </p:nvPr>
        </p:nvSpPr>
        <p:spPr/>
        <p:txBody>
          <a:bodyPr/>
          <a:lstStyle/>
          <a:p>
            <a:fld id="{E0D93E39-1AFA-2A42-BAF4-0CDD5F6E9A80}" type="slidenum">
              <a:rPr kumimoji="1" lang="ja-JP" altLang="en-US" smtClean="0"/>
              <a:pPr/>
              <a:t>24</a:t>
            </a:fld>
            <a:endParaRPr kumimoji="1" lang="ja-JP" altLang="en-US"/>
          </a:p>
        </p:txBody>
      </p:sp>
      <p:sp>
        <p:nvSpPr>
          <p:cNvPr id="7" name="テキスト ボックス 6">
            <a:extLst>
              <a:ext uri="{FF2B5EF4-FFF2-40B4-BE49-F238E27FC236}">
                <a16:creationId xmlns:a16="http://schemas.microsoft.com/office/drawing/2014/main" id="{71C0CEFA-C9A2-9F84-7DAC-CEF6F1D0A07E}"/>
              </a:ext>
            </a:extLst>
          </p:cNvPr>
          <p:cNvSpPr txBox="1"/>
          <p:nvPr/>
        </p:nvSpPr>
        <p:spPr>
          <a:xfrm>
            <a:off x="9248940" y="1554466"/>
            <a:ext cx="3795936" cy="3571187"/>
          </a:xfrm>
          <a:prstGeom prst="rect">
            <a:avLst/>
          </a:prstGeom>
        </p:spPr>
        <p:txBody>
          <a:bodyPr vert="horz" wrap="none" lIns="91440" tIns="45720" rIns="91440" bIns="45720" rtlCol="0">
            <a:normAutofit/>
          </a:bodyPr>
          <a:lstStyle/>
          <a:p>
            <a:pPr defTabSz="914400">
              <a:lnSpc>
                <a:spcPct val="110000"/>
              </a:lnSpc>
              <a:spcBef>
                <a:spcPts val="1000"/>
              </a:spcBef>
            </a:pPr>
            <a:r>
              <a:rPr kumimoji="1" lang="ja-JP" altLang="en-US" sz="1600" b="1">
                <a:solidFill>
                  <a:sysClr val="windowText" lastClr="000000"/>
                </a:solidFill>
                <a:latin typeface="Yu Gothic" panose="020B0400000000000000" pitchFamily="34" charset="-128"/>
                <a:ea typeface="Yu Gothic" panose="020B0400000000000000" pitchFamily="34" charset="-128"/>
              </a:rPr>
              <a:t>削減率の平均</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a:p>
            <a:pPr defTabSz="914400">
              <a:lnSpc>
                <a:spcPct val="110000"/>
              </a:lnSpc>
              <a:spcBef>
                <a:spcPts val="1000"/>
              </a:spcBef>
            </a:pPr>
            <a:r>
              <a:rPr kumimoji="1" lang="ja-JP" altLang="en-US" sz="1600" b="1">
                <a:solidFill>
                  <a:sysClr val="windowText" lastClr="000000"/>
                </a:solidFill>
                <a:latin typeface="Yu Gothic" panose="020B0400000000000000" pitchFamily="34" charset="-128"/>
                <a:ea typeface="Yu Gothic" panose="020B0400000000000000" pitchFamily="34" charset="-128"/>
              </a:rPr>
              <a:t>人数管理</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主記憶量：</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+168.8%</a:t>
            </a: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計算時間：</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+667.3%</a:t>
            </a:r>
          </a:p>
          <a:p>
            <a:pPr defTabSz="914400">
              <a:lnSpc>
                <a:spcPct val="110000"/>
              </a:lnSpc>
              <a:spcBef>
                <a:spcPts val="1000"/>
              </a:spcBef>
            </a:pPr>
            <a:endParaRPr kumimoji="1" lang="en-US" altLang="ja-JP" sz="1600" dirty="0">
              <a:solidFill>
                <a:sysClr val="windowText" lastClr="000000"/>
              </a:solidFill>
              <a:latin typeface="Yu Gothic Medium" panose="020B0400000000000000" pitchFamily="34" charset="-128"/>
              <a:ea typeface="Yu Gothic Medium" panose="020B0400000000000000" pitchFamily="34" charset="-128"/>
            </a:endParaRPr>
          </a:p>
          <a:p>
            <a:pPr defTabSz="914400">
              <a:lnSpc>
                <a:spcPct val="110000"/>
              </a:lnSpc>
              <a:spcBef>
                <a:spcPts val="1000"/>
              </a:spcBef>
            </a:pPr>
            <a:r>
              <a:rPr kumimoji="1" lang="ja-JP" altLang="en-US" sz="1600" b="1">
                <a:solidFill>
                  <a:sysClr val="windowText" lastClr="000000"/>
                </a:solidFill>
                <a:latin typeface="Yu Gothic" panose="020B0400000000000000" pitchFamily="34" charset="-128"/>
                <a:ea typeface="Yu Gothic" panose="020B0400000000000000" pitchFamily="34" charset="-128"/>
              </a:rPr>
              <a:t>自動倉庫管理</a:t>
            </a:r>
            <a:endParaRPr kumimoji="1" lang="en-US" altLang="ja-JP" sz="1600" b="1" dirty="0">
              <a:solidFill>
                <a:sysClr val="windowText" lastClr="000000"/>
              </a:solidFill>
              <a:latin typeface="Yu Gothic" panose="020B0400000000000000" pitchFamily="34" charset="-128"/>
              <a:ea typeface="Yu Gothic" panose="020B0400000000000000" pitchFamily="34" charset="-128"/>
            </a:endParaRP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主記憶量：</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-50.0%</a:t>
            </a:r>
          </a:p>
          <a:p>
            <a:pPr defTabSz="914400">
              <a:lnSpc>
                <a:spcPct val="110000"/>
              </a:lnSpc>
              <a:spcBef>
                <a:spcPts val="1000"/>
              </a:spcBef>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計算時間：</a:t>
            </a:r>
            <a:r>
              <a:rPr kumimoji="1" lang="en-US" altLang="ja-JP" sz="1600" dirty="0">
                <a:solidFill>
                  <a:sysClr val="windowText" lastClr="000000"/>
                </a:solidFill>
                <a:latin typeface="Yu Gothic Medium" panose="020B0400000000000000" pitchFamily="34" charset="-128"/>
                <a:ea typeface="Yu Gothic Medium" panose="020B0400000000000000" pitchFamily="34" charset="-128"/>
              </a:rPr>
              <a:t>-23.3%</a:t>
            </a:r>
          </a:p>
          <a:p>
            <a:pPr marR="0" algn="l" defTabSz="914400" rtl="0" eaLnBrk="1" fontAlgn="auto" latinLnBrk="0" hangingPunct="1">
              <a:lnSpc>
                <a:spcPct val="110000"/>
              </a:lnSpc>
              <a:spcBef>
                <a:spcPts val="1000"/>
              </a:spcBef>
              <a:spcAft>
                <a:spcPts val="0"/>
              </a:spcAft>
              <a:buClrTx/>
              <a:buSzTx/>
              <a:tabLst/>
            </a:pP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R="0" algn="l" defTabSz="914400" rtl="0" eaLnBrk="1" fontAlgn="auto" latinLnBrk="0" hangingPunct="1">
              <a:lnSpc>
                <a:spcPct val="110000"/>
              </a:lnSpc>
              <a:spcBef>
                <a:spcPts val="1000"/>
              </a:spcBef>
              <a:spcAft>
                <a:spcPts val="0"/>
              </a:spcAft>
              <a:buClrTx/>
              <a:buSzTx/>
              <a:tabLst/>
            </a:pP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ct val="110000"/>
              </a:lnSpc>
              <a:spcBef>
                <a:spcPts val="1000"/>
              </a:spcBef>
              <a:spcAft>
                <a:spcPts val="0"/>
              </a:spcAft>
              <a:buClrTx/>
              <a:buSzTx/>
              <a:buFontTx/>
              <a:buNone/>
              <a:tabLst/>
            </a:pPr>
            <a:endParaRPr kumimoji="1" lang="en-US" altLang="ja-JP" sz="1600" b="1"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8" name="テキスト ボックス 7">
            <a:extLst>
              <a:ext uri="{FF2B5EF4-FFF2-40B4-BE49-F238E27FC236}">
                <a16:creationId xmlns:a16="http://schemas.microsoft.com/office/drawing/2014/main" id="{07C0AF53-1A26-E94B-D4FD-6411AED1F144}"/>
              </a:ext>
            </a:extLst>
          </p:cNvPr>
          <p:cNvSpPr txBox="1"/>
          <p:nvPr/>
        </p:nvSpPr>
        <p:spPr>
          <a:xfrm>
            <a:off x="329326" y="5319523"/>
            <a:ext cx="11058694" cy="2126529"/>
          </a:xfrm>
          <a:prstGeom prst="rect">
            <a:avLst/>
          </a:prstGeom>
        </p:spPr>
        <p:txBody>
          <a:bodyPr vert="horz" wrap="none" lIns="91440" tIns="45720" rIns="91440" bIns="45720" rtlCol="0">
            <a:normAutofit/>
          </a:bodyPr>
          <a:lstStyle/>
          <a:p>
            <a:pPr lvl="0" defTabSz="914400">
              <a:lnSpc>
                <a:spcPct val="120000"/>
              </a:lnSpc>
              <a:defRPr/>
            </a:pPr>
            <a:r>
              <a:rPr kumimoji="1" lang="en-US" altLang="ja-JP" sz="2400" b="1" dirty="0">
                <a:solidFill>
                  <a:prstClr val="black"/>
                </a:solidFill>
                <a:latin typeface="Yu Gothic" panose="020B0400000000000000" pitchFamily="34" charset="-128"/>
                <a:ea typeface="Yu Gothic" panose="020B0400000000000000" pitchFamily="34" charset="-128"/>
              </a:rPr>
              <a:t>RQ2</a:t>
            </a:r>
            <a:r>
              <a:rPr kumimoji="1" lang="ja-JP" altLang="en-US" sz="2400" b="1">
                <a:solidFill>
                  <a:prstClr val="black"/>
                </a:solidFill>
                <a:latin typeface="Yu Gothic" panose="020B0400000000000000" pitchFamily="34" charset="-128"/>
                <a:ea typeface="Yu Gothic" panose="020B0400000000000000" pitchFamily="34" charset="-128"/>
              </a:rPr>
              <a:t>．</a:t>
            </a:r>
            <a:r>
              <a:rPr kumimoji="1" lang="en-US" altLang="ja-JP" sz="2400" b="1" dirty="0">
                <a:solidFill>
                  <a:prstClr val="black"/>
                </a:solidFill>
                <a:latin typeface="Yu Gothic" panose="020B0400000000000000" pitchFamily="34" charset="-128"/>
                <a:ea typeface="Yu Gothic" panose="020B0400000000000000" pitchFamily="34" charset="-128"/>
              </a:rPr>
              <a:t>LTS</a:t>
            </a:r>
            <a:r>
              <a:rPr kumimoji="1" lang="ja-JP" altLang="en-US" sz="2400" b="1">
                <a:solidFill>
                  <a:prstClr val="black"/>
                </a:solidFill>
                <a:latin typeface="Yu Gothic" panose="020B0400000000000000" pitchFamily="34" charset="-128"/>
                <a:ea typeface="Yu Gothic" panose="020B0400000000000000" pitchFamily="34" charset="-128"/>
              </a:rPr>
              <a:t>の最小化を加えたことで，主記憶量と計算時間がどれほど削減されたか</a:t>
            </a:r>
            <a:endParaRPr kumimoji="1" lang="en-US" altLang="ja-JP" sz="3200" b="1" dirty="0">
              <a:solidFill>
                <a:prstClr val="black"/>
              </a:solidFill>
              <a:latin typeface="Yu Gothic" panose="020B0400000000000000" pitchFamily="34" charset="-128"/>
              <a:ea typeface="Yu Gothic" panose="020B0400000000000000" pitchFamily="34" charset="-128"/>
            </a:endParaRPr>
          </a:p>
          <a:p>
            <a:pPr lvl="0" defTabSz="914400">
              <a:lnSpc>
                <a:spcPct val="120000"/>
              </a:lnSpc>
              <a:defRPr/>
            </a:pPr>
            <a:r>
              <a:rPr kumimoji="1" lang="ja-JP" altLang="en-US">
                <a:solidFill>
                  <a:prstClr val="black"/>
                </a:solidFill>
                <a:latin typeface="Yu Gothic Medium" panose="020B0400000000000000" pitchFamily="34" charset="-128"/>
                <a:ea typeface="Yu Gothic Medium" panose="020B0400000000000000" pitchFamily="34" charset="-128"/>
              </a:rPr>
              <a:t>→自動倉庫管理システムでは，主記憶量と計算時間が削減されたが，人数管理システムでは増加した．</a:t>
            </a:r>
            <a:br>
              <a:rPr kumimoji="1" lang="en-US" altLang="ja-JP" dirty="0">
                <a:solidFill>
                  <a:prstClr val="black"/>
                </a:solidFill>
                <a:latin typeface="Yu Gothic Medium" panose="020B0400000000000000" pitchFamily="34" charset="-128"/>
                <a:ea typeface="Yu Gothic Medium" panose="020B0400000000000000" pitchFamily="34" charset="-128"/>
              </a:rPr>
            </a:br>
            <a:r>
              <a:rPr kumimoji="1" lang="ja-JP" altLang="en-US">
                <a:solidFill>
                  <a:prstClr val="black"/>
                </a:solidFill>
                <a:latin typeface="Yu Gothic Medium" panose="020B0400000000000000" pitchFamily="34" charset="-128"/>
                <a:ea typeface="Yu Gothic Medium" panose="020B0400000000000000" pitchFamily="34" charset="-128"/>
              </a:rPr>
              <a:t>　また，人数管理システムでは</a:t>
            </a:r>
            <a:r>
              <a:rPr kumimoji="1" lang="en-US" altLang="ja-JP" dirty="0">
                <a:solidFill>
                  <a:prstClr val="black"/>
                </a:solidFill>
                <a:latin typeface="Yu Gothic Medium" panose="020B0400000000000000" pitchFamily="34" charset="-128"/>
                <a:ea typeface="Yu Gothic Medium" panose="020B0400000000000000" pitchFamily="34" charset="-128"/>
              </a:rPr>
              <a:t>N</a:t>
            </a:r>
            <a:r>
              <a:rPr kumimoji="1" lang="ja-JP" altLang="en-US">
                <a:solidFill>
                  <a:prstClr val="black"/>
                </a:solidFill>
                <a:latin typeface="Yu Gothic Medium" panose="020B0400000000000000" pitchFamily="34" charset="-128"/>
                <a:ea typeface="Yu Gothic Medium" panose="020B0400000000000000" pitchFamily="34" charset="-128"/>
              </a:rPr>
              <a:t>の値が大きいほど主記憶量と計算時間が大きいことがわかる．</a:t>
            </a:r>
            <a:endParaRPr kumimoji="1" lang="en-US" altLang="ja-JP" dirty="0">
              <a:solidFill>
                <a:prstClr val="black"/>
              </a:solidFill>
              <a:latin typeface="Yu Gothic Medium" panose="020B0400000000000000" pitchFamily="34" charset="-128"/>
              <a:ea typeface="Yu Gothic Medium" panose="020B0400000000000000" pitchFamily="34" charset="-128"/>
            </a:endParaRPr>
          </a:p>
        </p:txBody>
      </p:sp>
      <p:sp>
        <p:nvSpPr>
          <p:cNvPr id="9" name="テキスト ボックス 8">
            <a:extLst>
              <a:ext uri="{FF2B5EF4-FFF2-40B4-BE49-F238E27FC236}">
                <a16:creationId xmlns:a16="http://schemas.microsoft.com/office/drawing/2014/main" id="{CF7626F7-7204-4ABC-1340-EDB58E2A12FA}"/>
              </a:ext>
            </a:extLst>
          </p:cNvPr>
          <p:cNvSpPr txBox="1"/>
          <p:nvPr/>
        </p:nvSpPr>
        <p:spPr>
          <a:xfrm>
            <a:off x="640401" y="879180"/>
            <a:ext cx="8490347" cy="1031587"/>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人数管理システム：</a:t>
            </a:r>
            <a:r>
              <a:rPr kumimoji="1" lang="en-US" altLang="ja-JP" sz="1050" dirty="0">
                <a:solidFill>
                  <a:sysClr val="windowText" lastClr="000000"/>
                </a:solidFill>
                <a:latin typeface="Hind" panose="02000000000000000000" pitchFamily="2" charset="0"/>
                <a:ea typeface="Noto Sans JP" panose="020B0200000000000000" pitchFamily="34" charset="-128"/>
              </a:rPr>
              <a:t>N</a:t>
            </a:r>
            <a:r>
              <a:rPr kumimoji="1" lang="ja-JP" altLang="en-US" sz="1050">
                <a:solidFill>
                  <a:sysClr val="windowText" lastClr="000000"/>
                </a:solidFill>
                <a:latin typeface="Hind" panose="02000000000000000000" pitchFamily="2" charset="0"/>
                <a:ea typeface="Noto Sans JP" panose="020B0200000000000000" pitchFamily="34" charset="-128"/>
              </a:rPr>
              <a:t>は部屋の数，</a:t>
            </a:r>
            <a:r>
              <a:rPr kumimoji="1" lang="en-US" altLang="ja-JP" sz="1050" dirty="0">
                <a:solidFill>
                  <a:sysClr val="windowText" lastClr="000000"/>
                </a:solidFill>
                <a:latin typeface="Hind" panose="02000000000000000000" pitchFamily="2" charset="0"/>
                <a:ea typeface="Noto Sans JP" panose="020B0200000000000000" pitchFamily="34" charset="-128"/>
              </a:rPr>
              <a:t>K</a:t>
            </a:r>
            <a:r>
              <a:rPr kumimoji="1" lang="ja-JP" altLang="en-US" sz="1050">
                <a:solidFill>
                  <a:sysClr val="windowText" lastClr="000000"/>
                </a:solidFill>
                <a:latin typeface="Hind" panose="02000000000000000000" pitchFamily="2" charset="0"/>
                <a:ea typeface="Noto Sans JP" panose="020B0200000000000000" pitchFamily="34" charset="-128"/>
              </a:rPr>
              <a:t>は人の数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自動倉庫管理システム：</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N</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はロボットの数，</a:t>
            </a:r>
            <a:r>
              <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K</a:t>
            </a:r>
            <a:r>
              <a:rPr kumimoji="1" lang="ja-JP" altLang="en-US" sz="1050" b="0" i="0" u="none" strike="noStrike" kern="1200" cap="none" spc="0" normalizeH="0" noProof="0">
                <a:ln>
                  <a:noFill/>
                </a:ln>
                <a:solidFill>
                  <a:sysClr val="windowText" lastClr="000000"/>
                </a:solidFill>
                <a:effectLst/>
                <a:uLnTx/>
                <a:uFillTx/>
                <a:latin typeface="Hind" panose="02000000000000000000" pitchFamily="2" charset="0"/>
                <a:ea typeface="Noto Sans JP" panose="020B0200000000000000" pitchFamily="34" charset="-128"/>
                <a:cs typeface="+mn-cs"/>
              </a:rPr>
              <a:t>は棚の数</a:t>
            </a:r>
            <a:endParaRPr kumimoji="1" lang="en-US" altLang="ja-JP"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050">
                <a:solidFill>
                  <a:sysClr val="windowText" lastClr="000000"/>
                </a:solidFill>
                <a:latin typeface="Hind" panose="02000000000000000000" pitchFamily="2" charset="0"/>
                <a:ea typeface="Noto Sans JP" panose="020B0200000000000000" pitchFamily="34" charset="-128"/>
              </a:rPr>
              <a:t>計算時間＝合成時間＋最小化時間</a:t>
            </a:r>
            <a:endParaRPr kumimoji="1" lang="ja-JP" altLang="en-US" sz="105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3" name="フレーム 2">
            <a:extLst>
              <a:ext uri="{FF2B5EF4-FFF2-40B4-BE49-F238E27FC236}">
                <a16:creationId xmlns:a16="http://schemas.microsoft.com/office/drawing/2014/main" id="{1D18ED49-2968-1D8E-B2B7-4EAE691DB1A1}"/>
              </a:ext>
            </a:extLst>
          </p:cNvPr>
          <p:cNvSpPr/>
          <p:nvPr/>
        </p:nvSpPr>
        <p:spPr>
          <a:xfrm>
            <a:off x="1906292" y="2008069"/>
            <a:ext cx="1924928" cy="3117584"/>
          </a:xfrm>
          <a:prstGeom prst="frame">
            <a:avLst>
              <a:gd name="adj1" fmla="val 250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フレーム 4">
            <a:extLst>
              <a:ext uri="{FF2B5EF4-FFF2-40B4-BE49-F238E27FC236}">
                <a16:creationId xmlns:a16="http://schemas.microsoft.com/office/drawing/2014/main" id="{CEA5DF0E-EBE9-1DDE-EBA9-EA8772899FF6}"/>
              </a:ext>
            </a:extLst>
          </p:cNvPr>
          <p:cNvSpPr/>
          <p:nvPr/>
        </p:nvSpPr>
        <p:spPr>
          <a:xfrm>
            <a:off x="5548668" y="2008069"/>
            <a:ext cx="3700272" cy="3117584"/>
          </a:xfrm>
          <a:prstGeom prst="frame">
            <a:avLst>
              <a:gd name="adj1" fmla="val 158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888908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53BC5C-7C9F-D2C4-F94A-18C9DFF6B6C4}"/>
              </a:ext>
            </a:extLst>
          </p:cNvPr>
          <p:cNvSpPr>
            <a:spLocks noGrp="1"/>
          </p:cNvSpPr>
          <p:nvPr>
            <p:ph type="title"/>
          </p:nvPr>
        </p:nvSpPr>
        <p:spPr/>
        <p:txBody>
          <a:bodyPr/>
          <a:lstStyle/>
          <a:p>
            <a:r>
              <a:rPr lang="ja-JP" altLang="en-US"/>
              <a:t>評価：実験結果（</a:t>
            </a:r>
            <a:r>
              <a:rPr lang="en-US" altLang="ja-JP" dirty="0"/>
              <a:t>RQ2</a:t>
            </a:r>
            <a:r>
              <a:rPr lang="ja-JP" altLang="en-US"/>
              <a:t>の評価）</a:t>
            </a:r>
            <a:endParaRPr kumimoji="1" lang="ja-JP" altLang="en-US"/>
          </a:p>
        </p:txBody>
      </p:sp>
      <p:sp>
        <p:nvSpPr>
          <p:cNvPr id="3" name="コンテンツ プレースホルダー 2">
            <a:extLst>
              <a:ext uri="{FF2B5EF4-FFF2-40B4-BE49-F238E27FC236}">
                <a16:creationId xmlns:a16="http://schemas.microsoft.com/office/drawing/2014/main" id="{2781D363-07B7-1E18-E49D-4BE4E79D0D8C}"/>
              </a:ext>
            </a:extLst>
          </p:cNvPr>
          <p:cNvSpPr>
            <a:spLocks noGrp="1"/>
          </p:cNvSpPr>
          <p:nvPr>
            <p:ph sz="quarter" idx="10"/>
          </p:nvPr>
        </p:nvSpPr>
        <p:spPr/>
        <p:txBody>
          <a:bodyPr/>
          <a:lstStyle/>
          <a:p>
            <a:pPr marL="0" indent="0">
              <a:buNone/>
            </a:pPr>
            <a:r>
              <a:rPr kumimoji="1" lang="en-US" altLang="ja-JP" sz="2400" b="1" dirty="0">
                <a:latin typeface="Yu Gothic" panose="020B0400000000000000" pitchFamily="34" charset="-128"/>
                <a:ea typeface="Yu Gothic" panose="020B0400000000000000" pitchFamily="34" charset="-128"/>
              </a:rPr>
              <a:t>1</a:t>
            </a:r>
            <a:r>
              <a:rPr kumimoji="1" lang="ja-JP" altLang="en-US" sz="2400" b="1">
                <a:latin typeface="Yu Gothic" panose="020B0400000000000000" pitchFamily="34" charset="-128"/>
                <a:ea typeface="Yu Gothic" panose="020B0400000000000000" pitchFamily="34" charset="-128"/>
              </a:rPr>
              <a:t>つのシステムの計算空間の詳細</a:t>
            </a:r>
            <a:endParaRPr kumimoji="1" lang="en-US" altLang="ja-JP" sz="2400" b="1" dirty="0">
              <a:latin typeface="Yu Gothic" panose="020B0400000000000000" pitchFamily="34" charset="-128"/>
              <a:ea typeface="Yu Gothic" panose="020B0400000000000000" pitchFamily="34" charset="-128"/>
            </a:endParaRPr>
          </a:p>
          <a:p>
            <a:pPr marL="0" indent="0">
              <a:buNone/>
            </a:pPr>
            <a:r>
              <a:rPr lang="ja-JP" altLang="en-US"/>
              <a:t>　人数管理システムの</a:t>
            </a:r>
            <a:r>
              <a:rPr lang="en-US" altLang="ja-JP" dirty="0"/>
              <a:t>N=6, K=4</a:t>
            </a:r>
            <a:r>
              <a:rPr lang="ja-JP" altLang="en-US"/>
              <a:t>の場合に各部分合成での合成と最小化の際の状態数と時間を計測</a:t>
            </a:r>
            <a:endParaRPr kumimoji="1" lang="en-US" altLang="ja-JP" dirty="0"/>
          </a:p>
          <a:p>
            <a:pPr marL="0" indent="0">
              <a:buNone/>
            </a:pPr>
            <a:endParaRPr kumimoji="1" lang="ja-JP" altLang="en-US" b="1">
              <a:latin typeface="Yu Gothic" panose="020B0400000000000000" pitchFamily="34" charset="-128"/>
              <a:ea typeface="Yu Gothic" panose="020B0400000000000000" pitchFamily="34" charset="-128"/>
            </a:endParaRPr>
          </a:p>
        </p:txBody>
      </p:sp>
      <p:sp>
        <p:nvSpPr>
          <p:cNvPr id="4" name="スライド番号プレースホルダー 3">
            <a:extLst>
              <a:ext uri="{FF2B5EF4-FFF2-40B4-BE49-F238E27FC236}">
                <a16:creationId xmlns:a16="http://schemas.microsoft.com/office/drawing/2014/main" id="{5E305B84-3D38-D4CE-A391-AF52943E7475}"/>
              </a:ext>
            </a:extLst>
          </p:cNvPr>
          <p:cNvSpPr>
            <a:spLocks noGrp="1"/>
          </p:cNvSpPr>
          <p:nvPr>
            <p:ph type="sldNum" sz="quarter" idx="11"/>
          </p:nvPr>
        </p:nvSpPr>
        <p:spPr/>
        <p:txBody>
          <a:bodyPr/>
          <a:lstStyle/>
          <a:p>
            <a:fld id="{E0D93E39-1AFA-2A42-BAF4-0CDD5F6E9A80}" type="slidenum">
              <a:rPr kumimoji="1" lang="ja-JP" altLang="en-US" smtClean="0"/>
              <a:pPr/>
              <a:t>25</a:t>
            </a:fld>
            <a:endParaRPr kumimoji="1" lang="ja-JP" altLang="en-US"/>
          </a:p>
        </p:txBody>
      </p:sp>
      <p:pic>
        <p:nvPicPr>
          <p:cNvPr id="6" name="図 5" descr="テーブル&#10;&#10;AI 生成コンテンツは誤りを含む可能性があります。">
            <a:extLst>
              <a:ext uri="{FF2B5EF4-FFF2-40B4-BE49-F238E27FC236}">
                <a16:creationId xmlns:a16="http://schemas.microsoft.com/office/drawing/2014/main" id="{E62587DF-F918-AC62-B5FE-A50BCBF69B67}"/>
              </a:ext>
            </a:extLst>
          </p:cNvPr>
          <p:cNvPicPr>
            <a:picLocks noChangeAspect="1"/>
          </p:cNvPicPr>
          <p:nvPr/>
        </p:nvPicPr>
        <p:blipFill>
          <a:blip r:embed="rId3"/>
          <a:stretch>
            <a:fillRect/>
          </a:stretch>
        </p:blipFill>
        <p:spPr>
          <a:xfrm>
            <a:off x="334962" y="1812945"/>
            <a:ext cx="3535017" cy="4909220"/>
          </a:xfrm>
          <a:prstGeom prst="rect">
            <a:avLst/>
          </a:prstGeom>
        </p:spPr>
      </p:pic>
      <p:sp>
        <p:nvSpPr>
          <p:cNvPr id="7" name="フレーム 6">
            <a:extLst>
              <a:ext uri="{FF2B5EF4-FFF2-40B4-BE49-F238E27FC236}">
                <a16:creationId xmlns:a16="http://schemas.microsoft.com/office/drawing/2014/main" id="{0BA830D8-2C81-78F1-F3E7-61D04D62F76E}"/>
              </a:ext>
            </a:extLst>
          </p:cNvPr>
          <p:cNvSpPr/>
          <p:nvPr/>
        </p:nvSpPr>
        <p:spPr>
          <a:xfrm>
            <a:off x="1867712" y="2037347"/>
            <a:ext cx="680176" cy="4684818"/>
          </a:xfrm>
          <a:prstGeom prst="frame">
            <a:avLst>
              <a:gd name="adj1" fmla="val 416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フレーム 7">
            <a:extLst>
              <a:ext uri="{FF2B5EF4-FFF2-40B4-BE49-F238E27FC236}">
                <a16:creationId xmlns:a16="http://schemas.microsoft.com/office/drawing/2014/main" id="{B5B30C56-E2D2-8A5C-A215-A13C35300EE1}"/>
              </a:ext>
            </a:extLst>
          </p:cNvPr>
          <p:cNvSpPr/>
          <p:nvPr/>
        </p:nvSpPr>
        <p:spPr>
          <a:xfrm>
            <a:off x="3109610" y="2037347"/>
            <a:ext cx="680176" cy="4684818"/>
          </a:xfrm>
          <a:prstGeom prst="frame">
            <a:avLst>
              <a:gd name="adj1" fmla="val 416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833458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918C3B-E4CB-72E9-EA48-9FFF34B72D1B}"/>
              </a:ext>
            </a:extLst>
          </p:cNvPr>
          <p:cNvSpPr>
            <a:spLocks noGrp="1"/>
          </p:cNvSpPr>
          <p:nvPr>
            <p:ph type="title"/>
          </p:nvPr>
        </p:nvSpPr>
        <p:spPr/>
        <p:txBody>
          <a:bodyPr/>
          <a:lstStyle/>
          <a:p>
            <a:r>
              <a:rPr kumimoji="1" lang="ja-JP" altLang="en-US"/>
              <a:t>評価：総括</a:t>
            </a:r>
          </a:p>
        </p:txBody>
      </p:sp>
      <p:sp>
        <p:nvSpPr>
          <p:cNvPr id="3" name="コンテンツ プレースホルダー 2">
            <a:extLst>
              <a:ext uri="{FF2B5EF4-FFF2-40B4-BE49-F238E27FC236}">
                <a16:creationId xmlns:a16="http://schemas.microsoft.com/office/drawing/2014/main" id="{C993E84C-2B48-2684-7D87-DFC72EDDD38F}"/>
              </a:ext>
            </a:extLst>
          </p:cNvPr>
          <p:cNvSpPr>
            <a:spLocks noGrp="1"/>
          </p:cNvSpPr>
          <p:nvPr>
            <p:ph sz="quarter" idx="10"/>
          </p:nvPr>
        </p:nvSpPr>
        <p:spPr>
          <a:xfrm>
            <a:off x="188844" y="947058"/>
            <a:ext cx="11933582" cy="5474824"/>
          </a:xfrm>
        </p:spPr>
        <p:txBody>
          <a:bodyPr/>
          <a:lstStyle/>
          <a:p>
            <a:pPr marL="0" indent="0">
              <a:buNone/>
            </a:pPr>
            <a:r>
              <a:rPr kumimoji="1" lang="ja-JP" altLang="en-US" sz="2400" b="1">
                <a:latin typeface="Yu Gothic" panose="020B0400000000000000" pitchFamily="34" charset="-128"/>
                <a:ea typeface="Yu Gothic" panose="020B0400000000000000" pitchFamily="34" charset="-128"/>
              </a:rPr>
              <a:t>実験結果の分析</a:t>
            </a:r>
            <a:endParaRPr kumimoji="1" lang="en-US" altLang="ja-JP" sz="2400" b="1" dirty="0">
              <a:latin typeface="Yu Gothic" panose="020B0400000000000000" pitchFamily="34" charset="-128"/>
              <a:ea typeface="Yu Gothic" panose="020B0400000000000000" pitchFamily="34" charset="-128"/>
            </a:endParaRPr>
          </a:p>
          <a:p>
            <a:r>
              <a:rPr kumimoji="1" lang="ja-JP" altLang="en-US"/>
              <a:t>状態数と遷移数に関しては，いずれのシステムでも削減が見られ，</a:t>
            </a:r>
            <a:br>
              <a:rPr kumimoji="1" lang="en-US" altLang="ja-JP" dirty="0"/>
            </a:br>
            <a:r>
              <a:rPr kumimoji="1" lang="en-US" altLang="ja-JP" dirty="0"/>
              <a:t>LTS</a:t>
            </a:r>
            <a:r>
              <a:rPr kumimoji="1" lang="ja-JP" altLang="en-US"/>
              <a:t>の最小化が状態数と遷移数の削減に効果的であることが確認できた．</a:t>
            </a:r>
            <a:endParaRPr kumimoji="1" lang="en-US" altLang="ja-JP" dirty="0"/>
          </a:p>
          <a:p>
            <a:r>
              <a:rPr kumimoji="1" lang="ja-JP" altLang="en-US"/>
              <a:t>主記憶量と計算時間に関しては，自動倉庫管理システムでは削減されたが人数管理システムでは増加したため，</a:t>
            </a:r>
            <a:br>
              <a:rPr kumimoji="1" lang="en-US" altLang="ja-JP" dirty="0"/>
            </a:br>
            <a:r>
              <a:rPr kumimoji="1" lang="en-US" altLang="ja-JP" dirty="0"/>
              <a:t>LTS</a:t>
            </a:r>
            <a:r>
              <a:rPr kumimoji="1" lang="ja-JP" altLang="en-US"/>
              <a:t>の最小化が主記憶量と計算時間の削減に効果的であることは確認できなかった．</a:t>
            </a:r>
            <a:endParaRPr kumimoji="1" lang="en-US" altLang="ja-JP" dirty="0"/>
          </a:p>
          <a:p>
            <a:endParaRPr lang="en-US" altLang="ja-JP" dirty="0"/>
          </a:p>
          <a:p>
            <a:pPr marL="0" indent="0">
              <a:buNone/>
            </a:pPr>
            <a:r>
              <a:rPr lang="ja-JP" altLang="en-US" sz="2400" b="1">
                <a:latin typeface="Yu Gothic" panose="020B0400000000000000" pitchFamily="34" charset="-128"/>
                <a:ea typeface="Yu Gothic" panose="020B0400000000000000" pitchFamily="34" charset="-128"/>
              </a:rPr>
              <a:t>提案手法の限界</a:t>
            </a:r>
            <a:endParaRPr kumimoji="1" lang="en-US" altLang="ja-JP" sz="2400" b="1" dirty="0">
              <a:latin typeface="Yu Gothic" panose="020B0400000000000000" pitchFamily="34" charset="-128"/>
              <a:ea typeface="Yu Gothic" panose="020B0400000000000000" pitchFamily="34" charset="-128"/>
            </a:endParaRPr>
          </a:p>
          <a:p>
            <a:r>
              <a:rPr kumimoji="1" lang="en-US" altLang="ja-JP" dirty="0"/>
              <a:t>LTS</a:t>
            </a:r>
            <a:r>
              <a:rPr kumimoji="1" lang="ja-JP" altLang="en-US"/>
              <a:t>の最小化を加えたことによる追加の主記憶量と計算時間が無視できないほどに大きかった．</a:t>
            </a:r>
            <a:endParaRPr lang="en-US" altLang="ja-JP" dirty="0"/>
          </a:p>
          <a:p>
            <a:pPr marL="0" indent="0">
              <a:buNone/>
            </a:pPr>
            <a:endParaRPr kumimoji="1" lang="en-US" altLang="ja-JP" dirty="0"/>
          </a:p>
          <a:p>
            <a:pPr marL="0" indent="0">
              <a:buNone/>
            </a:pPr>
            <a:r>
              <a:rPr lang="ja-JP" altLang="en-US" sz="2400" b="1">
                <a:latin typeface="Yu Gothic" panose="020B0400000000000000" pitchFamily="34" charset="-128"/>
                <a:ea typeface="Yu Gothic" panose="020B0400000000000000" pitchFamily="34" charset="-128"/>
              </a:rPr>
              <a:t>今後の展望</a:t>
            </a:r>
            <a:endParaRPr lang="en-US" altLang="ja-JP" sz="2400" b="1" dirty="0">
              <a:latin typeface="Yu Gothic" panose="020B0400000000000000" pitchFamily="34" charset="-128"/>
              <a:ea typeface="Yu Gothic" panose="020B0400000000000000" pitchFamily="34" charset="-128"/>
            </a:endParaRPr>
          </a:p>
          <a:p>
            <a:r>
              <a:rPr lang="en-US" altLang="ja-JP" dirty="0"/>
              <a:t>LTS</a:t>
            </a:r>
            <a:r>
              <a:rPr lang="ja-JP" altLang="en-US"/>
              <a:t>の最小化を用いる段階を，全段階ではなく，効果的な段階のみに適用することで</a:t>
            </a:r>
            <a:r>
              <a:rPr lang="en-US" altLang="ja-JP" dirty="0"/>
              <a:t>LTS</a:t>
            </a:r>
            <a:r>
              <a:rPr lang="ja-JP" altLang="en-US"/>
              <a:t>の最小化を効果的に用いる研究を進めていく．</a:t>
            </a:r>
            <a:endParaRPr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D3DF25C6-F6AE-23FB-D8DD-DE8DEBFB86AA}"/>
              </a:ext>
            </a:extLst>
          </p:cNvPr>
          <p:cNvSpPr>
            <a:spLocks noGrp="1"/>
          </p:cNvSpPr>
          <p:nvPr>
            <p:ph type="sldNum" sz="quarter" idx="11"/>
          </p:nvPr>
        </p:nvSpPr>
        <p:spPr/>
        <p:txBody>
          <a:bodyPr/>
          <a:lstStyle/>
          <a:p>
            <a:fld id="{E0D93E39-1AFA-2A42-BAF4-0CDD5F6E9A80}" type="slidenum">
              <a:rPr kumimoji="1" lang="ja-JP" altLang="en-US" smtClean="0"/>
              <a:pPr/>
              <a:t>26</a:t>
            </a:fld>
            <a:endParaRPr kumimoji="1" lang="ja-JP" altLang="en-US"/>
          </a:p>
        </p:txBody>
      </p:sp>
    </p:spTree>
    <p:extLst>
      <p:ext uri="{BB962C8B-B14F-4D97-AF65-F5344CB8AC3E}">
        <p14:creationId xmlns:p14="http://schemas.microsoft.com/office/powerpoint/2010/main" val="1713220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E33B7-F84C-DE99-011B-6F695E7BDC28}"/>
              </a:ext>
            </a:extLst>
          </p:cNvPr>
          <p:cNvSpPr>
            <a:spLocks noGrp="1"/>
          </p:cNvSpPr>
          <p:nvPr>
            <p:ph type="title"/>
          </p:nvPr>
        </p:nvSpPr>
        <p:spPr/>
        <p:txBody>
          <a:bodyPr/>
          <a:lstStyle/>
          <a:p>
            <a:r>
              <a:rPr kumimoji="1" lang="ja-JP" altLang="en-US"/>
              <a:t>今後の展望</a:t>
            </a:r>
            <a:r>
              <a:rPr lang="ja-JP" altLang="en-US"/>
              <a:t>：</a:t>
            </a:r>
            <a:r>
              <a:rPr kumimoji="1" lang="ja-JP" altLang="en-US"/>
              <a:t>最小化にかかる時間</a:t>
            </a:r>
          </a:p>
        </p:txBody>
      </p:sp>
      <p:sp>
        <p:nvSpPr>
          <p:cNvPr id="3" name="コンテンツ プレースホルダー 2">
            <a:extLst>
              <a:ext uri="{FF2B5EF4-FFF2-40B4-BE49-F238E27FC236}">
                <a16:creationId xmlns:a16="http://schemas.microsoft.com/office/drawing/2014/main" id="{0EC6FE08-A45A-1CCD-3AA4-86C8D461294F}"/>
              </a:ext>
            </a:extLst>
          </p:cNvPr>
          <p:cNvSpPr>
            <a:spLocks noGrp="1"/>
          </p:cNvSpPr>
          <p:nvPr>
            <p:ph sz="quarter" idx="10"/>
          </p:nvPr>
        </p:nvSpPr>
        <p:spPr/>
        <p:txBody>
          <a:bodyPr/>
          <a:lstStyle/>
          <a:p>
            <a:pPr marL="0" indent="0">
              <a:buNone/>
            </a:pPr>
            <a:r>
              <a:rPr lang="ja-JP" altLang="en-US"/>
              <a:t>提案手法の限界</a:t>
            </a:r>
            <a:r>
              <a:rPr kumimoji="1" lang="ja-JP" altLang="en-US"/>
              <a:t>の解決のために，人数管理システムの各段階の部分合成の後の最小化の時間を計測</a:t>
            </a:r>
          </a:p>
        </p:txBody>
      </p:sp>
      <p:sp>
        <p:nvSpPr>
          <p:cNvPr id="4" name="スライド番号プレースホルダー 3">
            <a:extLst>
              <a:ext uri="{FF2B5EF4-FFF2-40B4-BE49-F238E27FC236}">
                <a16:creationId xmlns:a16="http://schemas.microsoft.com/office/drawing/2014/main" id="{17DB5131-0583-9B50-BEAE-9EF2449CD12F}"/>
              </a:ext>
            </a:extLst>
          </p:cNvPr>
          <p:cNvSpPr>
            <a:spLocks noGrp="1"/>
          </p:cNvSpPr>
          <p:nvPr>
            <p:ph type="sldNum" sz="quarter" idx="11"/>
          </p:nvPr>
        </p:nvSpPr>
        <p:spPr/>
        <p:txBody>
          <a:bodyPr/>
          <a:lstStyle/>
          <a:p>
            <a:fld id="{E0D93E39-1AFA-2A42-BAF4-0CDD5F6E9A80}" type="slidenum">
              <a:rPr kumimoji="1" lang="ja-JP" altLang="en-US" smtClean="0"/>
              <a:pPr/>
              <a:t>27</a:t>
            </a:fld>
            <a:endParaRPr kumimoji="1" lang="ja-JP" altLang="en-US"/>
          </a:p>
        </p:txBody>
      </p:sp>
      <p:graphicFrame>
        <p:nvGraphicFramePr>
          <p:cNvPr id="5" name="表 4">
            <a:extLst>
              <a:ext uri="{FF2B5EF4-FFF2-40B4-BE49-F238E27FC236}">
                <a16:creationId xmlns:a16="http://schemas.microsoft.com/office/drawing/2014/main" id="{769FB88D-4CFE-67E0-6852-EDD3209DB7D4}"/>
              </a:ext>
            </a:extLst>
          </p:cNvPr>
          <p:cNvGraphicFramePr>
            <a:graphicFrameLocks noGrp="1"/>
          </p:cNvGraphicFramePr>
          <p:nvPr>
            <p:extLst>
              <p:ext uri="{D42A27DB-BD31-4B8C-83A1-F6EECF244321}">
                <p14:modId xmlns:p14="http://schemas.microsoft.com/office/powerpoint/2010/main" val="3652471440"/>
              </p:ext>
            </p:extLst>
          </p:nvPr>
        </p:nvGraphicFramePr>
        <p:xfrm>
          <a:off x="1215483" y="1516566"/>
          <a:ext cx="7915265" cy="4958333"/>
        </p:xfrm>
        <a:graphic>
          <a:graphicData uri="http://schemas.openxmlformats.org/drawingml/2006/table">
            <a:tbl>
              <a:tblPr firstRow="1" bandRow="1">
                <a:tableStyleId>{5C22544A-7EE6-4342-B048-85BDC9FD1C3A}</a:tableStyleId>
              </a:tblPr>
              <a:tblGrid>
                <a:gridCol w="2759667">
                  <a:extLst>
                    <a:ext uri="{9D8B030D-6E8A-4147-A177-3AD203B41FA5}">
                      <a16:colId xmlns:a16="http://schemas.microsoft.com/office/drawing/2014/main" val="2158723330"/>
                    </a:ext>
                  </a:extLst>
                </a:gridCol>
                <a:gridCol w="2577799">
                  <a:extLst>
                    <a:ext uri="{9D8B030D-6E8A-4147-A177-3AD203B41FA5}">
                      <a16:colId xmlns:a16="http://schemas.microsoft.com/office/drawing/2014/main" val="180398132"/>
                    </a:ext>
                  </a:extLst>
                </a:gridCol>
                <a:gridCol w="2577799">
                  <a:extLst>
                    <a:ext uri="{9D8B030D-6E8A-4147-A177-3AD203B41FA5}">
                      <a16:colId xmlns:a16="http://schemas.microsoft.com/office/drawing/2014/main" val="4061949162"/>
                    </a:ext>
                  </a:extLst>
                </a:gridCol>
              </a:tblGrid>
              <a:tr h="351707">
                <a:tc rowSpan="2">
                  <a:txBody>
                    <a:bodyPr/>
                    <a:lstStyle/>
                    <a:p>
                      <a:r>
                        <a:rPr kumimoji="1" lang="ja-JP" altLang="en-US">
                          <a:solidFill>
                            <a:sysClr val="windowText" lastClr="000000"/>
                          </a:solidFill>
                        </a:rPr>
                        <a:t>何回目の部分合成か</a:t>
                      </a:r>
                    </a:p>
                  </a:txBody>
                  <a:tcPr>
                    <a:solidFill>
                      <a:schemeClr val="tx2">
                        <a:lumMod val="20000"/>
                        <a:lumOff val="80000"/>
                      </a:schemeClr>
                    </a:solidFill>
                  </a:tcPr>
                </a:tc>
                <a:tc>
                  <a:txBody>
                    <a:bodyPr/>
                    <a:lstStyle/>
                    <a:p>
                      <a:r>
                        <a:rPr kumimoji="1" lang="en-US" altLang="ja-JP" dirty="0">
                          <a:solidFill>
                            <a:sysClr val="windowText" lastClr="000000"/>
                          </a:solidFill>
                        </a:rPr>
                        <a:t>N=5, K=4</a:t>
                      </a:r>
                      <a:endParaRPr kumimoji="1" lang="ja-JP" altLang="en-US">
                        <a:solidFill>
                          <a:sysClr val="windowText" lastClr="000000"/>
                        </a:solidFill>
                      </a:endParaRPr>
                    </a:p>
                  </a:txBody>
                  <a:tcPr>
                    <a:solidFill>
                      <a:schemeClr val="tx2">
                        <a:lumMod val="20000"/>
                        <a:lumOff val="80000"/>
                      </a:schemeClr>
                    </a:solidFill>
                  </a:tcPr>
                </a:tc>
                <a:tc>
                  <a:txBody>
                    <a:bodyPr/>
                    <a:lstStyle/>
                    <a:p>
                      <a:r>
                        <a:rPr kumimoji="1" lang="en-US" altLang="ja-JP" dirty="0">
                          <a:solidFill>
                            <a:sysClr val="windowText" lastClr="000000"/>
                          </a:solidFill>
                        </a:rPr>
                        <a:t>N=6, K=4</a:t>
                      </a:r>
                      <a:endParaRPr kumimoji="1" lang="ja-JP" altLang="en-US">
                        <a:solidFill>
                          <a:sysClr val="windowText" lastClr="000000"/>
                        </a:solidFill>
                      </a:endParaRPr>
                    </a:p>
                  </a:txBody>
                  <a:tcPr>
                    <a:solidFill>
                      <a:schemeClr val="tx2">
                        <a:lumMod val="20000"/>
                        <a:lumOff val="80000"/>
                      </a:schemeClr>
                    </a:solidFill>
                  </a:tcPr>
                </a:tc>
                <a:extLst>
                  <a:ext uri="{0D108BD9-81ED-4DB2-BD59-A6C34878D82A}">
                    <a16:rowId xmlns:a16="http://schemas.microsoft.com/office/drawing/2014/main" val="2950594321"/>
                  </a:ext>
                </a:extLst>
              </a:tr>
              <a:tr h="569213">
                <a:tc vMerge="1">
                  <a:txBody>
                    <a:bodyPr/>
                    <a:lstStyle/>
                    <a:p>
                      <a:endParaRPr dirty="0"/>
                    </a:p>
                  </a:txBody>
                  <a:tcPr>
                    <a:solidFill>
                      <a:schemeClr val="tx2">
                        <a:lumMod val="20000"/>
                        <a:lumOff val="80000"/>
                      </a:schemeClr>
                    </a:solidFill>
                  </a:tcPr>
                </a:tc>
                <a:tc gridSpan="2">
                  <a:txBody>
                    <a:bodyPr/>
                    <a:lstStyle/>
                    <a:p>
                      <a:pPr algn="ctr"/>
                      <a:r>
                        <a:rPr kumimoji="1" lang="ja-JP" altLang="en-US" b="1" i="0">
                          <a:solidFill>
                            <a:sysClr val="windowText" lastClr="000000"/>
                          </a:solidFill>
                          <a:latin typeface="Yu Gothic" panose="020B0400000000000000" pitchFamily="34" charset="-128"/>
                          <a:ea typeface="Yu Gothic" panose="020B0400000000000000" pitchFamily="34" charset="-128"/>
                        </a:rPr>
                        <a:t>最小化にかかる時間</a:t>
                      </a:r>
                    </a:p>
                  </a:txBody>
                  <a:tcPr>
                    <a:solidFill>
                      <a:schemeClr val="tx2">
                        <a:lumMod val="20000"/>
                        <a:lumOff val="80000"/>
                      </a:schemeClr>
                    </a:solidFill>
                  </a:tcPr>
                </a:tc>
                <a:tc hMerge="1">
                  <a:txBody>
                    <a:bodyPr/>
                    <a:lstStyle/>
                    <a:p>
                      <a:endParaRPr kumimoji="1" lang="ja-JP" altLang="en-US">
                        <a:solidFill>
                          <a:sysClr val="windowText" lastClr="000000"/>
                        </a:solidFill>
                      </a:endParaRPr>
                    </a:p>
                  </a:txBody>
                  <a:tcPr>
                    <a:solidFill>
                      <a:schemeClr val="tx2">
                        <a:lumMod val="20000"/>
                        <a:lumOff val="80000"/>
                      </a:schemeClr>
                    </a:solidFill>
                  </a:tcPr>
                </a:tc>
                <a:extLst>
                  <a:ext uri="{0D108BD9-81ED-4DB2-BD59-A6C34878D82A}">
                    <a16:rowId xmlns:a16="http://schemas.microsoft.com/office/drawing/2014/main" val="3540546140"/>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1</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p>
                  </a:txBody>
                  <a:tcPr>
                    <a:solidFill>
                      <a:schemeClr val="bg2">
                        <a:lumMod val="20000"/>
                        <a:lumOff val="80000"/>
                      </a:schemeClr>
                    </a:solidFill>
                  </a:tcPr>
                </a:tc>
                <a:tc>
                  <a:txBody>
                    <a:bodyPr/>
                    <a:lstStyle/>
                    <a:p>
                      <a:r>
                        <a:rPr kumimoji="1" lang="en-US" altLang="ja-JP" dirty="0">
                          <a:solidFill>
                            <a:sysClr val="windowText" lastClr="000000"/>
                          </a:solidFill>
                        </a:rPr>
                        <a:t>0</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0</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2107782926"/>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2</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0</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1</a:t>
                      </a:r>
                      <a:endParaRPr kumimoji="1" lang="ja-JP" altLang="en-US">
                        <a:solidFill>
                          <a:sysClr val="windowText" lastClr="000000"/>
                        </a:solidFill>
                      </a:endParaRPr>
                    </a:p>
                  </a:txBody>
                  <a:tcPr>
                    <a:solidFill>
                      <a:schemeClr val="bg1"/>
                    </a:solidFill>
                  </a:tcPr>
                </a:tc>
                <a:extLst>
                  <a:ext uri="{0D108BD9-81ED-4DB2-BD59-A6C34878D82A}">
                    <a16:rowId xmlns:a16="http://schemas.microsoft.com/office/drawing/2014/main" val="3050741491"/>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3</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2</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2</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2766723510"/>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4</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4</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3</a:t>
                      </a:r>
                      <a:endParaRPr kumimoji="1" lang="ja-JP" altLang="en-US">
                        <a:solidFill>
                          <a:sysClr val="windowText" lastClr="000000"/>
                        </a:solidFill>
                      </a:endParaRPr>
                    </a:p>
                  </a:txBody>
                  <a:tcPr>
                    <a:solidFill>
                      <a:schemeClr val="bg1"/>
                    </a:solidFill>
                  </a:tcPr>
                </a:tc>
                <a:extLst>
                  <a:ext uri="{0D108BD9-81ED-4DB2-BD59-A6C34878D82A}">
                    <a16:rowId xmlns:a16="http://schemas.microsoft.com/office/drawing/2014/main" val="1103429536"/>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5</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8</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8</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3698243306"/>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6</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24</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50</a:t>
                      </a:r>
                      <a:endParaRPr kumimoji="1" lang="ja-JP" altLang="en-US">
                        <a:solidFill>
                          <a:sysClr val="windowText" lastClr="000000"/>
                        </a:solidFill>
                      </a:endParaRPr>
                    </a:p>
                  </a:txBody>
                  <a:tcPr>
                    <a:solidFill>
                      <a:schemeClr val="bg1"/>
                    </a:solidFill>
                  </a:tcPr>
                </a:tc>
                <a:extLst>
                  <a:ext uri="{0D108BD9-81ED-4DB2-BD59-A6C34878D82A}">
                    <a16:rowId xmlns:a16="http://schemas.microsoft.com/office/drawing/2014/main" val="3736976596"/>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7</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28</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35</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762568674"/>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8</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159</a:t>
                      </a:r>
                      <a:endParaRPr kumimoji="1" lang="ja-JP" altLang="en-US">
                        <a:solidFill>
                          <a:sysClr val="windowText" lastClr="000000"/>
                        </a:solidFill>
                      </a:endParaRPr>
                    </a:p>
                  </a:txBody>
                  <a:tcPr>
                    <a:solidFill>
                      <a:schemeClr val="bg1"/>
                    </a:solidFill>
                  </a:tcPr>
                </a:tc>
                <a:tc>
                  <a:txBody>
                    <a:bodyPr/>
                    <a:lstStyle/>
                    <a:p>
                      <a:r>
                        <a:rPr kumimoji="1" lang="en-US" altLang="ja-JP" dirty="0">
                          <a:solidFill>
                            <a:sysClr val="windowText" lastClr="000000"/>
                          </a:solidFill>
                        </a:rPr>
                        <a:t>95</a:t>
                      </a:r>
                      <a:endParaRPr kumimoji="1" lang="ja-JP" altLang="en-US">
                        <a:solidFill>
                          <a:sysClr val="windowText" lastClr="000000"/>
                        </a:solidFill>
                      </a:endParaRPr>
                    </a:p>
                  </a:txBody>
                  <a:tcPr>
                    <a:solidFill>
                      <a:schemeClr val="bg1"/>
                    </a:solidFill>
                  </a:tcPr>
                </a:tc>
                <a:extLst>
                  <a:ext uri="{0D108BD9-81ED-4DB2-BD59-A6C34878D82A}">
                    <a16:rowId xmlns:a16="http://schemas.microsoft.com/office/drawing/2014/main" val="1684553850"/>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9</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rgbClr val="FF0000"/>
                          </a:solidFill>
                        </a:rPr>
                        <a:t>1,111</a:t>
                      </a:r>
                      <a:endParaRPr kumimoji="1" lang="ja-JP" altLang="en-US">
                        <a:solidFill>
                          <a:srgbClr val="FF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312</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1015980210"/>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10</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912</a:t>
                      </a:r>
                      <a:endParaRPr kumimoji="1" lang="ja-JP" altLang="en-US">
                        <a:solidFill>
                          <a:sysClr val="windowText" lastClr="000000"/>
                        </a:solidFill>
                      </a:endParaRPr>
                    </a:p>
                  </a:txBody>
                  <a:tcPr>
                    <a:solidFill>
                      <a:schemeClr val="bg2">
                        <a:lumMod val="20000"/>
                        <a:lumOff val="80000"/>
                      </a:schemeClr>
                    </a:solidFill>
                  </a:tcPr>
                </a:tc>
                <a:extLst>
                  <a:ext uri="{0D108BD9-81ED-4DB2-BD59-A6C34878D82A}">
                    <a16:rowId xmlns:a16="http://schemas.microsoft.com/office/drawing/2014/main" val="2870688460"/>
                  </a:ext>
                </a:extLst>
              </a:tr>
              <a:tr h="351707">
                <a:tc>
                  <a:txBody>
                    <a:bodyPr/>
                    <a:lstStyle/>
                    <a:p>
                      <a:r>
                        <a:rPr kumimoji="1" lang="en-US" altLang="ja-JP" b="0" i="0" dirty="0">
                          <a:solidFill>
                            <a:sysClr val="windowText" lastClr="000000"/>
                          </a:solidFill>
                          <a:latin typeface="Yu Gothic Medium" panose="020B0400000000000000" pitchFamily="34" charset="-128"/>
                          <a:ea typeface="Yu Gothic Medium" panose="020B0400000000000000" pitchFamily="34" charset="-128"/>
                        </a:rPr>
                        <a:t>11</a:t>
                      </a:r>
                      <a:r>
                        <a:rPr kumimoji="1" lang="ja-JP" altLang="en-US" b="0" i="0">
                          <a:solidFill>
                            <a:sysClr val="windowText" lastClr="000000"/>
                          </a:solidFill>
                          <a:latin typeface="Yu Gothic Medium" panose="020B0400000000000000" pitchFamily="34" charset="-128"/>
                          <a:ea typeface="Yu Gothic Medium" panose="020B0400000000000000" pitchFamily="34" charset="-128"/>
                        </a:rPr>
                        <a:t>回目</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ysClr val="windowText" lastClr="000000"/>
                          </a:solidFill>
                        </a:rPr>
                        <a:t>-</a:t>
                      </a:r>
                      <a:endParaRPr kumimoji="1" lang="ja-JP" altLang="en-US">
                        <a:solidFill>
                          <a:sysClr val="windowText" lastClr="000000"/>
                        </a:solidFill>
                      </a:endParaRPr>
                    </a:p>
                  </a:txBody>
                  <a:tcPr>
                    <a:solidFill>
                      <a:schemeClr val="bg2">
                        <a:lumMod val="20000"/>
                        <a:lumOff val="80000"/>
                      </a:schemeClr>
                    </a:solidFill>
                  </a:tcPr>
                </a:tc>
                <a:tc>
                  <a:txBody>
                    <a:bodyPr/>
                    <a:lstStyle/>
                    <a:p>
                      <a:r>
                        <a:rPr kumimoji="1" lang="en-US" altLang="ja-JP" dirty="0">
                          <a:solidFill>
                            <a:srgbClr val="FF0000"/>
                          </a:solidFill>
                        </a:rPr>
                        <a:t>19,787</a:t>
                      </a:r>
                      <a:endParaRPr kumimoji="1" lang="ja-JP" altLang="en-US">
                        <a:solidFill>
                          <a:srgbClr val="FF0000"/>
                        </a:solidFill>
                      </a:endParaRPr>
                    </a:p>
                  </a:txBody>
                  <a:tcPr>
                    <a:solidFill>
                      <a:schemeClr val="bg2">
                        <a:lumMod val="20000"/>
                        <a:lumOff val="80000"/>
                      </a:schemeClr>
                    </a:solidFill>
                  </a:tcPr>
                </a:tc>
                <a:extLst>
                  <a:ext uri="{0D108BD9-81ED-4DB2-BD59-A6C34878D82A}">
                    <a16:rowId xmlns:a16="http://schemas.microsoft.com/office/drawing/2014/main" val="1258325599"/>
                  </a:ext>
                </a:extLst>
              </a:tr>
            </a:tbl>
          </a:graphicData>
        </a:graphic>
      </p:graphicFrame>
      <p:sp>
        <p:nvSpPr>
          <p:cNvPr id="6" name="テキスト ボックス 5">
            <a:extLst>
              <a:ext uri="{FF2B5EF4-FFF2-40B4-BE49-F238E27FC236}">
                <a16:creationId xmlns:a16="http://schemas.microsoft.com/office/drawing/2014/main" id="{54EA5798-2700-0525-466B-1ED4A5784D5C}"/>
              </a:ext>
            </a:extLst>
          </p:cNvPr>
          <p:cNvSpPr txBox="1"/>
          <p:nvPr/>
        </p:nvSpPr>
        <p:spPr>
          <a:xfrm>
            <a:off x="9675913" y="3684470"/>
            <a:ext cx="2123491" cy="1431758"/>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rgbClr val="FF0000"/>
                </a:solidFill>
                <a:effectLst/>
                <a:uLnTx/>
                <a:uFillTx/>
                <a:latin typeface="Yu Gothic Medium" panose="020B0400000000000000" pitchFamily="34" charset="-128"/>
                <a:ea typeface="Yu Gothic Medium" panose="020B0400000000000000" pitchFamily="34" charset="-128"/>
              </a:rPr>
              <a:t>赤字</a:t>
            </a:r>
            <a:r>
              <a:rPr kumimoji="1" lang="ja-JP" altLang="en-US" sz="1600" u="none" strike="noStrike" kern="1200" cap="none" spc="0" normalizeH="0" noProof="0">
                <a:ln>
                  <a:noFill/>
                </a:ln>
                <a:effectLst/>
                <a:uLnTx/>
                <a:uFillTx/>
                <a:latin typeface="Yu Gothic Medium" panose="020B0400000000000000" pitchFamily="34" charset="-128"/>
                <a:ea typeface="Yu Gothic Medium" panose="020B0400000000000000" pitchFamily="34" charset="-128"/>
              </a:rPr>
              <a:t>の段階の最小化がボトルネックとなっていると考えられる</a:t>
            </a:r>
            <a:endParaRPr kumimoji="1" lang="ja-JP" altLang="en-US" sz="1600" u="none" strike="noStrike" kern="1200" cap="none" spc="0" normalizeH="0" noProof="0" dirty="0">
              <a:ln>
                <a:noFill/>
              </a:ln>
              <a:effectLst/>
              <a:uLnTx/>
              <a:uFillTx/>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86943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06BFE3-1DF6-0699-D9A8-9AE837A2602E}"/>
              </a:ext>
            </a:extLst>
          </p:cNvPr>
          <p:cNvSpPr>
            <a:spLocks noGrp="1"/>
          </p:cNvSpPr>
          <p:nvPr>
            <p:ph type="title"/>
          </p:nvPr>
        </p:nvSpPr>
        <p:spPr/>
        <p:txBody>
          <a:bodyPr/>
          <a:lstStyle/>
          <a:p>
            <a:r>
              <a:rPr kumimoji="1" lang="ja-JP" altLang="en-US"/>
              <a:t>今後の展望：効果的な</a:t>
            </a:r>
            <a:r>
              <a:rPr kumimoji="1" lang="en-US" altLang="ja-JP" dirty="0"/>
              <a:t>LTS</a:t>
            </a:r>
            <a:r>
              <a:rPr kumimoji="1" lang="ja-JP" altLang="en-US"/>
              <a:t>最小化の適用</a:t>
            </a:r>
          </a:p>
        </p:txBody>
      </p:sp>
      <p:sp>
        <p:nvSpPr>
          <p:cNvPr id="3" name="コンテンツ プレースホルダー 2">
            <a:extLst>
              <a:ext uri="{FF2B5EF4-FFF2-40B4-BE49-F238E27FC236}">
                <a16:creationId xmlns:a16="http://schemas.microsoft.com/office/drawing/2014/main" id="{36AAC514-41BC-2AC3-2F99-F4CBCDE05B6E}"/>
              </a:ext>
            </a:extLst>
          </p:cNvPr>
          <p:cNvSpPr>
            <a:spLocks noGrp="1"/>
          </p:cNvSpPr>
          <p:nvPr>
            <p:ph sz="quarter" idx="10"/>
          </p:nvPr>
        </p:nvSpPr>
        <p:spPr/>
        <p:txBody>
          <a:bodyPr/>
          <a:lstStyle/>
          <a:p>
            <a:pPr marL="0" indent="0">
              <a:buNone/>
            </a:pPr>
            <a:r>
              <a:rPr lang="ja-JP" altLang="en-US" sz="2400" b="1">
                <a:latin typeface="Yu Gothic" panose="020B0400000000000000" pitchFamily="34" charset="-128"/>
                <a:ea typeface="Yu Gothic" panose="020B0400000000000000" pitchFamily="34" charset="-128"/>
              </a:rPr>
              <a:t>効果的な段階にのみ最小化を適用する</a:t>
            </a:r>
            <a:endParaRPr lang="en-US" altLang="ja-JP" sz="2400" b="1" dirty="0">
              <a:latin typeface="Yu Gothic" panose="020B0400000000000000" pitchFamily="34" charset="-128"/>
              <a:ea typeface="Yu Gothic" panose="020B0400000000000000" pitchFamily="34" charset="-128"/>
            </a:endParaRPr>
          </a:p>
          <a:p>
            <a:r>
              <a:rPr lang="ja-JP" altLang="en-US"/>
              <a:t>本研究の部分合成の後に最小化判断というプロセスを導入</a:t>
            </a:r>
            <a:endParaRPr lang="en-US" altLang="ja-JP" dirty="0"/>
          </a:p>
          <a:p>
            <a:r>
              <a:rPr lang="ja-JP" altLang="en-US" b="1">
                <a:latin typeface="Yu Gothic" panose="020B0400000000000000" pitchFamily="34" charset="-128"/>
                <a:ea typeface="Yu Gothic" panose="020B0400000000000000" pitchFamily="34" charset="-128"/>
              </a:rPr>
              <a:t>最小化判断</a:t>
            </a:r>
            <a:r>
              <a:rPr lang="ja-JP" altLang="en-US"/>
              <a:t>：部分合成した後に最小化をするなら</a:t>
            </a:r>
            <a:r>
              <a:rPr lang="en-US" altLang="ja-JP" dirty="0"/>
              <a:t>true</a:t>
            </a:r>
            <a:r>
              <a:rPr lang="ja-JP" altLang="en-US"/>
              <a:t>，しないなら</a:t>
            </a:r>
            <a:r>
              <a:rPr lang="en-US" altLang="ja-JP" dirty="0"/>
              <a:t>false</a:t>
            </a:r>
            <a:r>
              <a:rPr lang="ja-JP" altLang="en-US"/>
              <a:t>を返す</a:t>
            </a:r>
            <a:endParaRPr lang="en-US" altLang="ja-JP" dirty="0"/>
          </a:p>
          <a:p>
            <a:r>
              <a:rPr lang="ja-JP" altLang="en-US"/>
              <a:t>現状の</a:t>
            </a:r>
            <a:r>
              <a:rPr lang="ja-JP" altLang="en-US" b="1">
                <a:latin typeface="Yu Gothic" panose="020B0400000000000000" pitchFamily="34" charset="-128"/>
                <a:ea typeface="Yu Gothic" panose="020B0400000000000000" pitchFamily="34" charset="-128"/>
              </a:rPr>
              <a:t>最小化判断</a:t>
            </a:r>
            <a:r>
              <a:rPr lang="ja-JP" altLang="en-US"/>
              <a:t>では最小化にかかる時間が最も長い段階では最小化を適用しないことにした</a:t>
            </a:r>
            <a:endParaRPr lang="en-US" altLang="ja-JP" dirty="0"/>
          </a:p>
        </p:txBody>
      </p:sp>
      <p:sp>
        <p:nvSpPr>
          <p:cNvPr id="4" name="スライド番号プレースホルダー 3">
            <a:extLst>
              <a:ext uri="{FF2B5EF4-FFF2-40B4-BE49-F238E27FC236}">
                <a16:creationId xmlns:a16="http://schemas.microsoft.com/office/drawing/2014/main" id="{38CF9794-130A-A890-A781-C0741C7788EC}"/>
              </a:ext>
            </a:extLst>
          </p:cNvPr>
          <p:cNvSpPr>
            <a:spLocks noGrp="1"/>
          </p:cNvSpPr>
          <p:nvPr>
            <p:ph type="sldNum" sz="quarter" idx="11"/>
          </p:nvPr>
        </p:nvSpPr>
        <p:spPr/>
        <p:txBody>
          <a:bodyPr/>
          <a:lstStyle/>
          <a:p>
            <a:fld id="{E0D93E39-1AFA-2A42-BAF4-0CDD5F6E9A80}" type="slidenum">
              <a:rPr kumimoji="1" lang="ja-JP" altLang="en-US" smtClean="0"/>
              <a:pPr/>
              <a:t>28</a:t>
            </a:fld>
            <a:endParaRPr kumimoji="1" lang="ja-JP" altLang="en-US"/>
          </a:p>
        </p:txBody>
      </p:sp>
      <p:sp>
        <p:nvSpPr>
          <p:cNvPr id="6" name="角丸四角形 5">
            <a:extLst>
              <a:ext uri="{FF2B5EF4-FFF2-40B4-BE49-F238E27FC236}">
                <a16:creationId xmlns:a16="http://schemas.microsoft.com/office/drawing/2014/main" id="{6F0CC069-2CA0-F76D-5FC7-29DBDA6A2DFB}"/>
              </a:ext>
            </a:extLst>
          </p:cNvPr>
          <p:cNvSpPr/>
          <p:nvPr/>
        </p:nvSpPr>
        <p:spPr>
          <a:xfrm>
            <a:off x="334962" y="2545941"/>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8826B806-9590-169F-993E-66AB0F9B8774}"/>
              </a:ext>
            </a:extLst>
          </p:cNvPr>
          <p:cNvSpPr/>
          <p:nvPr/>
        </p:nvSpPr>
        <p:spPr>
          <a:xfrm>
            <a:off x="334962" y="457276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47B29519-3E9B-28D8-DF00-CBE25BE6B2A1}"/>
              </a:ext>
            </a:extLst>
          </p:cNvPr>
          <p:cNvSpPr/>
          <p:nvPr/>
        </p:nvSpPr>
        <p:spPr>
          <a:xfrm>
            <a:off x="497522" y="3913413"/>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9" name="角丸四角形 8">
            <a:extLst>
              <a:ext uri="{FF2B5EF4-FFF2-40B4-BE49-F238E27FC236}">
                <a16:creationId xmlns:a16="http://schemas.microsoft.com/office/drawing/2014/main" id="{00443435-83A6-8A8C-BA09-37B5698E6EA2}"/>
              </a:ext>
            </a:extLst>
          </p:cNvPr>
          <p:cNvSpPr/>
          <p:nvPr/>
        </p:nvSpPr>
        <p:spPr>
          <a:xfrm>
            <a:off x="497522" y="3431765"/>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0" name="角丸四角形 9">
            <a:extLst>
              <a:ext uri="{FF2B5EF4-FFF2-40B4-BE49-F238E27FC236}">
                <a16:creationId xmlns:a16="http://schemas.microsoft.com/office/drawing/2014/main" id="{5DEAB090-CB92-C780-9724-49A1E33E2F89}"/>
              </a:ext>
            </a:extLst>
          </p:cNvPr>
          <p:cNvSpPr/>
          <p:nvPr/>
        </p:nvSpPr>
        <p:spPr>
          <a:xfrm>
            <a:off x="497522" y="2950117"/>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1" name="テキスト ボックス 10">
            <a:extLst>
              <a:ext uri="{FF2B5EF4-FFF2-40B4-BE49-F238E27FC236}">
                <a16:creationId xmlns:a16="http://schemas.microsoft.com/office/drawing/2014/main" id="{2A2C5EAB-44E0-0731-DCED-E8285C60A624}"/>
              </a:ext>
            </a:extLst>
          </p:cNvPr>
          <p:cNvSpPr txBox="1"/>
          <p:nvPr/>
        </p:nvSpPr>
        <p:spPr>
          <a:xfrm>
            <a:off x="497522" y="2641996"/>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2" name="角丸四角形 11">
            <a:extLst>
              <a:ext uri="{FF2B5EF4-FFF2-40B4-BE49-F238E27FC236}">
                <a16:creationId xmlns:a16="http://schemas.microsoft.com/office/drawing/2014/main" id="{5462DE94-24F3-C086-6E90-8E98F454C77A}"/>
              </a:ext>
            </a:extLst>
          </p:cNvPr>
          <p:cNvSpPr/>
          <p:nvPr/>
        </p:nvSpPr>
        <p:spPr>
          <a:xfrm>
            <a:off x="518335" y="5943616"/>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3" name="角丸四角形 12">
            <a:extLst>
              <a:ext uri="{FF2B5EF4-FFF2-40B4-BE49-F238E27FC236}">
                <a16:creationId xmlns:a16="http://schemas.microsoft.com/office/drawing/2014/main" id="{6410FF19-8F8F-F1FA-2E5A-2A941C19A702}"/>
              </a:ext>
            </a:extLst>
          </p:cNvPr>
          <p:cNvSpPr/>
          <p:nvPr/>
        </p:nvSpPr>
        <p:spPr>
          <a:xfrm>
            <a:off x="518335" y="5461968"/>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4" name="角丸四角形 13">
            <a:extLst>
              <a:ext uri="{FF2B5EF4-FFF2-40B4-BE49-F238E27FC236}">
                <a16:creationId xmlns:a16="http://schemas.microsoft.com/office/drawing/2014/main" id="{4C5E5070-25AB-636D-01E9-1CA9C6C8D085}"/>
              </a:ext>
            </a:extLst>
          </p:cNvPr>
          <p:cNvSpPr/>
          <p:nvPr/>
        </p:nvSpPr>
        <p:spPr>
          <a:xfrm>
            <a:off x="518335" y="4980320"/>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15" name="テキスト ボックス 14">
            <a:extLst>
              <a:ext uri="{FF2B5EF4-FFF2-40B4-BE49-F238E27FC236}">
                <a16:creationId xmlns:a16="http://schemas.microsoft.com/office/drawing/2014/main" id="{5FA91E5F-FCD2-3EE8-4D7F-963F7FF37D1F}"/>
              </a:ext>
            </a:extLst>
          </p:cNvPr>
          <p:cNvSpPr txBox="1"/>
          <p:nvPr/>
        </p:nvSpPr>
        <p:spPr>
          <a:xfrm>
            <a:off x="518335" y="4672199"/>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6" name="テキスト ボックス 15">
            <a:extLst>
              <a:ext uri="{FF2B5EF4-FFF2-40B4-BE49-F238E27FC236}">
                <a16:creationId xmlns:a16="http://schemas.microsoft.com/office/drawing/2014/main" id="{4F49B6FC-D913-E5A8-B0A5-FBBFDBF6B7A6}"/>
              </a:ext>
            </a:extLst>
          </p:cNvPr>
          <p:cNvSpPr txBox="1"/>
          <p:nvPr/>
        </p:nvSpPr>
        <p:spPr>
          <a:xfrm>
            <a:off x="1834241" y="6529164"/>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7" name="角丸四角形 16">
            <a:extLst>
              <a:ext uri="{FF2B5EF4-FFF2-40B4-BE49-F238E27FC236}">
                <a16:creationId xmlns:a16="http://schemas.microsoft.com/office/drawing/2014/main" id="{879F2C40-C6BE-AE7D-6CF3-70EC21074AB7}"/>
              </a:ext>
            </a:extLst>
          </p:cNvPr>
          <p:cNvSpPr/>
          <p:nvPr/>
        </p:nvSpPr>
        <p:spPr>
          <a:xfrm>
            <a:off x="4108948" y="2533420"/>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23F10B04-1095-196E-3AB3-2C4D7291A67E}"/>
              </a:ext>
            </a:extLst>
          </p:cNvPr>
          <p:cNvSpPr/>
          <p:nvPr/>
        </p:nvSpPr>
        <p:spPr>
          <a:xfrm>
            <a:off x="4108948" y="457276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6E12560B-C158-0E6C-5CA4-872AC195B14C}"/>
              </a:ext>
            </a:extLst>
          </p:cNvPr>
          <p:cNvSpPr/>
          <p:nvPr/>
        </p:nvSpPr>
        <p:spPr>
          <a:xfrm>
            <a:off x="4271508" y="3913413"/>
            <a:ext cx="914400" cy="429904"/>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環境モデル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0" name="角丸四角形 19">
            <a:extLst>
              <a:ext uri="{FF2B5EF4-FFF2-40B4-BE49-F238E27FC236}">
                <a16:creationId xmlns:a16="http://schemas.microsoft.com/office/drawing/2014/main" id="{71D5D826-60CE-19AF-4987-4C0685190E65}"/>
              </a:ext>
            </a:extLst>
          </p:cNvPr>
          <p:cNvSpPr/>
          <p:nvPr/>
        </p:nvSpPr>
        <p:spPr>
          <a:xfrm>
            <a:off x="4271508" y="2950117"/>
            <a:ext cx="914400" cy="9115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部分制御器</a:t>
            </a:r>
          </a:p>
        </p:txBody>
      </p:sp>
      <p:sp>
        <p:nvSpPr>
          <p:cNvPr id="21" name="テキスト ボックス 20">
            <a:extLst>
              <a:ext uri="{FF2B5EF4-FFF2-40B4-BE49-F238E27FC236}">
                <a16:creationId xmlns:a16="http://schemas.microsoft.com/office/drawing/2014/main" id="{430E568E-F970-3C03-77A6-C5BAF6142CF0}"/>
              </a:ext>
            </a:extLst>
          </p:cNvPr>
          <p:cNvSpPr txBox="1"/>
          <p:nvPr/>
        </p:nvSpPr>
        <p:spPr>
          <a:xfrm>
            <a:off x="4271508" y="2641996"/>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2" name="角丸四角形 21">
            <a:extLst>
              <a:ext uri="{FF2B5EF4-FFF2-40B4-BE49-F238E27FC236}">
                <a16:creationId xmlns:a16="http://schemas.microsoft.com/office/drawing/2014/main" id="{20E436BE-9DF1-33F1-4C72-9D48844D219C}"/>
              </a:ext>
            </a:extLst>
          </p:cNvPr>
          <p:cNvSpPr/>
          <p:nvPr/>
        </p:nvSpPr>
        <p:spPr>
          <a:xfrm>
            <a:off x="4292321" y="5943616"/>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3" name="角丸四角形 22">
            <a:extLst>
              <a:ext uri="{FF2B5EF4-FFF2-40B4-BE49-F238E27FC236}">
                <a16:creationId xmlns:a16="http://schemas.microsoft.com/office/drawing/2014/main" id="{CEE782B3-460C-E9EC-BD76-F8934CFC5DA1}"/>
              </a:ext>
            </a:extLst>
          </p:cNvPr>
          <p:cNvSpPr/>
          <p:nvPr/>
        </p:nvSpPr>
        <p:spPr>
          <a:xfrm>
            <a:off x="4292321" y="5461968"/>
            <a:ext cx="914400" cy="42990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4" name="角丸四角形 23">
            <a:extLst>
              <a:ext uri="{FF2B5EF4-FFF2-40B4-BE49-F238E27FC236}">
                <a16:creationId xmlns:a16="http://schemas.microsoft.com/office/drawing/2014/main" id="{0537369B-6A98-6DA8-7258-7CD1CE386BE2}"/>
              </a:ext>
            </a:extLst>
          </p:cNvPr>
          <p:cNvSpPr/>
          <p:nvPr/>
        </p:nvSpPr>
        <p:spPr>
          <a:xfrm>
            <a:off x="4292321" y="4980320"/>
            <a:ext cx="914400" cy="429904"/>
          </a:xfrm>
          <a:prstGeom prst="roundRect">
            <a:avLst/>
          </a:prstGeom>
          <a:no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FA66D1C1-EB36-F00A-1AD5-61D2007AFF31}"/>
              </a:ext>
            </a:extLst>
          </p:cNvPr>
          <p:cNvSpPr txBox="1"/>
          <p:nvPr/>
        </p:nvSpPr>
        <p:spPr>
          <a:xfrm>
            <a:off x="4292321" y="4672199"/>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26" name="角丸四角形 25">
            <a:extLst>
              <a:ext uri="{FF2B5EF4-FFF2-40B4-BE49-F238E27FC236}">
                <a16:creationId xmlns:a16="http://schemas.microsoft.com/office/drawing/2014/main" id="{32CB0688-9575-1EC5-B451-EF40668A7578}"/>
              </a:ext>
            </a:extLst>
          </p:cNvPr>
          <p:cNvSpPr/>
          <p:nvPr/>
        </p:nvSpPr>
        <p:spPr>
          <a:xfrm>
            <a:off x="10484693" y="2545941"/>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EA77CFF0-4D1A-6E4D-E639-F1A7002F195B}"/>
              </a:ext>
            </a:extLst>
          </p:cNvPr>
          <p:cNvSpPr/>
          <p:nvPr/>
        </p:nvSpPr>
        <p:spPr>
          <a:xfrm>
            <a:off x="10484693" y="4572762"/>
            <a:ext cx="1239520" cy="184912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56564C65-4258-5710-1E2E-3170F67D1B90}"/>
              </a:ext>
            </a:extLst>
          </p:cNvPr>
          <p:cNvSpPr/>
          <p:nvPr/>
        </p:nvSpPr>
        <p:spPr>
          <a:xfrm>
            <a:off x="10647253" y="2950117"/>
            <a:ext cx="914400" cy="13932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制御器</a:t>
            </a:r>
          </a:p>
        </p:txBody>
      </p:sp>
      <p:sp>
        <p:nvSpPr>
          <p:cNvPr id="29" name="テキスト ボックス 28">
            <a:extLst>
              <a:ext uri="{FF2B5EF4-FFF2-40B4-BE49-F238E27FC236}">
                <a16:creationId xmlns:a16="http://schemas.microsoft.com/office/drawing/2014/main" id="{56DD7DA1-0A3C-D5F5-4B3A-BA432D70C9C6}"/>
              </a:ext>
            </a:extLst>
          </p:cNvPr>
          <p:cNvSpPr txBox="1"/>
          <p:nvPr/>
        </p:nvSpPr>
        <p:spPr>
          <a:xfrm>
            <a:off x="10647253" y="2641996"/>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環境モデル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0" name="角丸四角形 29">
            <a:extLst>
              <a:ext uri="{FF2B5EF4-FFF2-40B4-BE49-F238E27FC236}">
                <a16:creationId xmlns:a16="http://schemas.microsoft.com/office/drawing/2014/main" id="{C9A37775-1A7D-BEAD-E616-E6CFC4CCD6D7}"/>
              </a:ext>
            </a:extLst>
          </p:cNvPr>
          <p:cNvSpPr/>
          <p:nvPr/>
        </p:nvSpPr>
        <p:spPr>
          <a:xfrm>
            <a:off x="10668066" y="5943616"/>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3</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1" name="角丸四角形 30">
            <a:extLst>
              <a:ext uri="{FF2B5EF4-FFF2-40B4-BE49-F238E27FC236}">
                <a16:creationId xmlns:a16="http://schemas.microsoft.com/office/drawing/2014/main" id="{6EB03117-5476-62A5-DB2C-3C0F6CF05EB0}"/>
              </a:ext>
            </a:extLst>
          </p:cNvPr>
          <p:cNvSpPr/>
          <p:nvPr/>
        </p:nvSpPr>
        <p:spPr>
          <a:xfrm>
            <a:off x="10668066" y="5461968"/>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2</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2" name="角丸四角形 31">
            <a:extLst>
              <a:ext uri="{FF2B5EF4-FFF2-40B4-BE49-F238E27FC236}">
                <a16:creationId xmlns:a16="http://schemas.microsoft.com/office/drawing/2014/main" id="{9A3F41B2-C80C-FC07-72DD-AF379C5932F4}"/>
              </a:ext>
            </a:extLst>
          </p:cNvPr>
          <p:cNvSpPr/>
          <p:nvPr/>
        </p:nvSpPr>
        <p:spPr>
          <a:xfrm>
            <a:off x="10668066" y="4980320"/>
            <a:ext cx="914400" cy="4299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panose="020B0400000000000000" pitchFamily="34" charset="-128"/>
                <a:ea typeface="Yu Gothic" panose="020B0400000000000000" pitchFamily="34" charset="-128"/>
              </a:rPr>
              <a:t>監視モデル</a:t>
            </a:r>
            <a:r>
              <a:rPr kumimoji="1" lang="en-US" altLang="ja-JP" sz="900" dirty="0">
                <a:solidFill>
                  <a:schemeClr val="tx1"/>
                </a:solidFill>
                <a:latin typeface="Yu Gothic" panose="020B0400000000000000" pitchFamily="34" charset="-128"/>
                <a:ea typeface="Yu Gothic" panose="020B0400000000000000" pitchFamily="34" charset="-128"/>
              </a:rPr>
              <a:t>1</a:t>
            </a:r>
            <a:endParaRPr kumimoji="1" lang="ja-JP" altLang="en-US" sz="900">
              <a:solidFill>
                <a:schemeClr val="tx1"/>
              </a:solidFill>
              <a:latin typeface="Yu Gothic" panose="020B0400000000000000" pitchFamily="34" charset="-128"/>
              <a:ea typeface="Yu Gothic" panose="020B0400000000000000" pitchFamily="34" charset="-128"/>
            </a:endParaRPr>
          </a:p>
        </p:txBody>
      </p:sp>
      <p:sp>
        <p:nvSpPr>
          <p:cNvPr id="33" name="テキスト ボックス 32">
            <a:extLst>
              <a:ext uri="{FF2B5EF4-FFF2-40B4-BE49-F238E27FC236}">
                <a16:creationId xmlns:a16="http://schemas.microsoft.com/office/drawing/2014/main" id="{B829C307-FC18-E5F0-FF8F-D283AAFA1973}"/>
              </a:ext>
            </a:extLst>
          </p:cNvPr>
          <p:cNvSpPr txBox="1"/>
          <p:nvPr/>
        </p:nvSpPr>
        <p:spPr>
          <a:xfrm>
            <a:off x="10668066" y="4672199"/>
            <a:ext cx="1000318" cy="308121"/>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200">
                <a:solidFill>
                  <a:sysClr val="windowText" lastClr="000000"/>
                </a:solidFill>
                <a:latin typeface="Yu Gothic Medium" panose="020B0400000000000000" pitchFamily="34" charset="-128"/>
                <a:ea typeface="Yu Gothic Medium" panose="020B0400000000000000" pitchFamily="34" charset="-128"/>
              </a:rPr>
              <a:t>監視</a:t>
            </a:r>
            <a:r>
              <a:rPr kumimoji="1" lang="ja-JP" altLang="en-US" sz="12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モデル</a:t>
            </a:r>
            <a:endParaRPr kumimoji="1" lang="ja-JP" altLang="en-US" sz="12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34" name="山形 33">
            <a:extLst>
              <a:ext uri="{FF2B5EF4-FFF2-40B4-BE49-F238E27FC236}">
                <a16:creationId xmlns:a16="http://schemas.microsoft.com/office/drawing/2014/main" id="{0B1931B9-FAA4-E82E-60DA-E2652F801AC4}"/>
              </a:ext>
            </a:extLst>
          </p:cNvPr>
          <p:cNvSpPr/>
          <p:nvPr/>
        </p:nvSpPr>
        <p:spPr>
          <a:xfrm>
            <a:off x="1806383" y="4051667"/>
            <a:ext cx="462246" cy="1197137"/>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35" name="山形 34">
            <a:extLst>
              <a:ext uri="{FF2B5EF4-FFF2-40B4-BE49-F238E27FC236}">
                <a16:creationId xmlns:a16="http://schemas.microsoft.com/office/drawing/2014/main" id="{2DC4F358-69A7-A7DD-6837-0DD2FB491F98}"/>
              </a:ext>
            </a:extLst>
          </p:cNvPr>
          <p:cNvSpPr/>
          <p:nvPr/>
        </p:nvSpPr>
        <p:spPr>
          <a:xfrm>
            <a:off x="3369425" y="3380021"/>
            <a:ext cx="388340"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36" name="カギ線コネクタ 35">
            <a:extLst>
              <a:ext uri="{FF2B5EF4-FFF2-40B4-BE49-F238E27FC236}">
                <a16:creationId xmlns:a16="http://schemas.microsoft.com/office/drawing/2014/main" id="{48DA7C1A-EE0D-7A3B-F895-D882FFB4D487}"/>
              </a:ext>
            </a:extLst>
          </p:cNvPr>
          <p:cNvCxnSpPr>
            <a:cxnSpLocks/>
            <a:stCxn id="6" idx="3"/>
            <a:endCxn id="34" idx="1"/>
          </p:cNvCxnSpPr>
          <p:nvPr/>
        </p:nvCxnSpPr>
        <p:spPr>
          <a:xfrm>
            <a:off x="1574482" y="3470501"/>
            <a:ext cx="349242" cy="117973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カギ線コネクタ 36">
            <a:extLst>
              <a:ext uri="{FF2B5EF4-FFF2-40B4-BE49-F238E27FC236}">
                <a16:creationId xmlns:a16="http://schemas.microsoft.com/office/drawing/2014/main" id="{6C81C0FA-EF60-D17E-2844-5E43B5F20B39}"/>
              </a:ext>
            </a:extLst>
          </p:cNvPr>
          <p:cNvCxnSpPr>
            <a:cxnSpLocks/>
            <a:stCxn id="7" idx="3"/>
            <a:endCxn id="34" idx="1"/>
          </p:cNvCxnSpPr>
          <p:nvPr/>
        </p:nvCxnSpPr>
        <p:spPr>
          <a:xfrm flipV="1">
            <a:off x="1574482" y="4650236"/>
            <a:ext cx="349242" cy="8470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カギ線コネクタ 37">
            <a:extLst>
              <a:ext uri="{FF2B5EF4-FFF2-40B4-BE49-F238E27FC236}">
                <a16:creationId xmlns:a16="http://schemas.microsoft.com/office/drawing/2014/main" id="{4E7C913B-9222-DCF2-434C-A9A84E4EF3B3}"/>
              </a:ext>
            </a:extLst>
          </p:cNvPr>
          <p:cNvCxnSpPr>
            <a:cxnSpLocks/>
            <a:stCxn id="35" idx="3"/>
            <a:endCxn id="17" idx="1"/>
          </p:cNvCxnSpPr>
          <p:nvPr/>
        </p:nvCxnSpPr>
        <p:spPr>
          <a:xfrm flipV="1">
            <a:off x="3757765" y="3457980"/>
            <a:ext cx="351183" cy="30457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カギ線コネクタ 38">
            <a:extLst>
              <a:ext uri="{FF2B5EF4-FFF2-40B4-BE49-F238E27FC236}">
                <a16:creationId xmlns:a16="http://schemas.microsoft.com/office/drawing/2014/main" id="{38F81289-F33C-402B-D32F-37428D4BBF18}"/>
              </a:ext>
            </a:extLst>
          </p:cNvPr>
          <p:cNvCxnSpPr>
            <a:cxnSpLocks/>
            <a:stCxn id="35" idx="3"/>
            <a:endCxn id="18" idx="1"/>
          </p:cNvCxnSpPr>
          <p:nvPr/>
        </p:nvCxnSpPr>
        <p:spPr>
          <a:xfrm>
            <a:off x="3757765" y="3762558"/>
            <a:ext cx="351183" cy="173476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E24486C3-BED3-20B3-E20F-0DDAD27E6EF8}"/>
              </a:ext>
            </a:extLst>
          </p:cNvPr>
          <p:cNvSpPr txBox="1"/>
          <p:nvPr/>
        </p:nvSpPr>
        <p:spPr>
          <a:xfrm>
            <a:off x="5608227" y="6529164"/>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45" name="テキスト ボックス 44">
            <a:extLst>
              <a:ext uri="{FF2B5EF4-FFF2-40B4-BE49-F238E27FC236}">
                <a16:creationId xmlns:a16="http://schemas.microsoft.com/office/drawing/2014/main" id="{32119148-6597-8A23-052A-FBC27A03BF99}"/>
              </a:ext>
            </a:extLst>
          </p:cNvPr>
          <p:cNvSpPr txBox="1"/>
          <p:nvPr/>
        </p:nvSpPr>
        <p:spPr>
          <a:xfrm>
            <a:off x="8532961" y="6529164"/>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cxnSp>
        <p:nvCxnSpPr>
          <p:cNvPr id="47" name="カギ線コネクタ 46">
            <a:extLst>
              <a:ext uri="{FF2B5EF4-FFF2-40B4-BE49-F238E27FC236}">
                <a16:creationId xmlns:a16="http://schemas.microsoft.com/office/drawing/2014/main" id="{E1014335-33F7-2674-B1BC-C71CE843DE74}"/>
              </a:ext>
            </a:extLst>
          </p:cNvPr>
          <p:cNvCxnSpPr>
            <a:cxnSpLocks/>
          </p:cNvCxnSpPr>
          <p:nvPr/>
        </p:nvCxnSpPr>
        <p:spPr>
          <a:xfrm flipV="1">
            <a:off x="10266334" y="3457980"/>
            <a:ext cx="218052" cy="98574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カギ線コネクタ 47">
            <a:extLst>
              <a:ext uri="{FF2B5EF4-FFF2-40B4-BE49-F238E27FC236}">
                <a16:creationId xmlns:a16="http://schemas.microsoft.com/office/drawing/2014/main" id="{DE86441B-48FB-0CCF-DEF2-44C5557042DF}"/>
              </a:ext>
            </a:extLst>
          </p:cNvPr>
          <p:cNvCxnSpPr>
            <a:cxnSpLocks/>
          </p:cNvCxnSpPr>
          <p:nvPr/>
        </p:nvCxnSpPr>
        <p:spPr>
          <a:xfrm>
            <a:off x="10266334" y="4443722"/>
            <a:ext cx="218052" cy="10536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7840E53C-E8AC-44EE-1D7F-1EB0C0788F8A}"/>
              </a:ext>
            </a:extLst>
          </p:cNvPr>
          <p:cNvCxnSpPr>
            <a:cxnSpLocks/>
          </p:cNvCxnSpPr>
          <p:nvPr/>
        </p:nvCxnSpPr>
        <p:spPr>
          <a:xfrm>
            <a:off x="7742295" y="4443721"/>
            <a:ext cx="1703534"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0" name="フローチャート: せん孔テープ 49">
            <a:extLst>
              <a:ext uri="{FF2B5EF4-FFF2-40B4-BE49-F238E27FC236}">
                <a16:creationId xmlns:a16="http://schemas.microsoft.com/office/drawing/2014/main" id="{93022E2B-E14F-AEA8-4287-85812D9F4B48}"/>
              </a:ext>
            </a:extLst>
          </p:cNvPr>
          <p:cNvSpPr/>
          <p:nvPr/>
        </p:nvSpPr>
        <p:spPr>
          <a:xfrm flipV="1">
            <a:off x="7984966" y="4207728"/>
            <a:ext cx="1037885" cy="471987"/>
          </a:xfrm>
          <a:prstGeom prst="flowChartPunchedTap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矢印コネクタ 50">
            <a:extLst>
              <a:ext uri="{FF2B5EF4-FFF2-40B4-BE49-F238E27FC236}">
                <a16:creationId xmlns:a16="http://schemas.microsoft.com/office/drawing/2014/main" id="{0A039DBA-874A-4F8D-6533-CD9CDA8AECC8}"/>
              </a:ext>
            </a:extLst>
          </p:cNvPr>
          <p:cNvCxnSpPr>
            <a:cxnSpLocks/>
          </p:cNvCxnSpPr>
          <p:nvPr/>
        </p:nvCxnSpPr>
        <p:spPr>
          <a:xfrm>
            <a:off x="9376313" y="4443721"/>
            <a:ext cx="11229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6" name="カギ線コネクタ 75">
            <a:extLst>
              <a:ext uri="{FF2B5EF4-FFF2-40B4-BE49-F238E27FC236}">
                <a16:creationId xmlns:a16="http://schemas.microsoft.com/office/drawing/2014/main" id="{26ECC400-5B96-36DC-DF5A-E2678059092B}"/>
              </a:ext>
            </a:extLst>
          </p:cNvPr>
          <p:cNvCxnSpPr>
            <a:cxnSpLocks/>
            <a:stCxn id="83" idx="0"/>
            <a:endCxn id="35" idx="1"/>
          </p:cNvCxnSpPr>
          <p:nvPr/>
        </p:nvCxnSpPr>
        <p:spPr>
          <a:xfrm rot="5400000" flipH="1" flipV="1">
            <a:off x="2774332" y="3504537"/>
            <a:ext cx="435652" cy="951694"/>
          </a:xfrm>
          <a:prstGeom prst="bentConnector2">
            <a:avLst/>
          </a:prstGeom>
        </p:spPr>
        <p:style>
          <a:lnRef idx="1">
            <a:schemeClr val="dk1"/>
          </a:lnRef>
          <a:fillRef idx="0">
            <a:schemeClr val="dk1"/>
          </a:fillRef>
          <a:effectRef idx="0">
            <a:schemeClr val="dk1"/>
          </a:effectRef>
          <a:fontRef idx="minor">
            <a:schemeClr val="tx1"/>
          </a:fontRef>
        </p:style>
      </p:cxnSp>
      <p:sp>
        <p:nvSpPr>
          <p:cNvPr id="83" name="ひし形 82">
            <a:extLst>
              <a:ext uri="{FF2B5EF4-FFF2-40B4-BE49-F238E27FC236}">
                <a16:creationId xmlns:a16="http://schemas.microsoft.com/office/drawing/2014/main" id="{D4E871E2-37C9-92AC-44D2-68A89321BF9F}"/>
              </a:ext>
            </a:extLst>
          </p:cNvPr>
          <p:cNvSpPr/>
          <p:nvPr/>
        </p:nvSpPr>
        <p:spPr>
          <a:xfrm>
            <a:off x="2360367" y="4198210"/>
            <a:ext cx="311888" cy="902653"/>
          </a:xfrm>
          <a:prstGeom prst="diamond">
            <a:avLst/>
          </a:prstGeom>
          <a:solidFill>
            <a:srgbClr val="FFFF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最小化判断</a:t>
            </a:r>
          </a:p>
        </p:txBody>
      </p:sp>
      <p:cxnSp>
        <p:nvCxnSpPr>
          <p:cNvPr id="92" name="直線コネクタ 91">
            <a:extLst>
              <a:ext uri="{FF2B5EF4-FFF2-40B4-BE49-F238E27FC236}">
                <a16:creationId xmlns:a16="http://schemas.microsoft.com/office/drawing/2014/main" id="{7E53ADD7-E80D-5318-2C5E-42A3B817986F}"/>
              </a:ext>
            </a:extLst>
          </p:cNvPr>
          <p:cNvCxnSpPr>
            <a:cxnSpLocks/>
            <a:stCxn id="34" idx="3"/>
            <a:endCxn id="83" idx="1"/>
          </p:cNvCxnSpPr>
          <p:nvPr/>
        </p:nvCxnSpPr>
        <p:spPr>
          <a:xfrm flipV="1">
            <a:off x="2268629" y="4649537"/>
            <a:ext cx="91738" cy="699"/>
          </a:xfrm>
          <a:prstGeom prst="line">
            <a:avLst/>
          </a:prstGeom>
        </p:spPr>
        <p:style>
          <a:lnRef idx="1">
            <a:schemeClr val="dk1"/>
          </a:lnRef>
          <a:fillRef idx="0">
            <a:schemeClr val="dk1"/>
          </a:fillRef>
          <a:effectRef idx="0">
            <a:schemeClr val="dk1"/>
          </a:effectRef>
          <a:fontRef idx="minor">
            <a:schemeClr val="tx1"/>
          </a:fontRef>
        </p:style>
      </p:cxnSp>
      <p:cxnSp>
        <p:nvCxnSpPr>
          <p:cNvPr id="104" name="カギ線コネクタ 103">
            <a:extLst>
              <a:ext uri="{FF2B5EF4-FFF2-40B4-BE49-F238E27FC236}">
                <a16:creationId xmlns:a16="http://schemas.microsoft.com/office/drawing/2014/main" id="{CB14DA63-D8C4-3A2D-1273-31F8844BBB0A}"/>
              </a:ext>
            </a:extLst>
          </p:cNvPr>
          <p:cNvCxnSpPr>
            <a:cxnSpLocks/>
            <a:stCxn id="83" idx="2"/>
          </p:cNvCxnSpPr>
          <p:nvPr/>
        </p:nvCxnSpPr>
        <p:spPr>
          <a:xfrm rot="16200000" flipH="1">
            <a:off x="3085507" y="4531667"/>
            <a:ext cx="270873" cy="1409264"/>
          </a:xfrm>
          <a:prstGeom prst="bentConnector2">
            <a:avLst/>
          </a:prstGeom>
        </p:spPr>
        <p:style>
          <a:lnRef idx="1">
            <a:schemeClr val="dk1"/>
          </a:lnRef>
          <a:fillRef idx="0">
            <a:schemeClr val="dk1"/>
          </a:fillRef>
          <a:effectRef idx="0">
            <a:schemeClr val="dk1"/>
          </a:effectRef>
          <a:fontRef idx="minor">
            <a:schemeClr val="tx1"/>
          </a:fontRef>
        </p:style>
      </p:cxnSp>
      <p:sp>
        <p:nvSpPr>
          <p:cNvPr id="121" name="テキスト ボックス 120">
            <a:extLst>
              <a:ext uri="{FF2B5EF4-FFF2-40B4-BE49-F238E27FC236}">
                <a16:creationId xmlns:a16="http://schemas.microsoft.com/office/drawing/2014/main" id="{6F9E7BCE-939B-2A05-00DF-DCBCDF46F5EC}"/>
              </a:ext>
            </a:extLst>
          </p:cNvPr>
          <p:cNvSpPr txBox="1"/>
          <p:nvPr/>
        </p:nvSpPr>
        <p:spPr>
          <a:xfrm>
            <a:off x="2609965" y="3546044"/>
            <a:ext cx="678180" cy="289560"/>
          </a:xfrm>
          <a:prstGeom prst="rect">
            <a:avLst/>
          </a:prstGeom>
        </p:spPr>
        <p:txBody>
          <a:bodyPr vert="horz" wrap="square" lIns="91440" tIns="45720" rIns="91440" bIns="45720" rtlCol="0">
            <a:normAutofit fontScale="8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true</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22" name="テキスト ボックス 121">
            <a:extLst>
              <a:ext uri="{FF2B5EF4-FFF2-40B4-BE49-F238E27FC236}">
                <a16:creationId xmlns:a16="http://schemas.microsoft.com/office/drawing/2014/main" id="{E233684F-5FEB-1779-155E-B24C7E5C7FFD}"/>
              </a:ext>
            </a:extLst>
          </p:cNvPr>
          <p:cNvSpPr txBox="1"/>
          <p:nvPr/>
        </p:nvSpPr>
        <p:spPr>
          <a:xfrm>
            <a:off x="2616654" y="5352542"/>
            <a:ext cx="678180" cy="289560"/>
          </a:xfrm>
          <a:prstGeom prst="rect">
            <a:avLst/>
          </a:prstGeom>
        </p:spPr>
        <p:txBody>
          <a:bodyPr vert="horz" wrap="square" lIns="91440" tIns="45720" rIns="91440" bIns="45720" rtlCol="0">
            <a:normAutofit fontScale="8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dirty="0">
                <a:solidFill>
                  <a:sysClr val="windowText" lastClr="000000"/>
                </a:solidFill>
                <a:latin typeface="Hind" panose="02000000000000000000" pitchFamily="2" charset="0"/>
                <a:ea typeface="Noto Sans JP" panose="020B0200000000000000" pitchFamily="34" charset="-128"/>
              </a:rPr>
              <a:t>false</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35" name="山形 134">
            <a:extLst>
              <a:ext uri="{FF2B5EF4-FFF2-40B4-BE49-F238E27FC236}">
                <a16:creationId xmlns:a16="http://schemas.microsoft.com/office/drawing/2014/main" id="{DBB768BA-1D17-B961-B7F3-E0A91E4F5D84}"/>
              </a:ext>
            </a:extLst>
          </p:cNvPr>
          <p:cNvSpPr/>
          <p:nvPr/>
        </p:nvSpPr>
        <p:spPr>
          <a:xfrm>
            <a:off x="5579619" y="4051666"/>
            <a:ext cx="462246" cy="1197137"/>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
        <p:nvSpPr>
          <p:cNvPr id="136" name="山形 135">
            <a:extLst>
              <a:ext uri="{FF2B5EF4-FFF2-40B4-BE49-F238E27FC236}">
                <a16:creationId xmlns:a16="http://schemas.microsoft.com/office/drawing/2014/main" id="{534DDE27-8277-1682-749D-E3E7D1BBF101}"/>
              </a:ext>
            </a:extLst>
          </p:cNvPr>
          <p:cNvSpPr/>
          <p:nvPr/>
        </p:nvSpPr>
        <p:spPr>
          <a:xfrm>
            <a:off x="7142661" y="3380020"/>
            <a:ext cx="388340" cy="765074"/>
          </a:xfrm>
          <a:prstGeom prst="chevron">
            <a:avLst>
              <a:gd name="adj" fmla="val 2538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cxnSp>
        <p:nvCxnSpPr>
          <p:cNvPr id="137" name="カギ線コネクタ 136">
            <a:extLst>
              <a:ext uri="{FF2B5EF4-FFF2-40B4-BE49-F238E27FC236}">
                <a16:creationId xmlns:a16="http://schemas.microsoft.com/office/drawing/2014/main" id="{E2713520-0A4A-741F-3C18-C02BA9FE29BE}"/>
              </a:ext>
            </a:extLst>
          </p:cNvPr>
          <p:cNvCxnSpPr>
            <a:cxnSpLocks/>
            <a:endCxn id="135" idx="1"/>
          </p:cNvCxnSpPr>
          <p:nvPr/>
        </p:nvCxnSpPr>
        <p:spPr>
          <a:xfrm>
            <a:off x="5347718" y="3470500"/>
            <a:ext cx="349242" cy="117973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カギ線コネクタ 137">
            <a:extLst>
              <a:ext uri="{FF2B5EF4-FFF2-40B4-BE49-F238E27FC236}">
                <a16:creationId xmlns:a16="http://schemas.microsoft.com/office/drawing/2014/main" id="{E0E80095-1C3B-1C12-0886-CAB085BA64D0}"/>
              </a:ext>
            </a:extLst>
          </p:cNvPr>
          <p:cNvCxnSpPr>
            <a:cxnSpLocks/>
            <a:endCxn id="135" idx="1"/>
          </p:cNvCxnSpPr>
          <p:nvPr/>
        </p:nvCxnSpPr>
        <p:spPr>
          <a:xfrm flipV="1">
            <a:off x="5347718" y="4650235"/>
            <a:ext cx="349242" cy="8470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カギ線コネクタ 140">
            <a:extLst>
              <a:ext uri="{FF2B5EF4-FFF2-40B4-BE49-F238E27FC236}">
                <a16:creationId xmlns:a16="http://schemas.microsoft.com/office/drawing/2014/main" id="{EE515C64-1111-BC4F-95DC-C9817B1E3A95}"/>
              </a:ext>
            </a:extLst>
          </p:cNvPr>
          <p:cNvCxnSpPr>
            <a:cxnSpLocks/>
            <a:stCxn id="142" idx="0"/>
            <a:endCxn id="136" idx="1"/>
          </p:cNvCxnSpPr>
          <p:nvPr/>
        </p:nvCxnSpPr>
        <p:spPr>
          <a:xfrm rot="5400000" flipH="1" flipV="1">
            <a:off x="6547568" y="3504536"/>
            <a:ext cx="435652" cy="951694"/>
          </a:xfrm>
          <a:prstGeom prst="bentConnector2">
            <a:avLst/>
          </a:prstGeom>
        </p:spPr>
        <p:style>
          <a:lnRef idx="1">
            <a:schemeClr val="dk1"/>
          </a:lnRef>
          <a:fillRef idx="0">
            <a:schemeClr val="dk1"/>
          </a:fillRef>
          <a:effectRef idx="0">
            <a:schemeClr val="dk1"/>
          </a:effectRef>
          <a:fontRef idx="minor">
            <a:schemeClr val="tx1"/>
          </a:fontRef>
        </p:style>
      </p:cxnSp>
      <p:sp>
        <p:nvSpPr>
          <p:cNvPr id="142" name="ひし形 141">
            <a:extLst>
              <a:ext uri="{FF2B5EF4-FFF2-40B4-BE49-F238E27FC236}">
                <a16:creationId xmlns:a16="http://schemas.microsoft.com/office/drawing/2014/main" id="{04E2706E-E6F9-1AEA-ACDB-9CFFF8F00E11}"/>
              </a:ext>
            </a:extLst>
          </p:cNvPr>
          <p:cNvSpPr/>
          <p:nvPr/>
        </p:nvSpPr>
        <p:spPr>
          <a:xfrm>
            <a:off x="6133603" y="4198209"/>
            <a:ext cx="311888" cy="902653"/>
          </a:xfrm>
          <a:prstGeom prst="diamond">
            <a:avLst/>
          </a:prstGeom>
          <a:solidFill>
            <a:srgbClr val="FFFF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最小化判断</a:t>
            </a:r>
          </a:p>
        </p:txBody>
      </p:sp>
      <p:cxnSp>
        <p:nvCxnSpPr>
          <p:cNvPr id="143" name="直線コネクタ 142">
            <a:extLst>
              <a:ext uri="{FF2B5EF4-FFF2-40B4-BE49-F238E27FC236}">
                <a16:creationId xmlns:a16="http://schemas.microsoft.com/office/drawing/2014/main" id="{6C6A2689-52FE-B909-FC81-252BAA767DA3}"/>
              </a:ext>
            </a:extLst>
          </p:cNvPr>
          <p:cNvCxnSpPr>
            <a:cxnSpLocks/>
            <a:stCxn id="135" idx="3"/>
            <a:endCxn id="142" idx="1"/>
          </p:cNvCxnSpPr>
          <p:nvPr/>
        </p:nvCxnSpPr>
        <p:spPr>
          <a:xfrm flipV="1">
            <a:off x="6041865" y="4649536"/>
            <a:ext cx="91738" cy="699"/>
          </a:xfrm>
          <a:prstGeom prst="line">
            <a:avLst/>
          </a:prstGeom>
        </p:spPr>
        <p:style>
          <a:lnRef idx="1">
            <a:schemeClr val="dk1"/>
          </a:lnRef>
          <a:fillRef idx="0">
            <a:schemeClr val="dk1"/>
          </a:fillRef>
          <a:effectRef idx="0">
            <a:schemeClr val="dk1"/>
          </a:effectRef>
          <a:fontRef idx="minor">
            <a:schemeClr val="tx1"/>
          </a:fontRef>
        </p:style>
      </p:cxnSp>
      <p:cxnSp>
        <p:nvCxnSpPr>
          <p:cNvPr id="144" name="カギ線コネクタ 143">
            <a:extLst>
              <a:ext uri="{FF2B5EF4-FFF2-40B4-BE49-F238E27FC236}">
                <a16:creationId xmlns:a16="http://schemas.microsoft.com/office/drawing/2014/main" id="{A94771A7-7B34-2BC6-0C11-A298165AD365}"/>
              </a:ext>
            </a:extLst>
          </p:cNvPr>
          <p:cNvCxnSpPr>
            <a:cxnSpLocks/>
            <a:stCxn id="142" idx="2"/>
          </p:cNvCxnSpPr>
          <p:nvPr/>
        </p:nvCxnSpPr>
        <p:spPr>
          <a:xfrm rot="16200000" flipH="1">
            <a:off x="6858743" y="4531666"/>
            <a:ext cx="270873" cy="1409264"/>
          </a:xfrm>
          <a:prstGeom prst="bentConnector2">
            <a:avLst/>
          </a:prstGeom>
        </p:spPr>
        <p:style>
          <a:lnRef idx="1">
            <a:schemeClr val="dk1"/>
          </a:lnRef>
          <a:fillRef idx="0">
            <a:schemeClr val="dk1"/>
          </a:fillRef>
          <a:effectRef idx="0">
            <a:schemeClr val="dk1"/>
          </a:effectRef>
          <a:fontRef idx="minor">
            <a:schemeClr val="tx1"/>
          </a:fontRef>
        </p:style>
      </p:cxnSp>
      <p:sp>
        <p:nvSpPr>
          <p:cNvPr id="145" name="テキスト ボックス 144">
            <a:extLst>
              <a:ext uri="{FF2B5EF4-FFF2-40B4-BE49-F238E27FC236}">
                <a16:creationId xmlns:a16="http://schemas.microsoft.com/office/drawing/2014/main" id="{DC07185F-7CBD-915B-46BB-656AB144EC71}"/>
              </a:ext>
            </a:extLst>
          </p:cNvPr>
          <p:cNvSpPr txBox="1"/>
          <p:nvPr/>
        </p:nvSpPr>
        <p:spPr>
          <a:xfrm>
            <a:off x="6383201" y="3546043"/>
            <a:ext cx="678180" cy="289560"/>
          </a:xfrm>
          <a:prstGeom prst="rect">
            <a:avLst/>
          </a:prstGeom>
        </p:spPr>
        <p:txBody>
          <a:bodyPr vert="horz" wrap="square" lIns="91440" tIns="45720" rIns="91440" bIns="45720" rtlCol="0">
            <a:normAutofit fontScale="8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rPr>
              <a:t>true</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46" name="テキスト ボックス 145">
            <a:extLst>
              <a:ext uri="{FF2B5EF4-FFF2-40B4-BE49-F238E27FC236}">
                <a16:creationId xmlns:a16="http://schemas.microsoft.com/office/drawing/2014/main" id="{BA44C9D4-5C52-5CFA-CFE6-70F6FC9C34C9}"/>
              </a:ext>
            </a:extLst>
          </p:cNvPr>
          <p:cNvSpPr txBox="1"/>
          <p:nvPr/>
        </p:nvSpPr>
        <p:spPr>
          <a:xfrm>
            <a:off x="6389890" y="5352541"/>
            <a:ext cx="678180" cy="289560"/>
          </a:xfrm>
          <a:prstGeom prst="rect">
            <a:avLst/>
          </a:prstGeom>
        </p:spPr>
        <p:txBody>
          <a:bodyPr vert="horz" wrap="square" lIns="91440" tIns="45720" rIns="91440" bIns="45720" rtlCol="0">
            <a:normAutofit fontScale="8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dirty="0">
                <a:solidFill>
                  <a:sysClr val="windowText" lastClr="000000"/>
                </a:solidFill>
                <a:latin typeface="Hind" panose="02000000000000000000" pitchFamily="2" charset="0"/>
                <a:ea typeface="Noto Sans JP" panose="020B0200000000000000" pitchFamily="34" charset="-128"/>
              </a:rPr>
              <a:t>false</a:t>
            </a: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
        <p:nvSpPr>
          <p:cNvPr id="147" name="山形 146">
            <a:extLst>
              <a:ext uri="{FF2B5EF4-FFF2-40B4-BE49-F238E27FC236}">
                <a16:creationId xmlns:a16="http://schemas.microsoft.com/office/drawing/2014/main" id="{BDB1658E-7495-6A63-35AC-ABE8CD55D39D}"/>
              </a:ext>
            </a:extLst>
          </p:cNvPr>
          <p:cNvSpPr/>
          <p:nvPr/>
        </p:nvSpPr>
        <p:spPr>
          <a:xfrm>
            <a:off x="9794545" y="3861669"/>
            <a:ext cx="462246" cy="1197137"/>
          </a:xfrm>
          <a:prstGeom prst="chevron">
            <a:avLst>
              <a:gd name="adj" fmla="val 2538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Yu Gothic Medium" panose="020B0400000000000000" pitchFamily="34" charset="-128"/>
                <a:ea typeface="Yu Gothic Medium" panose="020B0400000000000000" pitchFamily="34" charset="-128"/>
              </a:rPr>
              <a:t>部分合成</a:t>
            </a:r>
            <a:endParaRPr kumimoji="1" lang="en-US" altLang="ja-JP" sz="900" dirty="0">
              <a:solidFill>
                <a:schemeClr val="tx1"/>
              </a:solidFill>
              <a:latin typeface="Yu Gothic Medium" panose="020B0400000000000000" pitchFamily="34" charset="-128"/>
              <a:ea typeface="Yu Gothic Medium" panose="020B0400000000000000" pitchFamily="34" charset="-128"/>
            </a:endParaRPr>
          </a:p>
        </p:txBody>
      </p:sp>
    </p:spTree>
    <p:extLst>
      <p:ext uri="{BB962C8B-B14F-4D97-AF65-F5344CB8AC3E}">
        <p14:creationId xmlns:p14="http://schemas.microsoft.com/office/powerpoint/2010/main" val="1409529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46FF52-DBD5-475B-F02F-C1E1D75F6E5E}"/>
              </a:ext>
            </a:extLst>
          </p:cNvPr>
          <p:cNvSpPr>
            <a:spLocks noGrp="1"/>
          </p:cNvSpPr>
          <p:nvPr>
            <p:ph type="title"/>
          </p:nvPr>
        </p:nvSpPr>
        <p:spPr/>
        <p:txBody>
          <a:bodyPr/>
          <a:lstStyle/>
          <a:p>
            <a:r>
              <a:rPr kumimoji="1" lang="ja-JP" altLang="en-US"/>
              <a:t>今後の展望：結果</a:t>
            </a:r>
            <a:r>
              <a:rPr kumimoji="1" lang="en-US" altLang="ja-JP" dirty="0"/>
              <a:t>(</a:t>
            </a:r>
            <a:r>
              <a:rPr kumimoji="1" lang="ja-JP" altLang="en-US"/>
              <a:t>一部のみ</a:t>
            </a:r>
            <a:r>
              <a:rPr kumimoji="1" lang="en-US" altLang="ja-JP" dirty="0"/>
              <a:t>)</a:t>
            </a:r>
            <a:br>
              <a:rPr kumimoji="1" lang="en-US" altLang="ja-JP" dirty="0"/>
            </a:br>
            <a:endParaRPr kumimoji="1" lang="ja-JP" altLang="en-US"/>
          </a:p>
        </p:txBody>
      </p:sp>
      <p:sp>
        <p:nvSpPr>
          <p:cNvPr id="4" name="スライド番号プレースホルダー 3">
            <a:extLst>
              <a:ext uri="{FF2B5EF4-FFF2-40B4-BE49-F238E27FC236}">
                <a16:creationId xmlns:a16="http://schemas.microsoft.com/office/drawing/2014/main" id="{398FFFB2-5764-3B2C-45B9-2F2EE812C916}"/>
              </a:ext>
            </a:extLst>
          </p:cNvPr>
          <p:cNvSpPr>
            <a:spLocks noGrp="1"/>
          </p:cNvSpPr>
          <p:nvPr>
            <p:ph type="sldNum" sz="quarter" idx="11"/>
          </p:nvPr>
        </p:nvSpPr>
        <p:spPr/>
        <p:txBody>
          <a:bodyPr/>
          <a:lstStyle/>
          <a:p>
            <a:fld id="{E0D93E39-1AFA-2A42-BAF4-0CDD5F6E9A80}" type="slidenum">
              <a:rPr kumimoji="1" lang="ja-JP" altLang="en-US" smtClean="0"/>
              <a:pPr/>
              <a:t>29</a:t>
            </a:fld>
            <a:endParaRPr kumimoji="1" lang="ja-JP" altLang="en-US"/>
          </a:p>
        </p:txBody>
      </p:sp>
      <p:graphicFrame>
        <p:nvGraphicFramePr>
          <p:cNvPr id="5" name="コンテンツ プレースホルダー 4">
            <a:extLst>
              <a:ext uri="{FF2B5EF4-FFF2-40B4-BE49-F238E27FC236}">
                <a16:creationId xmlns:a16="http://schemas.microsoft.com/office/drawing/2014/main" id="{70A55128-7F04-C145-4B9C-C80C13A8DE27}"/>
              </a:ext>
            </a:extLst>
          </p:cNvPr>
          <p:cNvGraphicFramePr>
            <a:graphicFrameLocks/>
          </p:cNvGraphicFramePr>
          <p:nvPr>
            <p:extLst>
              <p:ext uri="{D42A27DB-BD31-4B8C-83A1-F6EECF244321}">
                <p14:modId xmlns:p14="http://schemas.microsoft.com/office/powerpoint/2010/main" val="1005265181"/>
              </p:ext>
            </p:extLst>
          </p:nvPr>
        </p:nvGraphicFramePr>
        <p:xfrm>
          <a:off x="188844" y="1171392"/>
          <a:ext cx="6607372" cy="2087443"/>
        </p:xfrm>
        <a:graphic>
          <a:graphicData uri="http://schemas.openxmlformats.org/drawingml/2006/table">
            <a:tbl>
              <a:tblPr firstRow="1" bandRow="1">
                <a:tableStyleId>{5C22544A-7EE6-4342-B048-85BDC9FD1C3A}</a:tableStyleId>
              </a:tblPr>
              <a:tblGrid>
                <a:gridCol w="1651843">
                  <a:extLst>
                    <a:ext uri="{9D8B030D-6E8A-4147-A177-3AD203B41FA5}">
                      <a16:colId xmlns:a16="http://schemas.microsoft.com/office/drawing/2014/main" val="3953612382"/>
                    </a:ext>
                  </a:extLst>
                </a:gridCol>
                <a:gridCol w="1651843">
                  <a:extLst>
                    <a:ext uri="{9D8B030D-6E8A-4147-A177-3AD203B41FA5}">
                      <a16:colId xmlns:a16="http://schemas.microsoft.com/office/drawing/2014/main" val="271445164"/>
                    </a:ext>
                  </a:extLst>
                </a:gridCol>
                <a:gridCol w="1651843">
                  <a:extLst>
                    <a:ext uri="{9D8B030D-6E8A-4147-A177-3AD203B41FA5}">
                      <a16:colId xmlns:a16="http://schemas.microsoft.com/office/drawing/2014/main" val="2184771279"/>
                    </a:ext>
                  </a:extLst>
                </a:gridCol>
                <a:gridCol w="1651843">
                  <a:extLst>
                    <a:ext uri="{9D8B030D-6E8A-4147-A177-3AD203B41FA5}">
                      <a16:colId xmlns:a16="http://schemas.microsoft.com/office/drawing/2014/main" val="2242376773"/>
                    </a:ext>
                  </a:extLst>
                </a:gridCol>
              </a:tblGrid>
              <a:tr h="504567">
                <a:tc>
                  <a:txBody>
                    <a:bodyPr/>
                    <a:lstStyle/>
                    <a:p>
                      <a:r>
                        <a:rPr kumimoji="1" lang="en-US" altLang="ja-JP" sz="1400" dirty="0">
                          <a:solidFill>
                            <a:sysClr val="windowText" lastClr="000000"/>
                          </a:solidFill>
                        </a:rPr>
                        <a:t>N=5, K=4</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ja-JP" altLang="en-US" sz="1400">
                          <a:solidFill>
                            <a:sysClr val="windowText" lastClr="000000"/>
                          </a:solidFill>
                        </a:rPr>
                        <a:t>最小化しない</a:t>
                      </a:r>
                    </a:p>
                  </a:txBody>
                  <a:tcPr marL="62455" marR="62455" marT="34350" marB="34350">
                    <a:solidFill>
                      <a:schemeClr val="tx2">
                        <a:lumMod val="20000"/>
                        <a:lumOff val="80000"/>
                      </a:schemeClr>
                    </a:solidFill>
                  </a:tcPr>
                </a:tc>
                <a:tc>
                  <a:txBody>
                    <a:bodyPr/>
                    <a:lstStyle/>
                    <a:p>
                      <a:r>
                        <a:rPr kumimoji="1" lang="ja-JP" altLang="en-US" sz="1400">
                          <a:solidFill>
                            <a:sysClr val="windowText" lastClr="000000"/>
                          </a:solidFill>
                        </a:rPr>
                        <a:t>提案手法</a:t>
                      </a:r>
                      <a:r>
                        <a:rPr kumimoji="1" lang="en-US" altLang="ja-JP" sz="1400" dirty="0">
                          <a:solidFill>
                            <a:sysClr val="windowText" lastClr="000000"/>
                          </a:solidFill>
                        </a:rPr>
                        <a:t>(</a:t>
                      </a:r>
                      <a:r>
                        <a:rPr kumimoji="1" lang="ja-JP" altLang="en-US" sz="1400">
                          <a:solidFill>
                            <a:sysClr val="windowText" lastClr="000000"/>
                          </a:solidFill>
                        </a:rPr>
                        <a:t>全段階で最小化</a:t>
                      </a:r>
                      <a:r>
                        <a:rPr kumimoji="1" lang="en-US" altLang="ja-JP" sz="1400" dirty="0">
                          <a:solidFill>
                            <a:sysClr val="windowText" lastClr="000000"/>
                          </a:solidFill>
                        </a:rPr>
                        <a:t>)</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ysClr val="windowText" lastClr="000000"/>
                          </a:solidFill>
                        </a:rPr>
                        <a:t>効率的な最小化</a:t>
                      </a:r>
                      <a:r>
                        <a:rPr kumimoji="1" lang="en-US" altLang="ja-JP" sz="1400" dirty="0">
                          <a:solidFill>
                            <a:sysClr val="windowText" lastClr="000000"/>
                          </a:solidFill>
                        </a:rPr>
                        <a:t>(9</a:t>
                      </a:r>
                      <a:r>
                        <a:rPr kumimoji="1" lang="ja-JP" altLang="en-US" sz="1400">
                          <a:solidFill>
                            <a:sysClr val="windowText" lastClr="000000"/>
                          </a:solidFill>
                        </a:rPr>
                        <a:t>回目以外最小化</a:t>
                      </a:r>
                      <a:r>
                        <a:rPr kumimoji="1" lang="en-US" altLang="ja-JP" sz="1400" dirty="0">
                          <a:solidFill>
                            <a:sysClr val="windowText" lastClr="000000"/>
                          </a:solidFill>
                        </a:rPr>
                        <a:t>)</a:t>
                      </a:r>
                      <a:endParaRPr kumimoji="1" lang="ja-JP" altLang="en-US" sz="1400">
                        <a:solidFill>
                          <a:sysClr val="windowText" lastClr="000000"/>
                        </a:solidFill>
                      </a:endParaRPr>
                    </a:p>
                  </a:txBody>
                  <a:tcPr marL="62455" marR="62455" marT="34350" marB="34350">
                    <a:solidFill>
                      <a:schemeClr val="tx2">
                        <a:lumMod val="20000"/>
                        <a:lumOff val="80000"/>
                      </a:schemeClr>
                    </a:solidFill>
                  </a:tcPr>
                </a:tc>
                <a:extLst>
                  <a:ext uri="{0D108BD9-81ED-4DB2-BD59-A6C34878D82A}">
                    <a16:rowId xmlns:a16="http://schemas.microsoft.com/office/drawing/2014/main" val="2561554833"/>
                  </a:ext>
                </a:extLst>
              </a:tr>
              <a:tr h="291827">
                <a:tc>
                  <a:txBody>
                    <a:bodyPr/>
                    <a:lstStyle/>
                    <a:p>
                      <a:r>
                        <a:rPr kumimoji="1" lang="en-US" altLang="ja-JP" sz="1400" dirty="0">
                          <a:solidFill>
                            <a:sysClr val="windowText" lastClr="000000"/>
                          </a:solidFill>
                        </a:rPr>
                        <a:t>Maximum States</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15725</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12350</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12350</a:t>
                      </a:r>
                      <a:endParaRPr kumimoji="1" lang="ja-JP" altLang="en-US" sz="1400">
                        <a:solidFill>
                          <a:sysClr val="windowText" lastClr="000000"/>
                        </a:solidFill>
                      </a:endParaRPr>
                    </a:p>
                  </a:txBody>
                  <a:tcPr marL="62455" marR="62455" marT="34350" marB="34350">
                    <a:solidFill>
                      <a:schemeClr val="bg1"/>
                    </a:solidFill>
                  </a:tcPr>
                </a:tc>
                <a:extLst>
                  <a:ext uri="{0D108BD9-81ED-4DB2-BD59-A6C34878D82A}">
                    <a16:rowId xmlns:a16="http://schemas.microsoft.com/office/drawing/2014/main" val="3437021190"/>
                  </a:ext>
                </a:extLst>
              </a:tr>
              <a:tr h="291827">
                <a:tc>
                  <a:txBody>
                    <a:bodyPr/>
                    <a:lstStyle/>
                    <a:p>
                      <a:r>
                        <a:rPr kumimoji="1" lang="en-US" altLang="ja-JP" sz="1400" dirty="0">
                          <a:solidFill>
                            <a:sysClr val="windowText" lastClr="000000"/>
                          </a:solidFill>
                        </a:rPr>
                        <a:t>Maximum Transitions</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27814</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22603</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22765</a:t>
                      </a:r>
                      <a:endParaRPr kumimoji="1" lang="ja-JP" altLang="en-US" sz="1400">
                        <a:solidFill>
                          <a:sysClr val="windowText" lastClr="000000"/>
                        </a:solidFill>
                      </a:endParaRPr>
                    </a:p>
                  </a:txBody>
                  <a:tcPr marL="62455" marR="62455" marT="34350" marB="34350">
                    <a:solidFill>
                      <a:schemeClr val="bg2">
                        <a:lumMod val="20000"/>
                        <a:lumOff val="80000"/>
                      </a:schemeClr>
                    </a:solidFill>
                  </a:tcPr>
                </a:tc>
                <a:extLst>
                  <a:ext uri="{0D108BD9-81ED-4DB2-BD59-A6C34878D82A}">
                    <a16:rowId xmlns:a16="http://schemas.microsoft.com/office/drawing/2014/main" val="3433861040"/>
                  </a:ext>
                </a:extLst>
              </a:tr>
              <a:tr h="503802">
                <a:tc>
                  <a:txBody>
                    <a:bodyPr/>
                    <a:lstStyle/>
                    <a:p>
                      <a:r>
                        <a:rPr kumimoji="1" lang="en-US" altLang="ja-JP" sz="1400" dirty="0">
                          <a:solidFill>
                            <a:sysClr val="windowText" lastClr="000000"/>
                          </a:solidFill>
                        </a:rPr>
                        <a:t>Maximum Memory (MB)</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87.1</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96.7</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69.8</a:t>
                      </a:r>
                      <a:endParaRPr kumimoji="1" lang="ja-JP" altLang="en-US" sz="1400">
                        <a:solidFill>
                          <a:sysClr val="windowText" lastClr="000000"/>
                        </a:solidFill>
                      </a:endParaRPr>
                    </a:p>
                  </a:txBody>
                  <a:tcPr marL="62455" marR="62455" marT="34350" marB="34350">
                    <a:solidFill>
                      <a:schemeClr val="bg1"/>
                    </a:solidFill>
                  </a:tcPr>
                </a:tc>
                <a:extLst>
                  <a:ext uri="{0D108BD9-81ED-4DB2-BD59-A6C34878D82A}">
                    <a16:rowId xmlns:a16="http://schemas.microsoft.com/office/drawing/2014/main" val="299751345"/>
                  </a:ext>
                </a:extLst>
              </a:tr>
              <a:tr h="291827">
                <a:tc>
                  <a:txBody>
                    <a:bodyPr/>
                    <a:lstStyle/>
                    <a:p>
                      <a:r>
                        <a:rPr kumimoji="1" lang="en-US" altLang="ja-JP" sz="1400" dirty="0">
                          <a:solidFill>
                            <a:sysClr val="windowText" lastClr="000000"/>
                          </a:solidFill>
                        </a:rPr>
                        <a:t>Execution Time (</a:t>
                      </a:r>
                      <a:r>
                        <a:rPr kumimoji="1" lang="en-US" altLang="ja-JP" sz="1400" dirty="0" err="1">
                          <a:solidFill>
                            <a:sysClr val="windowText" lastClr="000000"/>
                          </a:solidFill>
                        </a:rPr>
                        <a:t>ms</a:t>
                      </a:r>
                      <a:r>
                        <a:rPr kumimoji="1" lang="en-US" altLang="ja-JP" sz="1400" dirty="0">
                          <a:solidFill>
                            <a:sysClr val="windowText" lastClr="000000"/>
                          </a:solidFill>
                        </a:rPr>
                        <a:t>)</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2152</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3195</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2236</a:t>
                      </a:r>
                      <a:endParaRPr kumimoji="1" lang="ja-JP" altLang="en-US" sz="1400">
                        <a:solidFill>
                          <a:sysClr val="windowText" lastClr="000000"/>
                        </a:solidFill>
                      </a:endParaRPr>
                    </a:p>
                  </a:txBody>
                  <a:tcPr marL="62455" marR="62455" marT="34350" marB="34350">
                    <a:solidFill>
                      <a:schemeClr val="bg2">
                        <a:lumMod val="20000"/>
                        <a:lumOff val="80000"/>
                      </a:schemeClr>
                    </a:solidFill>
                  </a:tcPr>
                </a:tc>
                <a:extLst>
                  <a:ext uri="{0D108BD9-81ED-4DB2-BD59-A6C34878D82A}">
                    <a16:rowId xmlns:a16="http://schemas.microsoft.com/office/drawing/2014/main" val="3995234224"/>
                  </a:ext>
                </a:extLst>
              </a:tr>
            </a:tbl>
          </a:graphicData>
        </a:graphic>
      </p:graphicFrame>
      <p:graphicFrame>
        <p:nvGraphicFramePr>
          <p:cNvPr id="6" name="コンテンツ プレースホルダー 4">
            <a:extLst>
              <a:ext uri="{FF2B5EF4-FFF2-40B4-BE49-F238E27FC236}">
                <a16:creationId xmlns:a16="http://schemas.microsoft.com/office/drawing/2014/main" id="{6AAD5EB5-06B7-1DA2-5BF8-4AB1FF1F4634}"/>
              </a:ext>
            </a:extLst>
          </p:cNvPr>
          <p:cNvGraphicFramePr>
            <a:graphicFrameLocks noGrp="1"/>
          </p:cNvGraphicFramePr>
          <p:nvPr>
            <p:ph sz="quarter" idx="10"/>
            <p:extLst>
              <p:ext uri="{D42A27DB-BD31-4B8C-83A1-F6EECF244321}">
                <p14:modId xmlns:p14="http://schemas.microsoft.com/office/powerpoint/2010/main" val="3574889683"/>
              </p:ext>
            </p:extLst>
          </p:nvPr>
        </p:nvGraphicFramePr>
        <p:xfrm>
          <a:off x="188844" y="3798029"/>
          <a:ext cx="6607372" cy="2290537"/>
        </p:xfrm>
        <a:graphic>
          <a:graphicData uri="http://schemas.openxmlformats.org/drawingml/2006/table">
            <a:tbl>
              <a:tblPr firstRow="1" bandRow="1">
                <a:tableStyleId>{5C22544A-7EE6-4342-B048-85BDC9FD1C3A}</a:tableStyleId>
              </a:tblPr>
              <a:tblGrid>
                <a:gridCol w="1651843">
                  <a:extLst>
                    <a:ext uri="{9D8B030D-6E8A-4147-A177-3AD203B41FA5}">
                      <a16:colId xmlns:a16="http://schemas.microsoft.com/office/drawing/2014/main" val="3953612382"/>
                    </a:ext>
                  </a:extLst>
                </a:gridCol>
                <a:gridCol w="1651843">
                  <a:extLst>
                    <a:ext uri="{9D8B030D-6E8A-4147-A177-3AD203B41FA5}">
                      <a16:colId xmlns:a16="http://schemas.microsoft.com/office/drawing/2014/main" val="271445164"/>
                    </a:ext>
                  </a:extLst>
                </a:gridCol>
                <a:gridCol w="1651843">
                  <a:extLst>
                    <a:ext uri="{9D8B030D-6E8A-4147-A177-3AD203B41FA5}">
                      <a16:colId xmlns:a16="http://schemas.microsoft.com/office/drawing/2014/main" val="2184771279"/>
                    </a:ext>
                  </a:extLst>
                </a:gridCol>
                <a:gridCol w="1651843">
                  <a:extLst>
                    <a:ext uri="{9D8B030D-6E8A-4147-A177-3AD203B41FA5}">
                      <a16:colId xmlns:a16="http://schemas.microsoft.com/office/drawing/2014/main" val="2242376773"/>
                    </a:ext>
                  </a:extLst>
                </a:gridCol>
              </a:tblGrid>
              <a:tr h="487975">
                <a:tc>
                  <a:txBody>
                    <a:bodyPr/>
                    <a:lstStyle/>
                    <a:p>
                      <a:r>
                        <a:rPr kumimoji="1" lang="en-US" altLang="ja-JP" sz="1400" dirty="0">
                          <a:solidFill>
                            <a:sysClr val="windowText" lastClr="000000"/>
                          </a:solidFill>
                        </a:rPr>
                        <a:t>N=6, K=4</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ja-JP" altLang="en-US" sz="1400">
                          <a:solidFill>
                            <a:sysClr val="windowText" lastClr="000000"/>
                          </a:solidFill>
                        </a:rPr>
                        <a:t>最小化しない</a:t>
                      </a:r>
                    </a:p>
                  </a:txBody>
                  <a:tcPr marL="62455" marR="62455" marT="34350" marB="34350">
                    <a:solidFill>
                      <a:schemeClr val="tx2">
                        <a:lumMod val="20000"/>
                        <a:lumOff val="80000"/>
                      </a:schemeClr>
                    </a:solidFill>
                  </a:tcPr>
                </a:tc>
                <a:tc>
                  <a:txBody>
                    <a:bodyPr/>
                    <a:lstStyle/>
                    <a:p>
                      <a:r>
                        <a:rPr kumimoji="1" lang="ja-JP" altLang="en-US" sz="1400">
                          <a:solidFill>
                            <a:sysClr val="windowText" lastClr="000000"/>
                          </a:solidFill>
                        </a:rPr>
                        <a:t>提案手法</a:t>
                      </a:r>
                      <a:r>
                        <a:rPr kumimoji="1" lang="en-US" altLang="ja-JP" sz="1400" dirty="0">
                          <a:solidFill>
                            <a:sysClr val="windowText" lastClr="000000"/>
                          </a:solidFill>
                        </a:rPr>
                        <a:t>(</a:t>
                      </a:r>
                      <a:r>
                        <a:rPr kumimoji="1" lang="ja-JP" altLang="en-US" sz="1400">
                          <a:solidFill>
                            <a:sysClr val="windowText" lastClr="000000"/>
                          </a:solidFill>
                        </a:rPr>
                        <a:t>全段階で最小化</a:t>
                      </a:r>
                      <a:r>
                        <a:rPr kumimoji="1" lang="en-US" altLang="ja-JP" sz="1400" dirty="0">
                          <a:solidFill>
                            <a:sysClr val="windowText" lastClr="000000"/>
                          </a:solidFill>
                        </a:rPr>
                        <a:t>)</a:t>
                      </a:r>
                    </a:p>
                  </a:txBody>
                  <a:tcPr marL="62455" marR="62455" marT="34350" marB="34350">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ysClr val="windowText" lastClr="000000"/>
                          </a:solidFill>
                        </a:rPr>
                        <a:t>効率的な最小化</a:t>
                      </a:r>
                      <a:r>
                        <a:rPr kumimoji="1" lang="en-US" altLang="ja-JP" sz="1400" dirty="0">
                          <a:solidFill>
                            <a:sysClr val="windowText" lastClr="000000"/>
                          </a:solidFill>
                        </a:rPr>
                        <a:t>(11</a:t>
                      </a:r>
                      <a:r>
                        <a:rPr kumimoji="1" lang="ja-JP" altLang="en-US" sz="1400">
                          <a:solidFill>
                            <a:sysClr val="windowText" lastClr="000000"/>
                          </a:solidFill>
                        </a:rPr>
                        <a:t>回目以外最小化</a:t>
                      </a:r>
                      <a:r>
                        <a:rPr kumimoji="1" lang="en-US" altLang="ja-JP" sz="1400" dirty="0">
                          <a:solidFill>
                            <a:sysClr val="windowText" lastClr="000000"/>
                          </a:solidFill>
                        </a:rPr>
                        <a:t>)</a:t>
                      </a:r>
                      <a:endParaRPr kumimoji="1" lang="ja-JP" altLang="en-US" sz="1400">
                        <a:solidFill>
                          <a:sysClr val="windowText" lastClr="000000"/>
                        </a:solidFill>
                      </a:endParaRPr>
                    </a:p>
                  </a:txBody>
                  <a:tcPr marL="62455" marR="62455" marT="34350" marB="34350">
                    <a:solidFill>
                      <a:schemeClr val="tx2">
                        <a:lumMod val="20000"/>
                        <a:lumOff val="80000"/>
                      </a:schemeClr>
                    </a:solidFill>
                  </a:tcPr>
                </a:tc>
                <a:extLst>
                  <a:ext uri="{0D108BD9-81ED-4DB2-BD59-A6C34878D82A}">
                    <a16:rowId xmlns:a16="http://schemas.microsoft.com/office/drawing/2014/main" val="2561554833"/>
                  </a:ext>
                </a:extLst>
              </a:tr>
              <a:tr h="289984">
                <a:tc>
                  <a:txBody>
                    <a:bodyPr/>
                    <a:lstStyle/>
                    <a:p>
                      <a:r>
                        <a:rPr kumimoji="1" lang="en-US" altLang="ja-JP" sz="1400" dirty="0">
                          <a:solidFill>
                            <a:sysClr val="windowText" lastClr="000000"/>
                          </a:solidFill>
                        </a:rPr>
                        <a:t>Maximum States</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60131</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46172</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46172</a:t>
                      </a:r>
                      <a:endParaRPr kumimoji="1" lang="ja-JP" altLang="en-US" sz="1400">
                        <a:solidFill>
                          <a:sysClr val="windowText" lastClr="000000"/>
                        </a:solidFill>
                      </a:endParaRPr>
                    </a:p>
                  </a:txBody>
                  <a:tcPr marL="62455" marR="62455" marT="34350" marB="34350">
                    <a:solidFill>
                      <a:schemeClr val="bg1"/>
                    </a:solidFill>
                  </a:tcPr>
                </a:tc>
                <a:extLst>
                  <a:ext uri="{0D108BD9-81ED-4DB2-BD59-A6C34878D82A}">
                    <a16:rowId xmlns:a16="http://schemas.microsoft.com/office/drawing/2014/main" val="3437021190"/>
                  </a:ext>
                </a:extLst>
              </a:tr>
              <a:tr h="496932">
                <a:tc>
                  <a:txBody>
                    <a:bodyPr/>
                    <a:lstStyle/>
                    <a:p>
                      <a:r>
                        <a:rPr kumimoji="1" lang="en-US" altLang="ja-JP" sz="1400" dirty="0">
                          <a:solidFill>
                            <a:sysClr val="windowText" lastClr="000000"/>
                          </a:solidFill>
                        </a:rPr>
                        <a:t>Maximum Transitions</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106816</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84865</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85351</a:t>
                      </a:r>
                      <a:endParaRPr kumimoji="1" lang="ja-JP" altLang="en-US" sz="1400">
                        <a:solidFill>
                          <a:sysClr val="windowText" lastClr="000000"/>
                        </a:solidFill>
                      </a:endParaRPr>
                    </a:p>
                  </a:txBody>
                  <a:tcPr marL="62455" marR="62455" marT="34350" marB="34350">
                    <a:solidFill>
                      <a:schemeClr val="bg2">
                        <a:lumMod val="20000"/>
                        <a:lumOff val="80000"/>
                      </a:schemeClr>
                    </a:solidFill>
                  </a:tcPr>
                </a:tc>
                <a:extLst>
                  <a:ext uri="{0D108BD9-81ED-4DB2-BD59-A6C34878D82A}">
                    <a16:rowId xmlns:a16="http://schemas.microsoft.com/office/drawing/2014/main" val="3433861040"/>
                  </a:ext>
                </a:extLst>
              </a:tr>
              <a:tr h="511269">
                <a:tc>
                  <a:txBody>
                    <a:bodyPr/>
                    <a:lstStyle/>
                    <a:p>
                      <a:r>
                        <a:rPr kumimoji="1" lang="en-US" altLang="ja-JP" sz="1400" dirty="0">
                          <a:solidFill>
                            <a:sysClr val="windowText" lastClr="000000"/>
                          </a:solidFill>
                        </a:rPr>
                        <a:t>Maximum Memory (MB)</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269.1</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465.9</a:t>
                      </a:r>
                      <a:endParaRPr kumimoji="1" lang="ja-JP" altLang="en-US" sz="1400">
                        <a:solidFill>
                          <a:sysClr val="windowText" lastClr="000000"/>
                        </a:solidFill>
                      </a:endParaRPr>
                    </a:p>
                  </a:txBody>
                  <a:tcPr marL="62455" marR="62455" marT="34350" marB="34350">
                    <a:solidFill>
                      <a:schemeClr val="bg1"/>
                    </a:solidFill>
                  </a:tcPr>
                </a:tc>
                <a:tc>
                  <a:txBody>
                    <a:bodyPr/>
                    <a:lstStyle/>
                    <a:p>
                      <a:r>
                        <a:rPr kumimoji="1" lang="en-US" altLang="ja-JP" sz="1400" dirty="0">
                          <a:solidFill>
                            <a:sysClr val="windowText" lastClr="000000"/>
                          </a:solidFill>
                        </a:rPr>
                        <a:t>206.8</a:t>
                      </a:r>
                      <a:endParaRPr kumimoji="1" lang="ja-JP" altLang="en-US" sz="1400">
                        <a:solidFill>
                          <a:sysClr val="windowText" lastClr="000000"/>
                        </a:solidFill>
                      </a:endParaRPr>
                    </a:p>
                  </a:txBody>
                  <a:tcPr marL="62455" marR="62455" marT="34350" marB="34350">
                    <a:solidFill>
                      <a:schemeClr val="bg1"/>
                    </a:solidFill>
                  </a:tcPr>
                </a:tc>
                <a:extLst>
                  <a:ext uri="{0D108BD9-81ED-4DB2-BD59-A6C34878D82A}">
                    <a16:rowId xmlns:a16="http://schemas.microsoft.com/office/drawing/2014/main" val="299751345"/>
                  </a:ext>
                </a:extLst>
              </a:tr>
              <a:tr h="496932">
                <a:tc>
                  <a:txBody>
                    <a:bodyPr/>
                    <a:lstStyle/>
                    <a:p>
                      <a:r>
                        <a:rPr kumimoji="1" lang="en-US" altLang="ja-JP" sz="1400" dirty="0">
                          <a:solidFill>
                            <a:sysClr val="windowText" lastClr="000000"/>
                          </a:solidFill>
                        </a:rPr>
                        <a:t>Execution Time (</a:t>
                      </a:r>
                      <a:r>
                        <a:rPr kumimoji="1" lang="en-US" altLang="ja-JP" sz="1400" dirty="0" err="1">
                          <a:solidFill>
                            <a:sysClr val="windowText" lastClr="000000"/>
                          </a:solidFill>
                        </a:rPr>
                        <a:t>ms</a:t>
                      </a:r>
                      <a:r>
                        <a:rPr kumimoji="1" lang="en-US" altLang="ja-JP" sz="1400" dirty="0">
                          <a:solidFill>
                            <a:sysClr val="windowText" lastClr="000000"/>
                          </a:solidFill>
                        </a:rPr>
                        <a:t>)</a:t>
                      </a:r>
                      <a:endParaRPr kumimoji="1" lang="ja-JP" altLang="en-US" sz="1400">
                        <a:solidFill>
                          <a:sysClr val="windowText" lastClr="000000"/>
                        </a:solidFill>
                      </a:endParaRPr>
                    </a:p>
                  </a:txBody>
                  <a:tcPr marL="62455" marR="62455" marT="34350" marB="34350">
                    <a:solidFill>
                      <a:schemeClr val="tx2">
                        <a:lumMod val="20000"/>
                        <a:lumOff val="80000"/>
                      </a:schemeClr>
                    </a:solidFill>
                  </a:tcPr>
                </a:tc>
                <a:tc>
                  <a:txBody>
                    <a:bodyPr/>
                    <a:lstStyle/>
                    <a:p>
                      <a:r>
                        <a:rPr kumimoji="1" lang="en-US" altLang="ja-JP" sz="1400" dirty="0">
                          <a:solidFill>
                            <a:sysClr val="windowText" lastClr="000000"/>
                          </a:solidFill>
                        </a:rPr>
                        <a:t>5879</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25959</a:t>
                      </a:r>
                      <a:endParaRPr kumimoji="1" lang="ja-JP" altLang="en-US" sz="1400">
                        <a:solidFill>
                          <a:sysClr val="windowText" lastClr="000000"/>
                        </a:solidFill>
                      </a:endParaRPr>
                    </a:p>
                  </a:txBody>
                  <a:tcPr marL="62455" marR="62455" marT="34350" marB="34350">
                    <a:solidFill>
                      <a:schemeClr val="bg2">
                        <a:lumMod val="20000"/>
                        <a:lumOff val="80000"/>
                      </a:schemeClr>
                    </a:solidFill>
                  </a:tcPr>
                </a:tc>
                <a:tc>
                  <a:txBody>
                    <a:bodyPr/>
                    <a:lstStyle/>
                    <a:p>
                      <a:r>
                        <a:rPr kumimoji="1" lang="en-US" altLang="ja-JP" sz="1400" dirty="0">
                          <a:solidFill>
                            <a:sysClr val="windowText" lastClr="000000"/>
                          </a:solidFill>
                        </a:rPr>
                        <a:t>6941</a:t>
                      </a:r>
                      <a:endParaRPr kumimoji="1" lang="ja-JP" altLang="en-US" sz="1400">
                        <a:solidFill>
                          <a:sysClr val="windowText" lastClr="000000"/>
                        </a:solidFill>
                      </a:endParaRPr>
                    </a:p>
                  </a:txBody>
                  <a:tcPr marL="62455" marR="62455" marT="34350" marB="34350">
                    <a:solidFill>
                      <a:schemeClr val="bg2">
                        <a:lumMod val="20000"/>
                        <a:lumOff val="80000"/>
                      </a:schemeClr>
                    </a:solidFill>
                  </a:tcPr>
                </a:tc>
                <a:extLst>
                  <a:ext uri="{0D108BD9-81ED-4DB2-BD59-A6C34878D82A}">
                    <a16:rowId xmlns:a16="http://schemas.microsoft.com/office/drawing/2014/main" val="3995234224"/>
                  </a:ext>
                </a:extLst>
              </a:tr>
            </a:tbl>
          </a:graphicData>
        </a:graphic>
      </p:graphicFrame>
      <p:sp>
        <p:nvSpPr>
          <p:cNvPr id="7" name="テキスト ボックス 6">
            <a:extLst>
              <a:ext uri="{FF2B5EF4-FFF2-40B4-BE49-F238E27FC236}">
                <a16:creationId xmlns:a16="http://schemas.microsoft.com/office/drawing/2014/main" id="{A0AD75F4-3A3F-3BA6-D4D3-C7248ACC9C0C}"/>
              </a:ext>
            </a:extLst>
          </p:cNvPr>
          <p:cNvSpPr txBox="1"/>
          <p:nvPr/>
        </p:nvSpPr>
        <p:spPr>
          <a:xfrm>
            <a:off x="6936059" y="2765502"/>
            <a:ext cx="4817326" cy="3323064"/>
          </a:xfrm>
          <a:prstGeom prst="rect">
            <a:avLst/>
          </a:prstGeom>
        </p:spPr>
        <p:txBody>
          <a:bodyPr vert="horz" wrap="squar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a:solidFill>
                  <a:sysClr val="windowText" lastClr="000000"/>
                </a:solidFill>
                <a:latin typeface="Yu Gothic Medium" panose="020B0400000000000000" pitchFamily="34" charset="-128"/>
                <a:ea typeface="Yu Gothic Medium" panose="020B0400000000000000" pitchFamily="34" charset="-128"/>
              </a:rPr>
              <a:t>最小化に時間がかかった段階では</a:t>
            </a: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最小化をしない手法では，状態空間削減効果は今回の提案手法に劣るものの，主記憶量と実行時間が削減できていることがわかる．</a:t>
            </a:r>
            <a:br>
              <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rPr>
            </a:b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→最小化に時間がかかるかどうかを入力モデルから判断する手法を研究していく</a:t>
            </a:r>
            <a:endParaRPr kumimoji="1" lang="ja-JP" altLang="en-US"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8" name="テキスト ボックス 7">
            <a:extLst>
              <a:ext uri="{FF2B5EF4-FFF2-40B4-BE49-F238E27FC236}">
                <a16:creationId xmlns:a16="http://schemas.microsoft.com/office/drawing/2014/main" id="{72BA1D44-16BD-F2E4-BE39-C5BE7B1BEB7F}"/>
              </a:ext>
            </a:extLst>
          </p:cNvPr>
          <p:cNvSpPr txBox="1"/>
          <p:nvPr/>
        </p:nvSpPr>
        <p:spPr>
          <a:xfrm>
            <a:off x="7203688" y="1483112"/>
            <a:ext cx="0" cy="0"/>
          </a:xfrm>
          <a:prstGeom prst="rect">
            <a:avLst/>
          </a:prstGeom>
        </p:spPr>
        <p:txBody>
          <a:bodyPr vert="horz" wrap="none" lIns="91440" tIns="45720" rIns="91440" bIns="45720" rtlCol="0">
            <a:normAutofit fontScale="250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endParaRPr kumimoji="1" lang="ja-JP" altLang="en-US"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endParaRPr>
          </a:p>
        </p:txBody>
      </p:sp>
    </p:spTree>
    <p:extLst>
      <p:ext uri="{BB962C8B-B14F-4D97-AF65-F5344CB8AC3E}">
        <p14:creationId xmlns:p14="http://schemas.microsoft.com/office/powerpoint/2010/main" val="2577437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CFDDDF-C5E8-2BF9-A165-CDBF483F9533}"/>
              </a:ext>
            </a:extLst>
          </p:cNvPr>
          <p:cNvSpPr>
            <a:spLocks noGrp="1"/>
          </p:cNvSpPr>
          <p:nvPr>
            <p:ph type="title"/>
          </p:nvPr>
        </p:nvSpPr>
        <p:spPr/>
        <p:txBody>
          <a:bodyPr/>
          <a:lstStyle/>
          <a:p>
            <a:r>
              <a:rPr kumimoji="1" lang="ja-JP" altLang="en-US"/>
              <a:t>おわりに</a:t>
            </a:r>
          </a:p>
        </p:txBody>
      </p:sp>
      <p:sp>
        <p:nvSpPr>
          <p:cNvPr id="3" name="コンテンツ プレースホルダー 2">
            <a:extLst>
              <a:ext uri="{FF2B5EF4-FFF2-40B4-BE49-F238E27FC236}">
                <a16:creationId xmlns:a16="http://schemas.microsoft.com/office/drawing/2014/main" id="{A6C38FD3-0851-1632-CEAA-88D260ECF3B3}"/>
              </a:ext>
            </a:extLst>
          </p:cNvPr>
          <p:cNvSpPr>
            <a:spLocks noGrp="1"/>
          </p:cNvSpPr>
          <p:nvPr>
            <p:ph sz="quarter" idx="10"/>
          </p:nvPr>
        </p:nvSpPr>
        <p:spPr>
          <a:xfrm>
            <a:off x="188844" y="896258"/>
            <a:ext cx="11668194" cy="5474824"/>
          </a:xfrm>
        </p:spPr>
        <p:txBody>
          <a:bodyPr/>
          <a:lstStyle/>
          <a:p>
            <a:pPr marL="0" indent="0">
              <a:buNone/>
            </a:pPr>
            <a:r>
              <a:rPr lang="ja-JP" altLang="en-US" sz="2000" b="1">
                <a:latin typeface="Yu Gothic" panose="020B0400000000000000" pitchFamily="34" charset="-128"/>
                <a:ea typeface="Yu Gothic" panose="020B0400000000000000" pitchFamily="34" charset="-128"/>
              </a:rPr>
              <a:t>背景</a:t>
            </a:r>
            <a:r>
              <a:rPr kumimoji="1" lang="ja-JP" altLang="en-US" sz="2000" b="1">
                <a:latin typeface="Yu Gothic" panose="020B0400000000000000" pitchFamily="34" charset="-128"/>
                <a:ea typeface="Yu Gothic" panose="020B0400000000000000" pitchFamily="34" charset="-128"/>
              </a:rPr>
              <a:t>：</a:t>
            </a:r>
            <a:br>
              <a:rPr kumimoji="1" lang="en-US" altLang="ja-JP" sz="2000" b="1" dirty="0">
                <a:latin typeface="Yu Gothic" panose="020B0400000000000000" pitchFamily="34" charset="-128"/>
                <a:ea typeface="Yu Gothic" panose="020B0400000000000000" pitchFamily="34" charset="-128"/>
              </a:rPr>
            </a:br>
            <a:r>
              <a:rPr kumimoji="1" lang="ja-JP" altLang="en-US" sz="2000" b="1">
                <a:latin typeface="Yu Gothic" panose="020B0400000000000000" pitchFamily="34" charset="-128"/>
                <a:ea typeface="Yu Gothic" panose="020B0400000000000000" pitchFamily="34" charset="-128"/>
              </a:rPr>
              <a:t>離散事象システム</a:t>
            </a:r>
            <a:r>
              <a:rPr kumimoji="1" lang="ja-JP" altLang="en-US" sz="2000"/>
              <a:t>を表す</a:t>
            </a:r>
            <a:r>
              <a:rPr kumimoji="1" lang="en-US" altLang="ja-JP" sz="2000" dirty="0"/>
              <a:t>LTS</a:t>
            </a:r>
            <a:r>
              <a:rPr kumimoji="1" lang="ja-JP" altLang="en-US" sz="2000"/>
              <a:t>を</a:t>
            </a:r>
            <a:r>
              <a:rPr lang="en-US" altLang="ja-JP" sz="2000" dirty="0"/>
              <a:t>1</a:t>
            </a:r>
            <a:r>
              <a:rPr lang="ja-JP" altLang="en-US" sz="2000"/>
              <a:t>つの</a:t>
            </a:r>
            <a:r>
              <a:rPr lang="en-US" altLang="ja-JP" sz="2000" dirty="0"/>
              <a:t>LTS</a:t>
            </a:r>
            <a:r>
              <a:rPr lang="ja-JP" altLang="en-US" sz="2000"/>
              <a:t>として合成する技術として</a:t>
            </a:r>
            <a:r>
              <a:rPr lang="ja-JP" altLang="en-US" sz="2000" b="1">
                <a:latin typeface="Yu Gothic" panose="020B0400000000000000" pitchFamily="34" charset="-128"/>
                <a:ea typeface="Yu Gothic" panose="020B0400000000000000" pitchFamily="34" charset="-128"/>
              </a:rPr>
              <a:t>離散制御器合成</a:t>
            </a:r>
            <a:r>
              <a:rPr lang="ja-JP" altLang="en-US" sz="2000"/>
              <a:t>がある．</a:t>
            </a:r>
            <a:br>
              <a:rPr lang="en-US" altLang="ja-JP" sz="2000" dirty="0"/>
            </a:br>
            <a:r>
              <a:rPr lang="ja-JP" altLang="en-US" sz="2000"/>
              <a:t>しかし，離散制御器合成には状態空間の指数増加の課題がある．</a:t>
            </a:r>
            <a:endParaRPr lang="en-US" altLang="ja-JP" sz="2000" dirty="0"/>
          </a:p>
          <a:p>
            <a:pPr marL="0" indent="0">
              <a:buNone/>
            </a:pPr>
            <a:endParaRPr lang="en-US" altLang="ja-JP" sz="1400" dirty="0"/>
          </a:p>
          <a:p>
            <a:pPr marL="0" indent="0">
              <a:buNone/>
            </a:pPr>
            <a:r>
              <a:rPr lang="ja-JP" altLang="en-US" sz="2000" b="1">
                <a:latin typeface="Yu Gothic" panose="020B0400000000000000" pitchFamily="34" charset="-128"/>
                <a:ea typeface="Yu Gothic" panose="020B0400000000000000" pitchFamily="34" charset="-128"/>
              </a:rPr>
              <a:t>提案手法：</a:t>
            </a:r>
            <a:br>
              <a:rPr kumimoji="1" lang="en-US" altLang="ja-JP" sz="2000" dirty="0"/>
            </a:br>
            <a:r>
              <a:rPr kumimoji="1" lang="ja-JP" altLang="en-US" sz="2000"/>
              <a:t>離散制御器合成において段階的な</a:t>
            </a:r>
            <a:r>
              <a:rPr kumimoji="1" lang="en-US" altLang="ja-JP" sz="2000" dirty="0"/>
              <a:t>LTS</a:t>
            </a:r>
            <a:r>
              <a:rPr kumimoji="1" lang="ja-JP" altLang="en-US" sz="2000"/>
              <a:t>の最小化を提案した．</a:t>
            </a:r>
            <a:br>
              <a:rPr kumimoji="1" lang="en-US" altLang="ja-JP" sz="2000" dirty="0"/>
            </a:br>
            <a:r>
              <a:rPr kumimoji="1" lang="ja-JP" altLang="en-US" sz="2000"/>
              <a:t>具体的には，</a:t>
            </a:r>
            <a:r>
              <a:rPr kumimoji="1" lang="ja-JP" altLang="en-US" sz="2000" b="1">
                <a:latin typeface="Yu Gothic" panose="020B0400000000000000" pitchFamily="34" charset="-128"/>
                <a:ea typeface="Yu Gothic" panose="020B0400000000000000" pitchFamily="34" charset="-128"/>
              </a:rPr>
              <a:t>段階的制御器合成</a:t>
            </a:r>
            <a:r>
              <a:rPr kumimoji="1" lang="ja-JP" altLang="en-US" sz="2000"/>
              <a:t>の部分合成の後に</a:t>
            </a:r>
            <a:r>
              <a:rPr kumimoji="1" lang="en-US" altLang="ja-JP" sz="2000" b="1" dirty="0">
                <a:latin typeface="Yu Gothic" panose="020B0400000000000000" pitchFamily="34" charset="-128"/>
                <a:ea typeface="Yu Gothic" panose="020B0400000000000000" pitchFamily="34" charset="-128"/>
              </a:rPr>
              <a:t>LTS</a:t>
            </a:r>
            <a:r>
              <a:rPr kumimoji="1" lang="ja-JP" altLang="en-US" sz="2000" b="1">
                <a:latin typeface="Yu Gothic" panose="020B0400000000000000" pitchFamily="34" charset="-128"/>
                <a:ea typeface="Yu Gothic" panose="020B0400000000000000" pitchFamily="34" charset="-128"/>
              </a:rPr>
              <a:t>を最小化</a:t>
            </a:r>
            <a:r>
              <a:rPr kumimoji="1" lang="ja-JP" altLang="en-US" sz="2000"/>
              <a:t>を適用した．</a:t>
            </a:r>
            <a:endParaRPr kumimoji="1" lang="en-US" altLang="ja-JP" sz="2000" dirty="0"/>
          </a:p>
          <a:p>
            <a:pPr marL="0" indent="0">
              <a:buNone/>
            </a:pPr>
            <a:endParaRPr kumimoji="1" lang="en-US" altLang="ja-JP" sz="1400" dirty="0"/>
          </a:p>
          <a:p>
            <a:pPr marL="0" indent="0">
              <a:buNone/>
            </a:pPr>
            <a:r>
              <a:rPr lang="ja-JP" altLang="en-US" sz="2000" b="1">
                <a:latin typeface="Yu Gothic" panose="020B0400000000000000" pitchFamily="34" charset="-128"/>
                <a:ea typeface="Yu Gothic" panose="020B0400000000000000" pitchFamily="34" charset="-128"/>
              </a:rPr>
              <a:t>評価：</a:t>
            </a:r>
            <a:br>
              <a:rPr kumimoji="1" lang="en-US" altLang="ja-JP" sz="2000" dirty="0"/>
            </a:br>
            <a:r>
              <a:rPr kumimoji="1" lang="ja-JP" altLang="en-US" sz="2000"/>
              <a:t>従来手法の段階的制御器合成との比較実験を行い，状態数と遷移数には削減効果があることがわかった</a:t>
            </a:r>
            <a:r>
              <a:rPr lang="ja-JP" altLang="en-US" sz="2000"/>
              <a:t>．しかし，</a:t>
            </a:r>
            <a:r>
              <a:rPr kumimoji="1" lang="ja-JP" altLang="en-US" sz="2000"/>
              <a:t>主記憶量と計算時間の削減効果には限界があることがわかった．</a:t>
            </a:r>
            <a:endParaRPr lang="en-US" altLang="ja-JP" sz="2000" dirty="0"/>
          </a:p>
          <a:p>
            <a:pPr marL="0" indent="0">
              <a:buNone/>
            </a:pPr>
            <a:br>
              <a:rPr kumimoji="1" lang="en-US" altLang="ja-JP" sz="1600" dirty="0"/>
            </a:br>
            <a:r>
              <a:rPr kumimoji="1" lang="ja-JP" altLang="en-US" sz="2000" b="1">
                <a:latin typeface="Yu Gothic" panose="020B0400000000000000" pitchFamily="34" charset="-128"/>
                <a:ea typeface="Yu Gothic" panose="020B0400000000000000" pitchFamily="34" charset="-128"/>
              </a:rPr>
              <a:t>今後の展望</a:t>
            </a:r>
            <a:r>
              <a:rPr lang="ja-JP" altLang="en-US" sz="2000" b="1">
                <a:latin typeface="Yu Gothic" panose="020B0400000000000000" pitchFamily="34" charset="-128"/>
                <a:ea typeface="Yu Gothic" panose="020B0400000000000000" pitchFamily="34" charset="-128"/>
              </a:rPr>
              <a:t>：</a:t>
            </a:r>
            <a:endParaRPr kumimoji="1" lang="en-US" altLang="ja-JP" sz="2000" b="1" dirty="0">
              <a:latin typeface="Yu Gothic" panose="020B0400000000000000" pitchFamily="34" charset="-128"/>
              <a:ea typeface="Yu Gothic" panose="020B0400000000000000" pitchFamily="34" charset="-128"/>
            </a:endParaRPr>
          </a:p>
          <a:p>
            <a:pPr marL="0" indent="0">
              <a:buNone/>
            </a:pPr>
            <a:r>
              <a:rPr lang="ja-JP" altLang="en-US" sz="2000"/>
              <a:t>効果的な段階にのみ</a:t>
            </a:r>
            <a:r>
              <a:rPr lang="en-US" altLang="ja-JP" sz="2000" dirty="0"/>
              <a:t>LTS</a:t>
            </a:r>
            <a:r>
              <a:rPr lang="ja-JP" altLang="en-US" sz="2000"/>
              <a:t>の最小化を適用する段階的制御器合成手法の確立を構想している</a:t>
            </a:r>
            <a:r>
              <a:rPr lang="en-US" altLang="ja-JP" sz="2000" dirty="0"/>
              <a:t>.</a:t>
            </a:r>
          </a:p>
          <a:p>
            <a:pPr marL="0" indent="0">
              <a:buNone/>
            </a:pPr>
            <a:r>
              <a:rPr lang="ja-JP" altLang="en-US" sz="2000"/>
              <a:t>予備実験の結果，提案手法の限界への対処の可能性を確認できた．</a:t>
            </a:r>
            <a:endParaRPr kumimoji="1" lang="ja-JP" altLang="en-US" sz="2000"/>
          </a:p>
        </p:txBody>
      </p:sp>
      <p:sp>
        <p:nvSpPr>
          <p:cNvPr id="4" name="スライド番号プレースホルダー 3">
            <a:extLst>
              <a:ext uri="{FF2B5EF4-FFF2-40B4-BE49-F238E27FC236}">
                <a16:creationId xmlns:a16="http://schemas.microsoft.com/office/drawing/2014/main" id="{39A8975C-4284-66E5-4643-E5951991C896}"/>
              </a:ext>
            </a:extLst>
          </p:cNvPr>
          <p:cNvSpPr>
            <a:spLocks noGrp="1"/>
          </p:cNvSpPr>
          <p:nvPr>
            <p:ph type="sldNum" sz="quarter" idx="11"/>
          </p:nvPr>
        </p:nvSpPr>
        <p:spPr/>
        <p:txBody>
          <a:bodyPr/>
          <a:lstStyle/>
          <a:p>
            <a:fld id="{E0D93E39-1AFA-2A42-BAF4-0CDD5F6E9A80}" type="slidenum">
              <a:rPr kumimoji="1" lang="ja-JP" altLang="en-US" smtClean="0"/>
              <a:pPr/>
              <a:t>30</a:t>
            </a:fld>
            <a:endParaRPr kumimoji="1" lang="ja-JP" altLang="en-US"/>
          </a:p>
        </p:txBody>
      </p:sp>
    </p:spTree>
    <p:extLst>
      <p:ext uri="{BB962C8B-B14F-4D97-AF65-F5344CB8AC3E}">
        <p14:creationId xmlns:p14="http://schemas.microsoft.com/office/powerpoint/2010/main" val="2471909844"/>
      </p:ext>
    </p:extLst>
  </p:cSld>
  <p:clrMapOvr>
    <a:masterClrMapping/>
  </p:clrMapOvr>
</p:sld>
</file>

<file path=ppt/theme/theme1.xml><?xml version="1.0" encoding="utf-8"?>
<a:theme xmlns:a="http://schemas.openxmlformats.org/drawingml/2006/main" name="Office テーマ">
  <a:themeElements>
    <a:clrScheme name="青">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rmAutofit/>
      </a:bodyPr>
      <a:lstStyle>
        <a:defPPr marL="0" marR="0" indent="0" algn="l" defTabSz="914400" rtl="0" eaLnBrk="1" fontAlgn="auto" latinLnBrk="0" hangingPunct="1">
          <a:lnSpc>
            <a:spcPct val="110000"/>
          </a:lnSpc>
          <a:spcBef>
            <a:spcPts val="1000"/>
          </a:spcBef>
          <a:spcAft>
            <a:spcPts val="0"/>
          </a:spcAft>
          <a:buClrTx/>
          <a:buSzTx/>
          <a:buFontTx/>
          <a:buNone/>
          <a:tabLst/>
          <a:defRPr kumimoji="1"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defRPr>
        </a:defPPr>
      </a:lstStyle>
    </a:txDef>
  </a:objectDefaults>
  <a:extraClrSchemeLst/>
  <a:extLst>
    <a:ext uri="{05A4C25C-085E-4340-85A3-A5531E510DB2}">
      <thm15:themeFamily xmlns:thm15="http://schemas.microsoft.com/office/thememl/2012/main" name="ScienceTokyoTemplates(16-9)" id="{681FD628-5EB3-E44A-AD3C-CF72EC3B9761}" vid="{2B413806-FB53-E24B-8B4A-ED225358529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56287</TotalTime>
  <Words>5975</Words>
  <Application>Microsoft Macintosh PowerPoint</Application>
  <PresentationFormat>ワイド画面</PresentationFormat>
  <Paragraphs>586</Paragraphs>
  <Slides>31</Slides>
  <Notes>31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31</vt:i4>
      </vt:variant>
    </vt:vector>
  </HeadingPairs>
  <TitlesOfParts>
    <vt:vector size="40" baseType="lpstr">
      <vt:lpstr>Noto Sans JP</vt:lpstr>
      <vt:lpstr>游ゴシック</vt:lpstr>
      <vt:lpstr>游ゴシック</vt:lpstr>
      <vt:lpstr>Yu Gothic Medium</vt:lpstr>
      <vt:lpstr>Yu Gothic Medium</vt:lpstr>
      <vt:lpstr>Arial</vt:lpstr>
      <vt:lpstr>Calibri</vt:lpstr>
      <vt:lpstr>Hind</vt:lpstr>
      <vt:lpstr>Office テーマ</vt:lpstr>
      <vt:lpstr>離散制御器合成における計算空間爆発抑制のための段階的なLTSの最小化</vt:lpstr>
      <vt:lpstr>離散事象システム</vt:lpstr>
      <vt:lpstr>安全性が保証された離散事象システム</vt:lpstr>
      <vt:lpstr>離散制御器合成</vt:lpstr>
      <vt:lpstr>離散制御器合成の課題</vt:lpstr>
      <vt:lpstr>従来手法：段階的制御器合成</vt:lpstr>
      <vt:lpstr>従来手法：段階的制御器合成</vt:lpstr>
      <vt:lpstr>従来手法：段階的制御器合成（14状態だと不十分という吹き出し）</vt:lpstr>
      <vt:lpstr>提案手法：段階的制御器合成＋LTSの最小化</vt:lpstr>
      <vt:lpstr>提案手法の説明（LTSの最小化）：例1</vt:lpstr>
      <vt:lpstr>提案手法の説明（LTSの最小化）：例2</vt:lpstr>
      <vt:lpstr>提案手法：段階的制御器合成＋LTSの最小化</vt:lpstr>
      <vt:lpstr>提案手法の例</vt:lpstr>
      <vt:lpstr>提案手法の例</vt:lpstr>
      <vt:lpstr>提案手法の例</vt:lpstr>
      <vt:lpstr>提案手法の例</vt:lpstr>
      <vt:lpstr>提案手法の例</vt:lpstr>
      <vt:lpstr>評価：Researh Question</vt:lpstr>
      <vt:lpstr>評価：実験設定</vt:lpstr>
      <vt:lpstr>評価：実験結果</vt:lpstr>
      <vt:lpstr>評価：実験結果（RQ1の評価）</vt:lpstr>
      <vt:lpstr>評価：実験結果（RQ1の評価）</vt:lpstr>
      <vt:lpstr>評価：実験結果（RQ1の評価）</vt:lpstr>
      <vt:lpstr>評価：実験結果（RQ2の評価）</vt:lpstr>
      <vt:lpstr>評価：実験結果（RQ2の評価）</vt:lpstr>
      <vt:lpstr>評価：実験結果（RQ2の評価）</vt:lpstr>
      <vt:lpstr>評価：総括</vt:lpstr>
      <vt:lpstr>今後の展望：最小化にかかる時間</vt:lpstr>
      <vt:lpstr>今後の展望：効果的なLTS最小化の適用</vt:lpstr>
      <vt:lpstr>今後の展望：結果(一部のみ) </vt:lpstr>
      <vt:lpstr>おわりに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山口 友輝 / TOMOKI YAMAGUCHI</dc:creator>
  <cp:lastModifiedBy>山口 友輝 / TOMOKI YAMAGUCHI</cp:lastModifiedBy>
  <cp:revision>29</cp:revision>
  <cp:lastPrinted>2026-02-02T07:26:23Z</cp:lastPrinted>
  <dcterms:created xsi:type="dcterms:W3CDTF">2025-10-02T01:12:02Z</dcterms:created>
  <dcterms:modified xsi:type="dcterms:W3CDTF">2026-02-08T04:32:16Z</dcterms:modified>
</cp:coreProperties>
</file>